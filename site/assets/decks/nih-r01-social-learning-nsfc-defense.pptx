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webp" ContentType="image/webp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f9ec38095e8884.png"/>
  <Relationship Id="rId3" Type="http://schemas.openxmlformats.org/officeDocument/2006/relationships/image" Target="../media/image_e7405538a80ee5cd.jpg"/>
  <Relationship Id="rId4" Type="http://schemas.openxmlformats.org/officeDocument/2006/relationships/image" Target="../media/image_6777cc0e21904db5.png"/>
  <Relationship Id="rId5" Type="http://schemas.openxmlformats.org/officeDocument/2006/relationships/image" Target="../media/image_9015977d6e75d11a.png"/>
  <Relationship Id="rId6" Type="http://schemas.openxmlformats.org/officeDocument/2006/relationships/image" Target="../media/image_21432d5c409ba90a.png"/>
  <Relationship Id="rId7" Type="http://schemas.openxmlformats.org/officeDocument/2006/relationships/image" Target="../media/image_dc1742b8b307ec40.png"/>
  <Relationship Id="rId8" Type="http://schemas.openxmlformats.org/officeDocument/2006/relationships/image" Target="../media/image_c2e56c8b51b4b4f8.png"/>
  <Relationship Id="rId9" Type="http://schemas.openxmlformats.org/officeDocument/2006/relationships/image" Target="../media/image_dc1742b8b307ec40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18efd5bd769a457.webp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18efd5bd769a457.webp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13a2ea00fb6fd5.jp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13a2ea00fb6fd5.jpg"/>
  <Relationship Id="rId3" Type="http://schemas.openxmlformats.org/officeDocument/2006/relationships/image" Target="../media/image_64f964cc10a81456.png"/>
  <Relationship Id="rId4" Type="http://schemas.openxmlformats.org/officeDocument/2006/relationships/image" Target="../media/image_e903b3222f9b696e.png"/>
  <Relationship Id="rId5" Type="http://schemas.openxmlformats.org/officeDocument/2006/relationships/image" Target="../media/image_793659b2341938a8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18efd5bd769a457.webp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13a2ea00fb6fd5.jpg"/>
  <Relationship Id="rId3" Type="http://schemas.openxmlformats.org/officeDocument/2006/relationships/image" Target="../media/image_33b3181b7786cf62.png"/>
  <Relationship Id="rId4" Type="http://schemas.openxmlformats.org/officeDocument/2006/relationships/image" Target="../media/image_64f964cc10a81456.png"/>
  <Relationship Id="rId5" Type="http://schemas.openxmlformats.org/officeDocument/2006/relationships/image" Target="../media/image_e410ee7142b5d43c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13a2ea00fb6fd5.jpg"/>
  <Relationship Id="rId3" Type="http://schemas.openxmlformats.org/officeDocument/2006/relationships/image" Target="../media/image_e903b3222f9b696e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13a2ea00fb6fd5.jp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18efd5bd769a457.webp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13a2ea00fb6fd5.jpg"/>
  <Relationship Id="rId3" Type="http://schemas.openxmlformats.org/officeDocument/2006/relationships/image" Target="../media/image_64f964cc10a81456.png"/>
  <Relationship Id="rId4" Type="http://schemas.openxmlformats.org/officeDocument/2006/relationships/image" Target="../media/image_e903b3222f9b696e.png"/>
  <Relationship Id="rId5" Type="http://schemas.openxmlformats.org/officeDocument/2006/relationships/image" Target="../media/image_793659b2341938a8.pn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13a2ea00fb6fd5.jp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13a2ea00fb6fd5.jp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f9ec38095e8884.png"/>
  <Relationship Id="rId3" Type="http://schemas.openxmlformats.org/officeDocument/2006/relationships/image" Target="../media/image_e7405538a80ee5cd.jpg"/>
  <Relationship Id="rId4" Type="http://schemas.openxmlformats.org/officeDocument/2006/relationships/image" Target="../media/image_6777cc0e21904db5.png"/>
  <Relationship Id="rId5" Type="http://schemas.openxmlformats.org/officeDocument/2006/relationships/image" Target="../media/image_9015977d6e75d11a.png"/>
  <Relationship Id="rId6" Type="http://schemas.openxmlformats.org/officeDocument/2006/relationships/image" Target="../media/image_21432d5c409ba90a.png"/>
  <Relationship Id="rId7" Type="http://schemas.openxmlformats.org/officeDocument/2006/relationships/image" Target="../media/image_dc1742b8b307ec40.png"/>
  <Relationship Id="rId8" Type="http://schemas.openxmlformats.org/officeDocument/2006/relationships/image" Target="../media/image_c2e56c8b51b4b4f8.png"/>
  <Relationship Id="rId9" Type="http://schemas.openxmlformats.org/officeDocument/2006/relationships/image" Target="../media/image_dc1742b8b307ec40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143" y="2574608"/>
            <a:ext cx="12185714" cy="4283392"/>
            <a:chOff x="3143" y="2574608"/>
            <a:chExt cx="12185714" cy="4283392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0" r="37" b="6174"/>
            <a:stretch>
              <a:fillRect/>
            </a:stretch>
          </p:blipFill>
          <p:spPr>
            <a:xfrm>
              <a:off x="3143" y="2574608"/>
              <a:ext cx="12185714" cy="4283392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3143" y="-38100"/>
            <a:ext cx="12185714" cy="6890766"/>
            <a:chOff x="3143" y="-38100"/>
            <a:chExt cx="12185714" cy="6890766"/>
          </a:xfrm>
        </p:grpSpPr>
        <p:sp>
          <p:nvSpPr>
            <p:cNvPr id="4" name="Rectangle 4"/>
            <p:cNvSpPr/>
            <p:nvPr/>
          </p:nvSpPr>
          <p:spPr>
            <a:xfrm>
              <a:off x="3143" y="-38100"/>
              <a:ext cx="12185714" cy="6890766"/>
            </a:xfrm>
            <a:prstGeom prst="rect">
              <a:avLst/>
            </a:prstGeom>
            <a:gradFill>
              <a:gsLst>
                <a:gs pos="65000">
                  <a:srgbClr val="751497"/>
                </a:gs>
                <a:gs pos="100000">
                  <a:srgbClr val="751497">
                    <a:alpha val="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50864" dist="38100" dir="5400000" algn="ctr" rotWithShape="0">
                <a:srgbClr val="751497">
                  <a:alpha val="15000"/>
                </a:srgbClr>
              </a:outerShdw>
            </a:effectLst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>
              <a:alphaModFix amt="22000"/>
            </a:blip>
            <a:srcRect l="20549" t="0" r="0" b="21428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0601325" y="334137"/>
            <a:ext cx="1507712" cy="1320927"/>
            <a:chOff x="10601325" y="334137"/>
            <a:chExt cx="1507712" cy="1320927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0601325" y="334137"/>
              <a:ext cx="1507712" cy="132092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627507" y="1767650"/>
            <a:ext cx="634651" cy="470344"/>
            <a:chOff x="627507" y="1767650"/>
            <a:chExt cx="634651" cy="470344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5"/>
            <a:srcRect l="44795" t="17124" r="6734" b="41869"/>
            <a:stretch>
              <a:fillRect/>
            </a:stretch>
          </p:blipFill>
          <p:spPr>
            <a:xfrm>
              <a:off x="627507" y="1767650"/>
              <a:ext cx="634651" cy="470344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0" y="0"/>
            <a:ext cx="4706398" cy="6859238"/>
            <a:chOff x="0" y="0"/>
            <a:chExt cx="4706398" cy="6859238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4706398" cy="6859238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2022062" y="591788"/>
            <a:ext cx="8147876" cy="504539"/>
            <a:chOff x="2022062" y="591788"/>
            <a:chExt cx="8147876" cy="504539"/>
          </a:xfrm>
        </p:grpSpPr>
        <p:sp>
          <p:nvSpPr>
            <p:cNvPr id="14" name="Freeform 14"/>
            <p:cNvSpPr/>
            <p:nvPr/>
          </p:nvSpPr>
          <p:spPr>
            <a:xfrm>
              <a:off x="2022062" y="761714"/>
              <a:ext cx="656082" cy="164687"/>
            </a:xfrm>
            <a:custGeom>
              <a:avLst/>
              <a:gdLst/>
              <a:ahLst/>
              <a:cxnLst/>
              <a:rect l="l" t="t" r="r" b="b"/>
              <a:pathLst>
                <a:path w="656082" h="164687">
                  <a:moveTo>
                    <a:pt x="656082" y="95917"/>
                  </a:moveTo>
                  <a:lnTo>
                    <a:pt x="506254" y="95917"/>
                  </a:lnTo>
                  <a:lnTo>
                    <a:pt x="435007" y="0"/>
                  </a:lnTo>
                  <a:lnTo>
                    <a:pt x="336709" y="164687"/>
                  </a:lnTo>
                  <a:lnTo>
                    <a:pt x="299847" y="103251"/>
                  </a:lnTo>
                  <a:lnTo>
                    <a:pt x="0" y="103251"/>
                  </a:lnTo>
                  <a:lnTo>
                    <a:pt x="0" y="105727"/>
                  </a:lnTo>
                </a:path>
              </a:pathLst>
            </a:custGeom>
            <a:noFill/>
            <a:ln w="9525">
              <a:solidFill>
                <a:srgbClr val="FFFFFF">
                  <a:alpha val="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513856" y="761714"/>
              <a:ext cx="656082" cy="164687"/>
            </a:xfrm>
            <a:custGeom>
              <a:avLst/>
              <a:gdLst/>
              <a:ahLst/>
              <a:cxnLst/>
              <a:rect l="l" t="t" r="r" b="b"/>
              <a:pathLst>
                <a:path w="656082" h="164687">
                  <a:moveTo>
                    <a:pt x="0" y="95917"/>
                  </a:moveTo>
                  <a:lnTo>
                    <a:pt x="149924" y="95917"/>
                  </a:lnTo>
                  <a:lnTo>
                    <a:pt x="221170" y="0"/>
                  </a:lnTo>
                  <a:lnTo>
                    <a:pt x="319468" y="164687"/>
                  </a:lnTo>
                  <a:lnTo>
                    <a:pt x="356330" y="103251"/>
                  </a:lnTo>
                  <a:lnTo>
                    <a:pt x="656082" y="103251"/>
                  </a:lnTo>
                  <a:lnTo>
                    <a:pt x="656082" y="105727"/>
                  </a:lnTo>
                </a:path>
              </a:pathLst>
            </a:custGeom>
            <a:noFill/>
            <a:ln w="9525">
              <a:solidFill>
                <a:srgbClr val="FFFFFF">
                  <a:alpha val="0"/>
                </a:srgbClr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2925890" y="591788"/>
              <a:ext cx="6340221" cy="504539"/>
              <a:chOff x="2925890" y="591788"/>
              <a:chExt cx="6340221" cy="504539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925890" y="591788"/>
                <a:ext cx="6340221" cy="504539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925890" y="591788"/>
                <a:ext cx="6340221" cy="5045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400" dirty="0">
                    <a:solidFill>
                      <a:srgbClr val="FFFFFF"/>
                    </a:solidFill>
                    <a:latin typeface="思源宋体 CN Heavy"/>
                    <a:ea typeface="Microsoft YaHei"/>
                    <a:cs typeface="思源宋体 CN Heavy"/>
                  </a:rPr>
                  <a:t>社会学习促进听觉学习</a:t>
                </a:r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-3947520" y="3441845"/>
            <a:ext cx="19791622" cy="6029410"/>
            <a:chOff x="-3947520" y="3441845"/>
            <a:chExt cx="19791622" cy="602941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61600">
              <a:off x="3254969" y="4579113"/>
              <a:ext cx="8995505" cy="4188523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627600">
              <a:off x="-3677752" y="4336729"/>
              <a:ext cx="10215944" cy="3906964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200">
              <a:off x="6848046" y="4647534"/>
              <a:ext cx="8995505" cy="315449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1437132" y="1575530"/>
            <a:ext cx="9317736" cy="2351532"/>
            <a:chOff x="1437132" y="1575530"/>
            <a:chExt cx="9317736" cy="2351532"/>
          </a:xfrm>
        </p:grpSpPr>
        <p:grpSp>
          <p:nvGrpSpPr>
            <p:cNvPr id="26" name="Group 26"/>
            <p:cNvGrpSpPr/>
            <p:nvPr/>
          </p:nvGrpSpPr>
          <p:grpSpPr>
            <a:xfrm>
              <a:off x="1437132" y="1575530"/>
              <a:ext cx="9317736" cy="1501997"/>
              <a:chOff x="1437132" y="1575530"/>
              <a:chExt cx="9317736" cy="1501997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1437132" y="1575530"/>
                <a:ext cx="9317736" cy="1501997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437132" y="1575530"/>
                <a:ext cx="9317736" cy="1501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8000" dirty="0">
                    <a:solidFill>
                      <a:srgbClr val="EBA967"/>
                    </a:solidFill>
                    <a:latin typeface="思源宋体 CN Heavy"/>
                    <a:ea typeface="Microsoft YaHei"/>
                    <a:cs typeface="思源宋体 CN Heavy"/>
                  </a:rPr>
                  <a:t>基金申请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830925" y="2889218"/>
              <a:ext cx="6530245" cy="1037844"/>
              <a:chOff x="2830925" y="2889218"/>
              <a:chExt cx="6530245" cy="1037844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2830925" y="2889218"/>
                <a:ext cx="6530245" cy="1037844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830925" y="2889218"/>
                <a:ext cx="6530245" cy="1037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6000" dirty="0">
                    <a:solidFill>
                      <a:srgbClr val="FFFFFF"/>
                    </a:solidFill>
                    <a:latin typeface="思源宋体 CN Heavy"/>
                    <a:ea typeface="Microsoft YaHei"/>
                    <a:cs typeface="思源宋体 CN Heavy"/>
                  </a:rPr>
                  <a:t>项目答辩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1433703" y="4403122"/>
            <a:ext cx="9324594" cy="422148"/>
            <a:chOff x="1433703" y="4403122"/>
            <a:chExt cx="9324594" cy="422148"/>
          </a:xfrm>
        </p:grpSpPr>
        <p:grpSp>
          <p:nvGrpSpPr>
            <p:cNvPr id="40" name="Group 40"/>
            <p:cNvGrpSpPr/>
            <p:nvPr/>
          </p:nvGrpSpPr>
          <p:grpSpPr>
            <a:xfrm>
              <a:off x="1433703" y="4403122"/>
              <a:ext cx="2438686" cy="422148"/>
              <a:chOff x="1433703" y="4403122"/>
              <a:chExt cx="2438686" cy="422148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2155222" y="4403122"/>
                <a:ext cx="1717167" cy="4221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751497"/>
                </a:solidFill>
              </a:ln>
              <a:effectLst>
                <a:outerShdw blurRad="50864" dist="38100" dir="5400000" algn="ctr" rotWithShape="0">
                  <a:srgbClr val="751497">
                    <a:alpha val="30000"/>
                  </a:srgbClr>
                </a:outerShdw>
              </a:effectLst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1433703" y="4403122"/>
                <a:ext cx="1211008" cy="422148"/>
                <a:chOff x="1433703" y="4403122"/>
                <a:chExt cx="1211008" cy="422148"/>
              </a:xfrm>
            </p:grpSpPr>
            <p:sp>
              <p:nvSpPr>
                <p:cNvPr id="32" name="Rectangle 32"/>
                <p:cNvSpPr/>
                <p:nvPr/>
              </p:nvSpPr>
              <p:spPr>
                <a:xfrm>
                  <a:off x="1433703" y="4403122"/>
                  <a:ext cx="1211008" cy="422148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BF4BE7"/>
                    </a:gs>
                    <a:gs pos="45000">
                      <a:srgbClr val="751497"/>
                    </a:gs>
                  </a:gsLst>
                  <a:lin ang="2700000" scaled="1"/>
                </a:gradFill>
                <a:ln w="9525">
                  <a:solidFill>
                    <a:srgbClr val="FFFFFF"/>
                  </a:solidFill>
                </a:ln>
                <a:effectLst>
                  <a:outerShdw blurRad="50864" dist="38100" dir="5400000" algn="ctr" rotWithShape="0">
                    <a:srgbClr val="751497">
                      <a:alpha val="30000"/>
                    </a:srgbClr>
                  </a:outerShdw>
                </a:effectLst>
              </p:spPr>
            </p:sp>
            <p:grpSp>
              <p:nvGrpSpPr>
                <p:cNvPr id="35" name="Group 35"/>
                <p:cNvGrpSpPr/>
                <p:nvPr/>
              </p:nvGrpSpPr>
              <p:grpSpPr>
                <a:xfrm>
                  <a:off x="1524381" y="4444841"/>
                  <a:ext cx="1029652" cy="338518"/>
                  <a:chOff x="1524381" y="4444841"/>
                  <a:chExt cx="1029652" cy="338518"/>
                </a:xfrm>
              </p:grpSpPr>
              <p:sp>
                <p:nvSpPr>
                  <p:cNvPr id="33" name="Rectangle 33"/>
                  <p:cNvSpPr/>
                  <p:nvPr/>
                </p:nvSpPr>
                <p:spPr>
                  <a:xfrm>
                    <a:off x="1524381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34" name="TextBox 34"/>
                  <p:cNvSpPr txBox="1"/>
                  <p:nvPr/>
                </p:nvSpPr>
                <p:spPr>
                  <a:xfrm>
                    <a:off x="1524381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600" dirty="0">
                        <a:solidFill>
                          <a:srgbClr val="FFFFFF"/>
                        </a:solidFill>
                        <a:latin typeface="思源宋体 CN Heavy"/>
                        <a:ea typeface="Microsoft YaHei"/>
                        <a:cs typeface="思源宋体 CN Heavy"/>
                      </a:rPr>
                      <a:t>汇报单位</a:t>
                    </a:r>
                  </a:p>
                </p:txBody>
              </p:sp>
            </p:grpSp>
          </p:grpSp>
          <p:grpSp>
            <p:nvGrpSpPr>
              <p:cNvPr id="39" name="Group 39"/>
              <p:cNvGrpSpPr/>
              <p:nvPr/>
            </p:nvGrpSpPr>
            <p:grpSpPr>
              <a:xfrm>
                <a:off x="2660237" y="4429506"/>
                <a:ext cx="1105186" cy="386429"/>
                <a:chOff x="2660237" y="4429506"/>
                <a:chExt cx="1105186" cy="386429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2660237" y="4429506"/>
                  <a:ext cx="1105186" cy="386429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2660237" y="4429506"/>
                  <a:ext cx="1105186" cy="3864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norm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000000"/>
                      </a:solidFill>
                      <a:latin typeface="思源宋体 CN Heavy"/>
                      <a:ea typeface="Microsoft YaHei"/>
                      <a:cs typeface="思源宋体 CN Heavy"/>
                    </a:rPr>
                    <a:t>NYU</a:t>
                  </a:r>
                </a:p>
              </p:txBody>
            </p:sp>
          </p:grpSp>
        </p:grpSp>
        <p:grpSp>
          <p:nvGrpSpPr>
            <p:cNvPr id="50" name="Group 50"/>
            <p:cNvGrpSpPr/>
            <p:nvPr/>
          </p:nvGrpSpPr>
          <p:grpSpPr>
            <a:xfrm>
              <a:off x="4876705" y="4403122"/>
              <a:ext cx="2438590" cy="422148"/>
              <a:chOff x="4876705" y="4403122"/>
              <a:chExt cx="2438590" cy="422148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598128" y="4403122"/>
                <a:ext cx="1717167" cy="4221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751497"/>
                </a:solidFill>
              </a:ln>
              <a:effectLst>
                <a:outerShdw blurRad="50864" dist="38100" dir="5400000" algn="ctr" rotWithShape="0">
                  <a:srgbClr val="751497">
                    <a:alpha val="30000"/>
                  </a:srgbClr>
                </a:outerShdw>
              </a:effectLst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4876705" y="4403122"/>
                <a:ext cx="1211008" cy="422148"/>
                <a:chOff x="4876705" y="4403122"/>
                <a:chExt cx="1211008" cy="422148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4876705" y="4403122"/>
                  <a:ext cx="1211008" cy="422148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BF4BE7"/>
                    </a:gs>
                    <a:gs pos="45000">
                      <a:srgbClr val="751497"/>
                    </a:gs>
                  </a:gsLst>
                  <a:lin ang="2700000" scaled="1"/>
                </a:gradFill>
                <a:ln w="9525">
                  <a:solidFill>
                    <a:srgbClr val="FFFFFF"/>
                  </a:solidFill>
                </a:ln>
                <a:effectLst>
                  <a:outerShdw blurRad="50864" dist="38100" dir="5400000" algn="ctr" rotWithShape="0">
                    <a:srgbClr val="751497">
                      <a:alpha val="30000"/>
                    </a:srgbClr>
                  </a:outerShdw>
                </a:effectLst>
              </p:spPr>
            </p:sp>
            <p:grpSp>
              <p:nvGrpSpPr>
                <p:cNvPr id="45" name="Group 45"/>
                <p:cNvGrpSpPr/>
                <p:nvPr/>
              </p:nvGrpSpPr>
              <p:grpSpPr>
                <a:xfrm>
                  <a:off x="4967383" y="4444841"/>
                  <a:ext cx="1029652" cy="338518"/>
                  <a:chOff x="4967383" y="4444841"/>
                  <a:chExt cx="1029652" cy="338518"/>
                </a:xfrm>
              </p:grpSpPr>
              <p:sp>
                <p:nvSpPr>
                  <p:cNvPr id="43" name="Rectangle 43"/>
                  <p:cNvSpPr/>
                  <p:nvPr/>
                </p:nvSpPr>
                <p:spPr>
                  <a:xfrm>
                    <a:off x="4967383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44" name="TextBox 44"/>
                  <p:cNvSpPr txBox="1"/>
                  <p:nvPr/>
                </p:nvSpPr>
                <p:spPr>
                  <a:xfrm>
                    <a:off x="4967383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600" dirty="0">
                        <a:solidFill>
                          <a:srgbClr val="FFFFFF"/>
                        </a:solidFill>
                        <a:latin typeface="思源宋体 CN Heavy"/>
                        <a:ea typeface="Microsoft YaHei"/>
                        <a:cs typeface="思源宋体 CN Heavy"/>
                      </a:rPr>
                      <a:t>汇报人</a:t>
                    </a:r>
                  </a:p>
                </p:txBody>
              </p:sp>
            </p:grpSp>
          </p:grpSp>
          <p:grpSp>
            <p:nvGrpSpPr>
              <p:cNvPr id="49" name="Group 49"/>
              <p:cNvGrpSpPr/>
              <p:nvPr/>
            </p:nvGrpSpPr>
            <p:grpSpPr>
              <a:xfrm>
                <a:off x="6103239" y="4429506"/>
                <a:ext cx="1105186" cy="369380"/>
                <a:chOff x="6103239" y="4429506"/>
                <a:chExt cx="1105186" cy="369380"/>
              </a:xfrm>
            </p:grpSpPr>
            <p:sp>
              <p:nvSpPr>
                <p:cNvPr id="47" name="Rectangle 47"/>
                <p:cNvSpPr/>
                <p:nvPr/>
              </p:nvSpPr>
              <p:spPr>
                <a:xfrm>
                  <a:off x="6103239" y="4429506"/>
                  <a:ext cx="1105186" cy="369380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6103239" y="4429506"/>
                  <a:ext cx="1105186" cy="369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norm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000000"/>
                      </a:solidFill>
                      <a:latin typeface="思源宋体 CN Heavy"/>
                      <a:ea typeface="Microsoft YaHei"/>
                      <a:cs typeface="思源宋体 CN Heavy"/>
                    </a:rPr>
                    <a:t>教学案例</a:t>
                  </a:r>
                </a:p>
              </p:txBody>
            </p:sp>
          </p:grpSp>
        </p:grpSp>
        <p:grpSp>
          <p:nvGrpSpPr>
            <p:cNvPr id="60" name="Group 60"/>
            <p:cNvGrpSpPr/>
            <p:nvPr/>
          </p:nvGrpSpPr>
          <p:grpSpPr>
            <a:xfrm>
              <a:off x="8319706" y="4403122"/>
              <a:ext cx="2438591" cy="422148"/>
              <a:chOff x="8319706" y="4403122"/>
              <a:chExt cx="2438591" cy="422148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9041130" y="4403122"/>
                <a:ext cx="1717167" cy="4221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751497"/>
                </a:solidFill>
              </a:ln>
              <a:effectLst>
                <a:outerShdw blurRad="50864" dist="38100" dir="5400000" algn="ctr" rotWithShape="0">
                  <a:srgbClr val="751497">
                    <a:alpha val="30000"/>
                  </a:srgbClr>
                </a:outerShdw>
              </a:effectLst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8319706" y="4403122"/>
                <a:ext cx="1211008" cy="422148"/>
                <a:chOff x="8319706" y="4403122"/>
                <a:chExt cx="1211008" cy="422148"/>
              </a:xfrm>
            </p:grpSpPr>
            <p:sp>
              <p:nvSpPr>
                <p:cNvPr id="52" name="Rectangle 52"/>
                <p:cNvSpPr/>
                <p:nvPr/>
              </p:nvSpPr>
              <p:spPr>
                <a:xfrm>
                  <a:off x="8319706" y="4403122"/>
                  <a:ext cx="1211008" cy="422148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BF4BE7"/>
                    </a:gs>
                    <a:gs pos="45000">
                      <a:srgbClr val="751497"/>
                    </a:gs>
                  </a:gsLst>
                  <a:lin ang="2700000" scaled="1"/>
                </a:gradFill>
                <a:ln w="9525">
                  <a:solidFill>
                    <a:srgbClr val="FFFFFF"/>
                  </a:solidFill>
                </a:ln>
                <a:effectLst>
                  <a:outerShdw blurRad="50864" dist="38100" dir="5400000" algn="ctr" rotWithShape="0">
                    <a:srgbClr val="751497">
                      <a:alpha val="30000"/>
                    </a:srgbClr>
                  </a:outerShdw>
                </a:effectLst>
              </p:spPr>
            </p:sp>
            <p:grpSp>
              <p:nvGrpSpPr>
                <p:cNvPr id="55" name="Group 55"/>
                <p:cNvGrpSpPr/>
                <p:nvPr/>
              </p:nvGrpSpPr>
              <p:grpSpPr>
                <a:xfrm>
                  <a:off x="8410384" y="4444841"/>
                  <a:ext cx="1029652" cy="338518"/>
                  <a:chOff x="8410384" y="4444841"/>
                  <a:chExt cx="1029652" cy="338518"/>
                </a:xfrm>
              </p:grpSpPr>
              <p:sp>
                <p:nvSpPr>
                  <p:cNvPr id="53" name="Rectangle 53"/>
                  <p:cNvSpPr/>
                  <p:nvPr/>
                </p:nvSpPr>
                <p:spPr>
                  <a:xfrm>
                    <a:off x="8410384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54" name="TextBox 54"/>
                  <p:cNvSpPr txBox="1"/>
                  <p:nvPr/>
                </p:nvSpPr>
                <p:spPr>
                  <a:xfrm>
                    <a:off x="8410384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600" dirty="0">
                        <a:solidFill>
                          <a:srgbClr val="FFFFFF"/>
                        </a:solidFill>
                        <a:latin typeface="思源宋体 CN Heavy"/>
                        <a:ea typeface="Microsoft YaHei"/>
                        <a:cs typeface="思源宋体 CN Heavy"/>
                      </a:rPr>
                      <a:t>汇报时间</a:t>
                    </a:r>
                  </a:p>
                </p:txBody>
              </p:sp>
            </p:grpSp>
          </p:grpSp>
          <p:grpSp>
            <p:nvGrpSpPr>
              <p:cNvPr id="59" name="Group 59"/>
              <p:cNvGrpSpPr/>
              <p:nvPr/>
            </p:nvGrpSpPr>
            <p:grpSpPr>
              <a:xfrm>
                <a:off x="9546241" y="4429506"/>
                <a:ext cx="1105186" cy="369380"/>
                <a:chOff x="9546241" y="4429506"/>
                <a:chExt cx="1105186" cy="369380"/>
              </a:xfrm>
            </p:grpSpPr>
            <p:sp>
              <p:nvSpPr>
                <p:cNvPr id="57" name="Rectangle 57"/>
                <p:cNvSpPr/>
                <p:nvPr/>
              </p:nvSpPr>
              <p:spPr>
                <a:xfrm>
                  <a:off x="9546241" y="4429506"/>
                  <a:ext cx="1105186" cy="369380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9546241" y="4429506"/>
                  <a:ext cx="1105186" cy="369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norm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000000"/>
                      </a:solidFill>
                      <a:latin typeface="思源宋体 CN Heavy"/>
                      <a:ea typeface="Microsoft YaHei"/>
                      <a:cs typeface="思源宋体 CN Heavy"/>
                    </a:rPr>
                    <a:t>2026.07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143" y="161925"/>
            <a:ext cx="12185714" cy="6696075"/>
            <a:chOff x="3143" y="161925"/>
            <a:chExt cx="12185714" cy="669607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" y="161925"/>
              <a:ext cx="12185714" cy="6696075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212479" cy="6858000"/>
            <a:chOff x="0" y="0"/>
            <a:chExt cx="12212479" cy="685800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212479" cy="6858000"/>
            </a:xfrm>
            <a:prstGeom prst="rect">
              <a:avLst/>
            </a:prstGeom>
            <a:gradFill>
              <a:gsLst>
                <a:gs pos="21000">
                  <a:srgbClr val="FFFFFF"/>
                </a:gs>
                <a:gs pos="100000">
                  <a:srgbClr val="FFFFFF">
                    <a:alpha val="8500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49262" y="861060"/>
            <a:ext cx="10290715" cy="5192363"/>
            <a:chOff x="949262" y="861060"/>
            <a:chExt cx="10290715" cy="5192363"/>
          </a:xfrm>
        </p:grpSpPr>
        <p:sp>
          <p:nvSpPr>
            <p:cNvPr id="6" name="Freeform 6"/>
            <p:cNvSpPr/>
            <p:nvPr/>
          </p:nvSpPr>
          <p:spPr>
            <a:xfrm>
              <a:off x="949262" y="861060"/>
              <a:ext cx="10290715" cy="5192363"/>
            </a:xfrm>
            <a:custGeom>
              <a:avLst/>
              <a:gdLst/>
              <a:ahLst/>
              <a:cxnLst/>
              <a:rect l="l" t="t" r="r" b="b"/>
              <a:pathLst>
                <a:path w="10290715" h="5192363">
                  <a:moveTo>
                    <a:pt x="173927" y="0"/>
                  </a:moveTo>
                  <a:lnTo>
                    <a:pt x="10116788" y="0"/>
                  </a:lnTo>
                  <a:cubicBezTo>
                    <a:pt x="10212808" y="0"/>
                    <a:pt x="10290662" y="77812"/>
                    <a:pt x="10290715" y="173831"/>
                  </a:cubicBezTo>
                  <a:lnTo>
                    <a:pt x="10290715" y="5090732"/>
                  </a:lnTo>
                  <a:cubicBezTo>
                    <a:pt x="10290715" y="5146861"/>
                    <a:pt x="10245213" y="5192363"/>
                    <a:pt x="10189083" y="5192363"/>
                  </a:cubicBezTo>
                  <a:lnTo>
                    <a:pt x="101632" y="5192363"/>
                  </a:lnTo>
                  <a:cubicBezTo>
                    <a:pt x="45502" y="5192363"/>
                    <a:pt x="0" y="5146861"/>
                    <a:pt x="0" y="5090732"/>
                  </a:cubicBezTo>
                  <a:lnTo>
                    <a:pt x="0" y="173831"/>
                  </a:lnTo>
                  <a:cubicBezTo>
                    <a:pt x="53" y="77812"/>
                    <a:pt x="77907" y="0"/>
                    <a:pt x="173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0864" dist="38100" dir="5400000" algn="ctr" rotWithShape="0">
                <a:srgbClr val="000000">
                  <a:alpha val="15000"/>
                </a:srgbClr>
              </a:outerShdw>
            </a:effectLst>
          </p:spPr>
        </p:sp>
      </p:grpSp>
      <p:grpSp>
        <p:nvGrpSpPr>
          <p:cNvPr id="17" name="Group 17"/>
          <p:cNvGrpSpPr/>
          <p:nvPr/>
        </p:nvGrpSpPr>
        <p:grpSpPr>
          <a:xfrm>
            <a:off x="4308824" y="1747647"/>
            <a:ext cx="6091904" cy="831342"/>
            <a:chOff x="4308824" y="1747647"/>
            <a:chExt cx="6091904" cy="831342"/>
          </a:xfrm>
        </p:grpSpPr>
        <p:sp>
          <p:nvSpPr>
            <p:cNvPr id="8" name="Rectangle 8"/>
            <p:cNvSpPr/>
            <p:nvPr/>
          </p:nvSpPr>
          <p:spPr>
            <a:xfrm>
              <a:off x="4308824" y="1747647"/>
              <a:ext cx="6091904" cy="8313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0">
              <a:solidFill>
                <a:srgbClr val="D9D9D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83051" y="1747647"/>
              <a:ext cx="943451" cy="9525"/>
            </a:xfrm>
            <a:custGeom>
              <a:avLst/>
              <a:gdLst/>
              <a:ahLst/>
              <a:cxnLst/>
              <a:rect l="l" t="t" r="r" b="b"/>
              <a:pathLst>
                <a:path w="943451" h="9525">
                  <a:moveTo>
                    <a:pt x="0" y="0"/>
                  </a:moveTo>
                  <a:lnTo>
                    <a:pt x="943451" y="0"/>
                  </a:lnTo>
                </a:path>
              </a:pathLst>
            </a:custGeom>
            <a:noFill/>
            <a:ln w="31747" cap="rnd">
              <a:solidFill>
                <a:srgbClr val="75149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454777" y="1922145"/>
              <a:ext cx="9525" cy="482346"/>
            </a:xfrm>
            <a:custGeom>
              <a:avLst/>
              <a:gdLst/>
              <a:ahLst/>
              <a:cxnLst/>
              <a:rect l="l" t="t" r="r" b="b"/>
              <a:pathLst>
                <a:path w="9525" h="482346">
                  <a:moveTo>
                    <a:pt x="0" y="0"/>
                  </a:moveTo>
                  <a:lnTo>
                    <a:pt x="0" y="482346"/>
                  </a:lnTo>
                </a:path>
              </a:pathLst>
            </a:custGeom>
            <a:noFill/>
            <a:ln w="9525">
              <a:solidFill>
                <a:srgbClr val="751497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626418" y="1853946"/>
              <a:ext cx="3831622" cy="618839"/>
              <a:chOff x="5626418" y="1853946"/>
              <a:chExt cx="3831622" cy="618839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626418" y="1853946"/>
                <a:ext cx="3831622" cy="618839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5626418" y="1853946"/>
                <a:ext cx="3831622" cy="618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3200" dirty="0">
                    <a:solidFill>
                      <a:srgbClr val="751497"/>
                    </a:solidFill>
                    <a:latin typeface="思源黑体 CN Heavy"/>
                    <a:ea typeface="Microsoft YaHei"/>
                    <a:cs typeface="思源黑体 CN Heavy"/>
                  </a:rPr>
                  <a:t>立项依据与科学问题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657916" y="1810226"/>
              <a:ext cx="625126" cy="687134"/>
              <a:chOff x="4657916" y="1810226"/>
              <a:chExt cx="625126" cy="687134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657916" y="1810226"/>
                <a:ext cx="625126" cy="687134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57916" y="1810226"/>
                <a:ext cx="625126" cy="6871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4000" dirty="0">
                    <a:solidFill>
                      <a:srgbClr val="751497"/>
                    </a:solidFill>
                    <a:latin typeface="思源黑体 CN Heavy"/>
                    <a:ea typeface="Microsoft YaHei"/>
                    <a:cs typeface="思源黑体 CN Heavy"/>
                  </a:rPr>
                  <a:t>01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4308824" y="2994088"/>
            <a:ext cx="6091904" cy="831342"/>
            <a:chOff x="4308824" y="2994088"/>
            <a:chExt cx="6091904" cy="831342"/>
          </a:xfrm>
        </p:grpSpPr>
        <p:sp>
          <p:nvSpPr>
            <p:cNvPr id="18" name="Rectangle 18"/>
            <p:cNvSpPr/>
            <p:nvPr/>
          </p:nvSpPr>
          <p:spPr>
            <a:xfrm>
              <a:off x="4308824" y="2994088"/>
              <a:ext cx="6091904" cy="8313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0">
              <a:solidFill>
                <a:srgbClr val="D9D9D9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83051" y="2994088"/>
              <a:ext cx="943451" cy="9525"/>
            </a:xfrm>
            <a:custGeom>
              <a:avLst/>
              <a:gdLst/>
              <a:ahLst/>
              <a:cxnLst/>
              <a:rect l="l" t="t" r="r" b="b"/>
              <a:pathLst>
                <a:path w="943451" h="9525">
                  <a:moveTo>
                    <a:pt x="0" y="0"/>
                  </a:moveTo>
                  <a:lnTo>
                    <a:pt x="943451" y="0"/>
                  </a:lnTo>
                </a:path>
              </a:pathLst>
            </a:custGeom>
            <a:noFill/>
            <a:ln w="31747" cap="rnd">
              <a:solidFill>
                <a:srgbClr val="D9D9D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454777" y="3168587"/>
              <a:ext cx="9525" cy="482346"/>
            </a:xfrm>
            <a:custGeom>
              <a:avLst/>
              <a:gdLst/>
              <a:ahLst/>
              <a:cxnLst/>
              <a:rect l="l" t="t" r="r" b="b"/>
              <a:pathLst>
                <a:path w="9525" h="482346">
                  <a:moveTo>
                    <a:pt x="0" y="0"/>
                  </a:moveTo>
                  <a:lnTo>
                    <a:pt x="0" y="482346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626418" y="3100292"/>
              <a:ext cx="4242054" cy="618839"/>
              <a:chOff x="5626418" y="3100292"/>
              <a:chExt cx="4242054" cy="618839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626418" y="3100292"/>
                <a:ext cx="4242054" cy="618839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626418" y="3100292"/>
                <a:ext cx="4242054" cy="618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3200" dirty="0">
                    <a:solidFill>
                      <a:srgbClr val="D9D9D9"/>
                    </a:solidFill>
                    <a:latin typeface="思源黑体 CN Heavy"/>
                    <a:ea typeface="Microsoft YaHei"/>
                    <a:cs typeface="思源黑体 CN Heavy"/>
                  </a:rPr>
                  <a:t>研究内容与技术路线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654010" y="3056668"/>
              <a:ext cx="625126" cy="687134"/>
              <a:chOff x="4654010" y="3056668"/>
              <a:chExt cx="625126" cy="687134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654010" y="3056668"/>
                <a:ext cx="625126" cy="687134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654010" y="3056668"/>
                <a:ext cx="625126" cy="6871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4000" dirty="0">
                    <a:solidFill>
                      <a:srgbClr val="D9D9D9"/>
                    </a:solidFill>
                    <a:latin typeface="思源黑体 CN Heavy"/>
                    <a:ea typeface="Microsoft YaHei"/>
                    <a:cs typeface="思源黑体 CN Heavy"/>
                  </a:rPr>
                  <a:t>02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4308824" y="4240435"/>
            <a:ext cx="6091904" cy="831342"/>
            <a:chOff x="4308824" y="4240435"/>
            <a:chExt cx="6091904" cy="831342"/>
          </a:xfrm>
        </p:grpSpPr>
        <p:sp>
          <p:nvSpPr>
            <p:cNvPr id="28" name="Rectangle 28"/>
            <p:cNvSpPr/>
            <p:nvPr/>
          </p:nvSpPr>
          <p:spPr>
            <a:xfrm>
              <a:off x="4308824" y="4240435"/>
              <a:ext cx="6091904" cy="8313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0">
              <a:solidFill>
                <a:srgbClr val="D9D9D9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883051" y="4240435"/>
              <a:ext cx="943451" cy="9525"/>
            </a:xfrm>
            <a:custGeom>
              <a:avLst/>
              <a:gdLst/>
              <a:ahLst/>
              <a:cxnLst/>
              <a:rect l="l" t="t" r="r" b="b"/>
              <a:pathLst>
                <a:path w="943451" h="9525">
                  <a:moveTo>
                    <a:pt x="0" y="0"/>
                  </a:moveTo>
                  <a:lnTo>
                    <a:pt x="943451" y="0"/>
                  </a:lnTo>
                </a:path>
              </a:pathLst>
            </a:custGeom>
            <a:noFill/>
            <a:ln w="31747" cap="rnd">
              <a:solidFill>
                <a:srgbClr val="D9D9D9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454777" y="4414933"/>
              <a:ext cx="9525" cy="482346"/>
            </a:xfrm>
            <a:custGeom>
              <a:avLst/>
              <a:gdLst/>
              <a:ahLst/>
              <a:cxnLst/>
              <a:rect l="l" t="t" r="r" b="b"/>
              <a:pathLst>
                <a:path w="9525" h="482346">
                  <a:moveTo>
                    <a:pt x="0" y="0"/>
                  </a:moveTo>
                  <a:lnTo>
                    <a:pt x="0" y="482346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626418" y="4346734"/>
              <a:ext cx="4652391" cy="618839"/>
              <a:chOff x="5626418" y="4346734"/>
              <a:chExt cx="4652391" cy="618839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626418" y="4346734"/>
                <a:ext cx="4652391" cy="618839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626418" y="4346734"/>
                <a:ext cx="4652391" cy="618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3200" dirty="0">
                    <a:solidFill>
                      <a:srgbClr val="D9D9D9"/>
                    </a:solidFill>
                    <a:latin typeface="思源黑体 CN Heavy"/>
                    <a:ea typeface="Microsoft YaHei"/>
                    <a:cs typeface="思源黑体 CN Heavy"/>
                  </a:rPr>
                  <a:t>创新、基础与实施计划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654010" y="4303014"/>
              <a:ext cx="625126" cy="687134"/>
              <a:chOff x="4654010" y="4303014"/>
              <a:chExt cx="625126" cy="687134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654010" y="4303014"/>
                <a:ext cx="625126" cy="687134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654010" y="4303014"/>
                <a:ext cx="625126" cy="6871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4000" dirty="0">
                    <a:solidFill>
                      <a:srgbClr val="D9D9D9"/>
                    </a:solidFill>
                    <a:latin typeface="思源黑体 CN Heavy"/>
                    <a:ea typeface="Microsoft YaHei"/>
                    <a:cs typeface="思源黑体 CN Heavy"/>
                  </a:rPr>
                  <a:t>03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876872" y="1364552"/>
            <a:ext cx="2959226" cy="4059746"/>
            <a:chOff x="876872" y="1364552"/>
            <a:chExt cx="2959226" cy="4059746"/>
          </a:xfrm>
        </p:grpSpPr>
        <p:sp>
          <p:nvSpPr>
            <p:cNvPr id="38" name="Freeform 38"/>
            <p:cNvSpPr/>
            <p:nvPr/>
          </p:nvSpPr>
          <p:spPr>
            <a:xfrm>
              <a:off x="876872" y="3875246"/>
              <a:ext cx="2482787" cy="306800"/>
            </a:xfrm>
            <a:custGeom>
              <a:avLst/>
              <a:gdLst/>
              <a:ahLst/>
              <a:cxnLst/>
              <a:rect l="l" t="t" r="r" b="b"/>
              <a:pathLst>
                <a:path w="2482787" h="306800">
                  <a:moveTo>
                    <a:pt x="2273522" y="92773"/>
                  </a:moveTo>
                  <a:cubicBezTo>
                    <a:pt x="2273522" y="75343"/>
                    <a:pt x="2276284" y="60674"/>
                    <a:pt x="2281714" y="48768"/>
                  </a:cubicBezTo>
                  <a:cubicBezTo>
                    <a:pt x="2287143" y="36862"/>
                    <a:pt x="2294954" y="27241"/>
                    <a:pt x="2305145" y="20002"/>
                  </a:cubicBezTo>
                  <a:cubicBezTo>
                    <a:pt x="2315337" y="12668"/>
                    <a:pt x="2327624" y="7525"/>
                    <a:pt x="2342102" y="4477"/>
                  </a:cubicBezTo>
                  <a:cubicBezTo>
                    <a:pt x="2356580" y="1524"/>
                    <a:pt x="2372678" y="0"/>
                    <a:pt x="2390394" y="0"/>
                  </a:cubicBezTo>
                  <a:cubicBezTo>
                    <a:pt x="2409063" y="0"/>
                    <a:pt x="2424494" y="1048"/>
                    <a:pt x="2436781" y="3238"/>
                  </a:cubicBezTo>
                  <a:cubicBezTo>
                    <a:pt x="2449163" y="5334"/>
                    <a:pt x="2459450" y="7906"/>
                    <a:pt x="2467737" y="10763"/>
                  </a:cubicBezTo>
                  <a:lnTo>
                    <a:pt x="2467737" y="79057"/>
                  </a:lnTo>
                  <a:cubicBezTo>
                    <a:pt x="2464594" y="77914"/>
                    <a:pt x="2460117" y="76772"/>
                    <a:pt x="2454212" y="75628"/>
                  </a:cubicBezTo>
                  <a:cubicBezTo>
                    <a:pt x="2448306" y="74485"/>
                    <a:pt x="2441924" y="73438"/>
                    <a:pt x="2435066" y="72390"/>
                  </a:cubicBezTo>
                  <a:cubicBezTo>
                    <a:pt x="2428208" y="71438"/>
                    <a:pt x="2421160" y="70580"/>
                    <a:pt x="2414016" y="69818"/>
                  </a:cubicBezTo>
                  <a:cubicBezTo>
                    <a:pt x="2406872" y="69056"/>
                    <a:pt x="2400300" y="68770"/>
                    <a:pt x="2394299" y="68770"/>
                  </a:cubicBezTo>
                  <a:cubicBezTo>
                    <a:pt x="2380488" y="68770"/>
                    <a:pt x="2370677" y="70390"/>
                    <a:pt x="2364867" y="73723"/>
                  </a:cubicBezTo>
                  <a:cubicBezTo>
                    <a:pt x="2358962" y="76962"/>
                    <a:pt x="2356009" y="82201"/>
                    <a:pt x="2356009" y="89344"/>
                  </a:cubicBezTo>
                  <a:cubicBezTo>
                    <a:pt x="2356009" y="92773"/>
                    <a:pt x="2356580" y="95631"/>
                    <a:pt x="2357533" y="97917"/>
                  </a:cubicBezTo>
                  <a:cubicBezTo>
                    <a:pt x="2358580" y="100298"/>
                    <a:pt x="2360581" y="102298"/>
                    <a:pt x="2363724" y="104203"/>
                  </a:cubicBezTo>
                  <a:cubicBezTo>
                    <a:pt x="2366962" y="106013"/>
                    <a:pt x="2371344" y="107823"/>
                    <a:pt x="2377059" y="109538"/>
                  </a:cubicBezTo>
                  <a:cubicBezTo>
                    <a:pt x="2382774" y="111252"/>
                    <a:pt x="2390299" y="113252"/>
                    <a:pt x="2399443" y="115538"/>
                  </a:cubicBezTo>
                  <a:cubicBezTo>
                    <a:pt x="2418016" y="120491"/>
                    <a:pt x="2432876" y="125730"/>
                    <a:pt x="2443924" y="131445"/>
                  </a:cubicBezTo>
                  <a:cubicBezTo>
                    <a:pt x="2454878" y="137160"/>
                    <a:pt x="2463260" y="143827"/>
                    <a:pt x="2469070" y="151257"/>
                  </a:cubicBezTo>
                  <a:cubicBezTo>
                    <a:pt x="2474786" y="158686"/>
                    <a:pt x="2478500" y="167449"/>
                    <a:pt x="2480215" y="177451"/>
                  </a:cubicBezTo>
                  <a:cubicBezTo>
                    <a:pt x="2481929" y="187452"/>
                    <a:pt x="2482787" y="199168"/>
                    <a:pt x="2482787" y="212693"/>
                  </a:cubicBezTo>
                  <a:cubicBezTo>
                    <a:pt x="2482787" y="227552"/>
                    <a:pt x="2480786" y="240792"/>
                    <a:pt x="2476786" y="252412"/>
                  </a:cubicBezTo>
                  <a:cubicBezTo>
                    <a:pt x="2472785" y="264033"/>
                    <a:pt x="2466118" y="273844"/>
                    <a:pt x="2456783" y="281845"/>
                  </a:cubicBezTo>
                  <a:cubicBezTo>
                    <a:pt x="2447449" y="289846"/>
                    <a:pt x="2435066" y="296037"/>
                    <a:pt x="2419636" y="300323"/>
                  </a:cubicBezTo>
                  <a:cubicBezTo>
                    <a:pt x="2404110" y="304609"/>
                    <a:pt x="2384774" y="306800"/>
                    <a:pt x="2361628" y="306800"/>
                  </a:cubicBezTo>
                  <a:cubicBezTo>
                    <a:pt x="2344960" y="306800"/>
                    <a:pt x="2329148" y="305752"/>
                    <a:pt x="2314099" y="303752"/>
                  </a:cubicBezTo>
                  <a:cubicBezTo>
                    <a:pt x="2299144" y="301752"/>
                    <a:pt x="2286286" y="299466"/>
                    <a:pt x="2275713" y="296894"/>
                  </a:cubicBezTo>
                  <a:lnTo>
                    <a:pt x="2275713" y="223456"/>
                  </a:lnTo>
                  <a:cubicBezTo>
                    <a:pt x="2280571" y="224885"/>
                    <a:pt x="2286286" y="226314"/>
                    <a:pt x="2292858" y="227743"/>
                  </a:cubicBezTo>
                  <a:cubicBezTo>
                    <a:pt x="2299430" y="229172"/>
                    <a:pt x="2306384" y="230410"/>
                    <a:pt x="2313718" y="231362"/>
                  </a:cubicBezTo>
                  <a:cubicBezTo>
                    <a:pt x="2321052" y="232410"/>
                    <a:pt x="2328386" y="233172"/>
                    <a:pt x="2335816" y="233743"/>
                  </a:cubicBezTo>
                  <a:cubicBezTo>
                    <a:pt x="2343245" y="234315"/>
                    <a:pt x="2350294" y="234601"/>
                    <a:pt x="2356866" y="234601"/>
                  </a:cubicBezTo>
                  <a:cubicBezTo>
                    <a:pt x="2365820" y="234601"/>
                    <a:pt x="2372868" y="234124"/>
                    <a:pt x="2378202" y="233267"/>
                  </a:cubicBezTo>
                  <a:cubicBezTo>
                    <a:pt x="2383441" y="232410"/>
                    <a:pt x="2387537" y="231076"/>
                    <a:pt x="2390394" y="229172"/>
                  </a:cubicBezTo>
                  <a:cubicBezTo>
                    <a:pt x="2393252" y="227362"/>
                    <a:pt x="2395156" y="224885"/>
                    <a:pt x="2396014" y="221742"/>
                  </a:cubicBezTo>
                  <a:cubicBezTo>
                    <a:pt x="2396871" y="218503"/>
                    <a:pt x="2397252" y="214693"/>
                    <a:pt x="2397252" y="210122"/>
                  </a:cubicBezTo>
                  <a:cubicBezTo>
                    <a:pt x="2397252" y="206978"/>
                    <a:pt x="2396776" y="204121"/>
                    <a:pt x="2395823" y="201549"/>
                  </a:cubicBezTo>
                  <a:cubicBezTo>
                    <a:pt x="2394776" y="198882"/>
                    <a:pt x="2392775" y="196596"/>
                    <a:pt x="2389727" y="194405"/>
                  </a:cubicBezTo>
                  <a:cubicBezTo>
                    <a:pt x="2386774" y="192310"/>
                    <a:pt x="2382488" y="190119"/>
                    <a:pt x="2376868" y="187928"/>
                  </a:cubicBezTo>
                  <a:cubicBezTo>
                    <a:pt x="2371249" y="185833"/>
                    <a:pt x="2363724" y="183642"/>
                    <a:pt x="2354294" y="181356"/>
                  </a:cubicBezTo>
                  <a:cubicBezTo>
                    <a:pt x="2338006" y="177546"/>
                    <a:pt x="2324576" y="173355"/>
                    <a:pt x="2314099" y="168592"/>
                  </a:cubicBezTo>
                  <a:cubicBezTo>
                    <a:pt x="2303716" y="163925"/>
                    <a:pt x="2295430" y="158115"/>
                    <a:pt x="2289429" y="151257"/>
                  </a:cubicBezTo>
                  <a:cubicBezTo>
                    <a:pt x="2283428" y="144399"/>
                    <a:pt x="2279237" y="136303"/>
                    <a:pt x="2276951" y="126968"/>
                  </a:cubicBezTo>
                  <a:cubicBezTo>
                    <a:pt x="2274665" y="117634"/>
                    <a:pt x="2273522" y="106299"/>
                    <a:pt x="2273522" y="92773"/>
                  </a:cubicBezTo>
                  <a:close/>
                  <a:moveTo>
                    <a:pt x="1975104" y="79057"/>
                  </a:moveTo>
                  <a:lnTo>
                    <a:pt x="1975104" y="4286"/>
                  </a:lnTo>
                  <a:lnTo>
                    <a:pt x="2202370" y="4286"/>
                  </a:lnTo>
                  <a:lnTo>
                    <a:pt x="2202370" y="79057"/>
                  </a:lnTo>
                  <a:lnTo>
                    <a:pt x="2131028" y="79057"/>
                  </a:lnTo>
                  <a:lnTo>
                    <a:pt x="2131028" y="302514"/>
                  </a:lnTo>
                  <a:lnTo>
                    <a:pt x="2045970" y="302514"/>
                  </a:lnTo>
                  <a:lnTo>
                    <a:pt x="2045970" y="79057"/>
                  </a:lnTo>
                  <a:close/>
                  <a:moveTo>
                    <a:pt x="1618869" y="302514"/>
                  </a:moveTo>
                  <a:lnTo>
                    <a:pt x="1618869" y="4286"/>
                  </a:lnTo>
                  <a:lnTo>
                    <a:pt x="1747838" y="4286"/>
                  </a:lnTo>
                  <a:lnTo>
                    <a:pt x="1809655" y="191167"/>
                  </a:lnTo>
                  <a:lnTo>
                    <a:pt x="1812226" y="191167"/>
                  </a:lnTo>
                  <a:lnTo>
                    <a:pt x="1812226" y="4286"/>
                  </a:lnTo>
                  <a:lnTo>
                    <a:pt x="1895570" y="4286"/>
                  </a:lnTo>
                  <a:lnTo>
                    <a:pt x="1895570" y="302514"/>
                  </a:lnTo>
                  <a:lnTo>
                    <a:pt x="1776603" y="302514"/>
                  </a:lnTo>
                  <a:lnTo>
                    <a:pt x="1705737" y="103156"/>
                  </a:lnTo>
                  <a:lnTo>
                    <a:pt x="1703070" y="103156"/>
                  </a:lnTo>
                  <a:lnTo>
                    <a:pt x="1703070" y="302514"/>
                  </a:lnTo>
                  <a:close/>
                  <a:moveTo>
                    <a:pt x="1341406" y="302514"/>
                  </a:moveTo>
                  <a:lnTo>
                    <a:pt x="1341406" y="4286"/>
                  </a:lnTo>
                  <a:lnTo>
                    <a:pt x="1536097" y="4286"/>
                  </a:lnTo>
                  <a:lnTo>
                    <a:pt x="1536097" y="78200"/>
                  </a:lnTo>
                  <a:lnTo>
                    <a:pt x="1426940" y="78200"/>
                  </a:lnTo>
                  <a:lnTo>
                    <a:pt x="1426940" y="116014"/>
                  </a:lnTo>
                  <a:lnTo>
                    <a:pt x="1527048" y="116014"/>
                  </a:lnTo>
                  <a:lnTo>
                    <a:pt x="1527048" y="186881"/>
                  </a:lnTo>
                  <a:lnTo>
                    <a:pt x="1426940" y="186881"/>
                  </a:lnTo>
                  <a:lnTo>
                    <a:pt x="1426940" y="228981"/>
                  </a:lnTo>
                  <a:lnTo>
                    <a:pt x="1538668" y="228981"/>
                  </a:lnTo>
                  <a:lnTo>
                    <a:pt x="1538668" y="302514"/>
                  </a:lnTo>
                  <a:close/>
                  <a:moveTo>
                    <a:pt x="1035272" y="79057"/>
                  </a:moveTo>
                  <a:lnTo>
                    <a:pt x="1035272" y="4286"/>
                  </a:lnTo>
                  <a:lnTo>
                    <a:pt x="1262539" y="4286"/>
                  </a:lnTo>
                  <a:lnTo>
                    <a:pt x="1262539" y="79057"/>
                  </a:lnTo>
                  <a:lnTo>
                    <a:pt x="1191196" y="79057"/>
                  </a:lnTo>
                  <a:lnTo>
                    <a:pt x="1191196" y="302514"/>
                  </a:lnTo>
                  <a:lnTo>
                    <a:pt x="1106138" y="302514"/>
                  </a:lnTo>
                  <a:lnTo>
                    <a:pt x="1106138" y="79057"/>
                  </a:lnTo>
                  <a:close/>
                  <a:moveTo>
                    <a:pt x="679037" y="302514"/>
                  </a:moveTo>
                  <a:lnTo>
                    <a:pt x="679037" y="4286"/>
                  </a:lnTo>
                  <a:lnTo>
                    <a:pt x="807910" y="4286"/>
                  </a:lnTo>
                  <a:lnTo>
                    <a:pt x="869823" y="191167"/>
                  </a:lnTo>
                  <a:lnTo>
                    <a:pt x="872395" y="191167"/>
                  </a:lnTo>
                  <a:lnTo>
                    <a:pt x="872395" y="4286"/>
                  </a:lnTo>
                  <a:lnTo>
                    <a:pt x="955738" y="4286"/>
                  </a:lnTo>
                  <a:lnTo>
                    <a:pt x="955738" y="302514"/>
                  </a:lnTo>
                  <a:lnTo>
                    <a:pt x="836771" y="302514"/>
                  </a:lnTo>
                  <a:lnTo>
                    <a:pt x="765810" y="103156"/>
                  </a:lnTo>
                  <a:lnTo>
                    <a:pt x="763238" y="103156"/>
                  </a:lnTo>
                  <a:lnTo>
                    <a:pt x="763238" y="302514"/>
                  </a:lnTo>
                  <a:close/>
                  <a:moveTo>
                    <a:pt x="394525" y="153352"/>
                  </a:moveTo>
                  <a:cubicBezTo>
                    <a:pt x="394525" y="169450"/>
                    <a:pt x="395288" y="182785"/>
                    <a:pt x="396716" y="193357"/>
                  </a:cubicBezTo>
                  <a:cubicBezTo>
                    <a:pt x="398145" y="203930"/>
                    <a:pt x="400717" y="212503"/>
                    <a:pt x="404432" y="218884"/>
                  </a:cubicBezTo>
                  <a:cubicBezTo>
                    <a:pt x="408146" y="225361"/>
                    <a:pt x="413290" y="229838"/>
                    <a:pt x="419672" y="232410"/>
                  </a:cubicBezTo>
                  <a:cubicBezTo>
                    <a:pt x="426149" y="234982"/>
                    <a:pt x="434531" y="236315"/>
                    <a:pt x="444817" y="236315"/>
                  </a:cubicBezTo>
                  <a:cubicBezTo>
                    <a:pt x="455104" y="236315"/>
                    <a:pt x="463486" y="234982"/>
                    <a:pt x="469964" y="232410"/>
                  </a:cubicBezTo>
                  <a:cubicBezTo>
                    <a:pt x="476441" y="229838"/>
                    <a:pt x="481584" y="225361"/>
                    <a:pt x="485394" y="218884"/>
                  </a:cubicBezTo>
                  <a:cubicBezTo>
                    <a:pt x="489299" y="212503"/>
                    <a:pt x="491966" y="203930"/>
                    <a:pt x="493395" y="193357"/>
                  </a:cubicBezTo>
                  <a:cubicBezTo>
                    <a:pt x="494824" y="182785"/>
                    <a:pt x="495491" y="169450"/>
                    <a:pt x="495491" y="153352"/>
                  </a:cubicBezTo>
                  <a:cubicBezTo>
                    <a:pt x="495491" y="137065"/>
                    <a:pt x="494824" y="123539"/>
                    <a:pt x="493395" y="112776"/>
                  </a:cubicBezTo>
                  <a:cubicBezTo>
                    <a:pt x="491966" y="102013"/>
                    <a:pt x="489299" y="93440"/>
                    <a:pt x="485394" y="86963"/>
                  </a:cubicBezTo>
                  <a:cubicBezTo>
                    <a:pt x="481584" y="80581"/>
                    <a:pt x="476441" y="76009"/>
                    <a:pt x="469964" y="73247"/>
                  </a:cubicBezTo>
                  <a:cubicBezTo>
                    <a:pt x="463486" y="70580"/>
                    <a:pt x="455104" y="69151"/>
                    <a:pt x="444817" y="69151"/>
                  </a:cubicBezTo>
                  <a:cubicBezTo>
                    <a:pt x="434531" y="69151"/>
                    <a:pt x="426149" y="70580"/>
                    <a:pt x="419672" y="73247"/>
                  </a:cubicBezTo>
                  <a:cubicBezTo>
                    <a:pt x="413290" y="76009"/>
                    <a:pt x="408146" y="80581"/>
                    <a:pt x="404432" y="86963"/>
                  </a:cubicBezTo>
                  <a:cubicBezTo>
                    <a:pt x="400717" y="93440"/>
                    <a:pt x="398145" y="102013"/>
                    <a:pt x="396716" y="112776"/>
                  </a:cubicBezTo>
                  <a:cubicBezTo>
                    <a:pt x="395288" y="123539"/>
                    <a:pt x="394525" y="137065"/>
                    <a:pt x="394525" y="153352"/>
                  </a:cubicBezTo>
                  <a:close/>
                  <a:moveTo>
                    <a:pt x="304324" y="153352"/>
                  </a:moveTo>
                  <a:cubicBezTo>
                    <a:pt x="304324" y="122777"/>
                    <a:pt x="307467" y="97536"/>
                    <a:pt x="313754" y="77724"/>
                  </a:cubicBezTo>
                  <a:cubicBezTo>
                    <a:pt x="320040" y="58007"/>
                    <a:pt x="329279" y="42291"/>
                    <a:pt x="341281" y="30766"/>
                  </a:cubicBezTo>
                  <a:cubicBezTo>
                    <a:pt x="353282" y="19145"/>
                    <a:pt x="368046" y="11144"/>
                    <a:pt x="385572" y="6667"/>
                  </a:cubicBezTo>
                  <a:cubicBezTo>
                    <a:pt x="403003" y="2191"/>
                    <a:pt x="422815" y="0"/>
                    <a:pt x="444817" y="0"/>
                  </a:cubicBezTo>
                  <a:cubicBezTo>
                    <a:pt x="467201" y="0"/>
                    <a:pt x="487013" y="2191"/>
                    <a:pt x="504349" y="6667"/>
                  </a:cubicBezTo>
                  <a:cubicBezTo>
                    <a:pt x="521684" y="11144"/>
                    <a:pt x="536353" y="19145"/>
                    <a:pt x="548354" y="30766"/>
                  </a:cubicBezTo>
                  <a:cubicBezTo>
                    <a:pt x="560356" y="42291"/>
                    <a:pt x="569595" y="58007"/>
                    <a:pt x="575882" y="77724"/>
                  </a:cubicBezTo>
                  <a:cubicBezTo>
                    <a:pt x="582168" y="97536"/>
                    <a:pt x="585311" y="122777"/>
                    <a:pt x="585311" y="153352"/>
                  </a:cubicBezTo>
                  <a:cubicBezTo>
                    <a:pt x="585311" y="184023"/>
                    <a:pt x="582168" y="209264"/>
                    <a:pt x="575882" y="229172"/>
                  </a:cubicBezTo>
                  <a:cubicBezTo>
                    <a:pt x="569595" y="249079"/>
                    <a:pt x="560356" y="264795"/>
                    <a:pt x="548354" y="276225"/>
                  </a:cubicBezTo>
                  <a:cubicBezTo>
                    <a:pt x="536353" y="287750"/>
                    <a:pt x="521684" y="295656"/>
                    <a:pt x="504349" y="300133"/>
                  </a:cubicBezTo>
                  <a:cubicBezTo>
                    <a:pt x="487013" y="304514"/>
                    <a:pt x="467201" y="306800"/>
                    <a:pt x="444817" y="306800"/>
                  </a:cubicBezTo>
                  <a:cubicBezTo>
                    <a:pt x="422815" y="306800"/>
                    <a:pt x="403003" y="304514"/>
                    <a:pt x="385572" y="300133"/>
                  </a:cubicBezTo>
                  <a:cubicBezTo>
                    <a:pt x="368046" y="295656"/>
                    <a:pt x="353282" y="287750"/>
                    <a:pt x="341281" y="276225"/>
                  </a:cubicBezTo>
                  <a:cubicBezTo>
                    <a:pt x="329279" y="264795"/>
                    <a:pt x="320040" y="249079"/>
                    <a:pt x="313754" y="229172"/>
                  </a:cubicBezTo>
                  <a:cubicBezTo>
                    <a:pt x="307467" y="209264"/>
                    <a:pt x="304324" y="184023"/>
                    <a:pt x="304324" y="153352"/>
                  </a:cubicBezTo>
                  <a:close/>
                  <a:moveTo>
                    <a:pt x="0" y="153352"/>
                  </a:moveTo>
                  <a:cubicBezTo>
                    <a:pt x="0" y="124777"/>
                    <a:pt x="3429" y="100584"/>
                    <a:pt x="10287" y="80962"/>
                  </a:cubicBezTo>
                  <a:cubicBezTo>
                    <a:pt x="17145" y="61341"/>
                    <a:pt x="26956" y="45529"/>
                    <a:pt x="39719" y="33528"/>
                  </a:cubicBezTo>
                  <a:cubicBezTo>
                    <a:pt x="52483" y="21526"/>
                    <a:pt x="67913" y="12859"/>
                    <a:pt x="85915" y="7715"/>
                  </a:cubicBezTo>
                  <a:cubicBezTo>
                    <a:pt x="104013" y="2572"/>
                    <a:pt x="124206" y="0"/>
                    <a:pt x="146494" y="0"/>
                  </a:cubicBezTo>
                  <a:cubicBezTo>
                    <a:pt x="161163" y="0"/>
                    <a:pt x="174689" y="952"/>
                    <a:pt x="187357" y="2762"/>
                  </a:cubicBezTo>
                  <a:cubicBezTo>
                    <a:pt x="199930" y="4667"/>
                    <a:pt x="210788" y="7334"/>
                    <a:pt x="219932" y="10763"/>
                  </a:cubicBezTo>
                  <a:lnTo>
                    <a:pt x="219932" y="83344"/>
                  </a:lnTo>
                  <a:cubicBezTo>
                    <a:pt x="199930" y="75914"/>
                    <a:pt x="177736" y="72199"/>
                    <a:pt x="153352" y="72199"/>
                  </a:cubicBezTo>
                  <a:cubicBezTo>
                    <a:pt x="142494" y="72199"/>
                    <a:pt x="133350" y="73533"/>
                    <a:pt x="125920" y="76295"/>
                  </a:cubicBezTo>
                  <a:cubicBezTo>
                    <a:pt x="118396" y="78962"/>
                    <a:pt x="112300" y="83534"/>
                    <a:pt x="107442" y="89821"/>
                  </a:cubicBezTo>
                  <a:cubicBezTo>
                    <a:pt x="102584" y="96107"/>
                    <a:pt x="99060" y="104489"/>
                    <a:pt x="96869" y="114967"/>
                  </a:cubicBezTo>
                  <a:cubicBezTo>
                    <a:pt x="94774" y="125349"/>
                    <a:pt x="93631" y="138208"/>
                    <a:pt x="93631" y="153352"/>
                  </a:cubicBezTo>
                  <a:cubicBezTo>
                    <a:pt x="93631" y="169450"/>
                    <a:pt x="94869" y="182594"/>
                    <a:pt x="97345" y="192881"/>
                  </a:cubicBezTo>
                  <a:cubicBezTo>
                    <a:pt x="99727" y="203263"/>
                    <a:pt x="103442" y="211360"/>
                    <a:pt x="108490" y="217170"/>
                  </a:cubicBezTo>
                  <a:cubicBezTo>
                    <a:pt x="113538" y="223075"/>
                    <a:pt x="119824" y="227171"/>
                    <a:pt x="127349" y="229457"/>
                  </a:cubicBezTo>
                  <a:cubicBezTo>
                    <a:pt x="134969" y="231743"/>
                    <a:pt x="144113" y="232886"/>
                    <a:pt x="154686" y="232886"/>
                  </a:cubicBezTo>
                  <a:cubicBezTo>
                    <a:pt x="165830" y="232886"/>
                    <a:pt x="177260" y="232124"/>
                    <a:pt x="188785" y="230505"/>
                  </a:cubicBezTo>
                  <a:cubicBezTo>
                    <a:pt x="200406" y="228886"/>
                    <a:pt x="211931" y="226123"/>
                    <a:pt x="223456" y="222123"/>
                  </a:cubicBezTo>
                  <a:lnTo>
                    <a:pt x="223456" y="294704"/>
                  </a:lnTo>
                  <a:cubicBezTo>
                    <a:pt x="214217" y="298132"/>
                    <a:pt x="203264" y="301085"/>
                    <a:pt x="190310" y="303371"/>
                  </a:cubicBezTo>
                  <a:cubicBezTo>
                    <a:pt x="177451" y="305657"/>
                    <a:pt x="164116" y="306800"/>
                    <a:pt x="150400" y="306800"/>
                  </a:cubicBezTo>
                  <a:cubicBezTo>
                    <a:pt x="127444" y="306800"/>
                    <a:pt x="106775" y="304609"/>
                    <a:pt x="88297" y="300323"/>
                  </a:cubicBezTo>
                  <a:cubicBezTo>
                    <a:pt x="69818" y="296037"/>
                    <a:pt x="54102" y="288226"/>
                    <a:pt x="41053" y="276892"/>
                  </a:cubicBezTo>
                  <a:cubicBezTo>
                    <a:pt x="28003" y="265557"/>
                    <a:pt x="17907" y="249936"/>
                    <a:pt x="10763" y="230029"/>
                  </a:cubicBezTo>
                  <a:cubicBezTo>
                    <a:pt x="3619" y="210122"/>
                    <a:pt x="0" y="184594"/>
                    <a:pt x="0" y="153352"/>
                  </a:cubicBezTo>
                  <a:close/>
                </a:path>
              </a:pathLst>
            </a:custGeom>
            <a:noFill/>
            <a:ln w="9525">
              <a:solidFill>
                <a:srgbClr val="751497">
                  <a:alpha val="40000"/>
                </a:srgbClr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503932" y="1364552"/>
              <a:ext cx="1292638" cy="405974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64498" y="1474184"/>
              <a:ext cx="1371600" cy="3794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7200" dirty="0">
                  <a:solidFill>
                    <a:srgbClr val="751497"/>
                  </a:solidFill>
                  <a:latin typeface="思源宋体 CN Heavy"/>
                  <a:ea typeface="Microsoft YaHei"/>
                  <a:cs typeface="思源宋体 CN Heavy"/>
                </a:rPr>
                <a:t>汇</a:t>
              </a:r>
            </a:p>
            <a:p>
              <a:pPr algn="ctr"/>
              <a:r>
                <a:rPr lang="zh-CN" sz="7200" dirty="0">
                  <a:solidFill>
                    <a:srgbClr val="751497"/>
                  </a:solidFill>
                  <a:latin typeface="思源宋体 CN Heavy"/>
                  <a:ea typeface="Microsoft YaHei"/>
                  <a:cs typeface="思源宋体 CN Heavy"/>
                </a:rPr>
                <a:t>报</a:t>
              </a:r>
            </a:p>
            <a:p>
              <a:pPr algn="ctr"/>
              <a:r>
                <a:rPr lang="zh-CN" sz="7200" dirty="0">
                  <a:solidFill>
                    <a:srgbClr val="751497"/>
                  </a:solidFill>
                  <a:latin typeface="思源宋体 CN Heavy"/>
                  <a:ea typeface="Microsoft YaHei"/>
                  <a:cs typeface="思源宋体 CN Heavy"/>
                </a:rPr>
                <a:t>答</a:t>
              </a:r>
            </a:p>
            <a:p>
              <a:pPr algn="ctr"/>
              <a:r>
                <a:rPr lang="zh-CN" sz="7200" dirty="0">
                  <a:solidFill>
                    <a:srgbClr val="751497"/>
                  </a:solidFill>
                  <a:latin typeface="思源宋体 CN Heavy"/>
                  <a:ea typeface="Microsoft YaHei"/>
                  <a:cs typeface="思源宋体 CN Heavy"/>
                </a:rPr>
                <a:t>辩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-10573"/>
            <a:ext cx="2357533" cy="1774031"/>
            <a:chOff x="0" y="-10573"/>
            <a:chExt cx="2357533" cy="1774031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-10573"/>
              <a:ext cx="2357533" cy="1774031"/>
              <a:chOff x="0" y="-10573"/>
              <a:chExt cx="2357533" cy="177403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-10573"/>
                <a:ext cx="2357533" cy="1774031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774031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391668"/>
                      <a:pt x="0" y="1355217"/>
                    </a:cubicBezTo>
                    <a:cubicBezTo>
                      <a:pt x="0" y="177403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0" y="-10573"/>
                <a:ext cx="2357533" cy="1585532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585532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203168"/>
                      <a:pt x="0" y="1166812"/>
                    </a:cubicBezTo>
                    <a:cubicBezTo>
                      <a:pt x="0" y="158553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 rot="10800000">
              <a:off x="9834467" y="5094542"/>
              <a:ext cx="2357533" cy="1774031"/>
              <a:chOff x="0" y="-10573"/>
              <a:chExt cx="2357533" cy="177403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-10573"/>
                <a:ext cx="2357533" cy="1774031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774031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391668"/>
                      <a:pt x="0" y="1355217"/>
                    </a:cubicBezTo>
                    <a:cubicBezTo>
                      <a:pt x="0" y="177403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0" y="-10573"/>
                <a:ext cx="2357533" cy="1585532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585532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203168"/>
                      <a:pt x="0" y="1166812"/>
                    </a:cubicBezTo>
                    <a:cubicBezTo>
                      <a:pt x="0" y="158553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/>
              </a:solidFill>
              <a:ln>
                <a:noFill/>
              </a:ln>
            </p:spPr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143" y="161925"/>
            <a:ext cx="12185714" cy="6696075"/>
            <a:chOff x="3143" y="161925"/>
            <a:chExt cx="12185714" cy="669607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" y="161925"/>
              <a:ext cx="12185714" cy="6696075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212479" cy="6858000"/>
            <a:chOff x="0" y="0"/>
            <a:chExt cx="12212479" cy="685800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212479" cy="6858000"/>
            </a:xfrm>
            <a:prstGeom prst="rect">
              <a:avLst/>
            </a:prstGeom>
            <a:gradFill>
              <a:gsLst>
                <a:gs pos="21000">
                  <a:srgbClr val="FFFFFF"/>
                </a:gs>
                <a:gs pos="100000">
                  <a:srgbClr val="FFFFFF">
                    <a:alpha val="8500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49262" y="861060"/>
            <a:ext cx="10290715" cy="5192363"/>
            <a:chOff x="949262" y="861060"/>
            <a:chExt cx="10290715" cy="5192363"/>
          </a:xfrm>
        </p:grpSpPr>
        <p:sp>
          <p:nvSpPr>
            <p:cNvPr id="6" name="Freeform 6"/>
            <p:cNvSpPr/>
            <p:nvPr/>
          </p:nvSpPr>
          <p:spPr>
            <a:xfrm>
              <a:off x="949262" y="861060"/>
              <a:ext cx="10290715" cy="5192363"/>
            </a:xfrm>
            <a:custGeom>
              <a:avLst/>
              <a:gdLst/>
              <a:ahLst/>
              <a:cxnLst/>
              <a:rect l="l" t="t" r="r" b="b"/>
              <a:pathLst>
                <a:path w="10290715" h="5192363">
                  <a:moveTo>
                    <a:pt x="173927" y="0"/>
                  </a:moveTo>
                  <a:lnTo>
                    <a:pt x="10116788" y="0"/>
                  </a:lnTo>
                  <a:cubicBezTo>
                    <a:pt x="10212808" y="0"/>
                    <a:pt x="10290662" y="77812"/>
                    <a:pt x="10290715" y="173831"/>
                  </a:cubicBezTo>
                  <a:lnTo>
                    <a:pt x="10290715" y="5090732"/>
                  </a:lnTo>
                  <a:cubicBezTo>
                    <a:pt x="10290715" y="5146861"/>
                    <a:pt x="10245213" y="5192363"/>
                    <a:pt x="10189083" y="5192363"/>
                  </a:cubicBezTo>
                  <a:lnTo>
                    <a:pt x="101632" y="5192363"/>
                  </a:lnTo>
                  <a:cubicBezTo>
                    <a:pt x="45502" y="5192363"/>
                    <a:pt x="0" y="5146861"/>
                    <a:pt x="0" y="5090732"/>
                  </a:cubicBezTo>
                  <a:lnTo>
                    <a:pt x="0" y="173831"/>
                  </a:lnTo>
                  <a:cubicBezTo>
                    <a:pt x="53" y="77812"/>
                    <a:pt x="77907" y="0"/>
                    <a:pt x="173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0864" dist="38100" dir="5400000" algn="ctr" rotWithShape="0">
                <a:srgbClr val="000000">
                  <a:alpha val="15000"/>
                </a:srgbClr>
              </a:outerShdw>
            </a:effectLst>
          </p:spPr>
        </p:sp>
      </p:grpSp>
      <p:grpSp>
        <p:nvGrpSpPr>
          <p:cNvPr id="14" name="Group 14"/>
          <p:cNvGrpSpPr/>
          <p:nvPr/>
        </p:nvGrpSpPr>
        <p:grpSpPr>
          <a:xfrm>
            <a:off x="0" y="-10573"/>
            <a:ext cx="2357533" cy="1774031"/>
            <a:chOff x="0" y="-10573"/>
            <a:chExt cx="2357533" cy="177403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-10573"/>
              <a:ext cx="2357533" cy="1774031"/>
              <a:chOff x="0" y="-10573"/>
              <a:chExt cx="2357533" cy="17740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-10573"/>
                <a:ext cx="2357533" cy="1774031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774031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391668"/>
                      <a:pt x="0" y="1355217"/>
                    </a:cubicBezTo>
                    <a:cubicBezTo>
                      <a:pt x="0" y="177403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-10573"/>
                <a:ext cx="2357533" cy="1585532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585532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203168"/>
                      <a:pt x="0" y="1166812"/>
                    </a:cubicBezTo>
                    <a:cubicBezTo>
                      <a:pt x="0" y="158553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 rot="10800000">
              <a:off x="9834467" y="5094542"/>
              <a:ext cx="2357533" cy="1774031"/>
              <a:chOff x="0" y="-10573"/>
              <a:chExt cx="2357533" cy="177403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-10573"/>
                <a:ext cx="2357533" cy="1774031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774031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391668"/>
                      <a:pt x="0" y="1355217"/>
                    </a:cubicBezTo>
                    <a:cubicBezTo>
                      <a:pt x="0" y="177403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0" y="-10573"/>
                <a:ext cx="2357533" cy="1585532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585532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203168"/>
                      <a:pt x="0" y="1166812"/>
                    </a:cubicBezTo>
                    <a:cubicBezTo>
                      <a:pt x="0" y="158553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/>
              </a:solidFill>
              <a:ln>
                <a:noFill/>
              </a:ln>
            </p:spPr>
          </p:sp>
        </p:grpSp>
      </p:grpSp>
      <p:grpSp>
        <p:nvGrpSpPr>
          <p:cNvPr id="18" name="Group 18"/>
          <p:cNvGrpSpPr/>
          <p:nvPr/>
        </p:nvGrpSpPr>
        <p:grpSpPr>
          <a:xfrm>
            <a:off x="3048000" y="2457450"/>
            <a:ext cx="6096000" cy="1981200"/>
            <a:chOff x="3048000" y="2457450"/>
            <a:chExt cx="6096000" cy="1981200"/>
          </a:xfrm>
        </p:grpSpPr>
        <p:sp>
          <p:nvSpPr>
            <p:cNvPr id="15" name="Line 15"/>
            <p:cNvSpPr/>
            <p:nvPr/>
          </p:nvSpPr>
          <p:spPr>
            <a:xfrm>
              <a:off x="5619750" y="24574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 cap="rnd">
              <a:solidFill>
                <a:srgbClr val="75149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48000" y="2714625"/>
              <a:ext cx="6096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4800" dirty="0">
                  <a:solidFill>
                    <a:srgbClr val="751497"/>
                  </a:solidFill>
                  <a:latin typeface="Arial"/>
                  <a:ea typeface="Microsoft YaHei"/>
                  <a:cs typeface="Arial"/>
                </a:rPr>
                <a:t>01 立项依据与问题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9500" y="3905250"/>
              <a:ext cx="4953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100" dirty="0">
                  <a:solidFill>
                    <a:srgbClr val="9A9A9A"/>
                  </a:solidFill>
                  <a:latin typeface="Arial"/>
                  <a:ea typeface="Microsoft YaHei"/>
                  <a:cs typeface="Arial"/>
                </a:rPr>
                <a:t>从学科缺口凝练可检验的研究目标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70848" y="0"/>
            <a:ext cx="3121152" cy="754190"/>
            <a:chOff x="9070848" y="0"/>
            <a:chExt cx="3121152" cy="7541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31890" r="0" b="31890"/>
            <a:stretch>
              <a:fillRect/>
            </a:stretch>
          </p:blipFill>
          <p:spPr>
            <a:xfrm>
              <a:off x="9070848" y="0"/>
              <a:ext cx="3121152" cy="75419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192000" cy="754190"/>
            <a:chOff x="0" y="0"/>
            <a:chExt cx="12192000" cy="75419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754190"/>
            </a:xfrm>
            <a:prstGeom prst="rect">
              <a:avLst/>
            </a:prstGeom>
            <a:gradFill>
              <a:gsLst>
                <a:gs pos="75000">
                  <a:srgbClr val="751497"/>
                </a:gs>
                <a:gs pos="100000">
                  <a:srgbClr val="751497">
                    <a:alpha val="7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8332" y="66104"/>
            <a:ext cx="6032468" cy="646366"/>
            <a:chOff x="368332" y="66104"/>
            <a:chExt cx="6032468" cy="646366"/>
          </a:xfrm>
        </p:grpSpPr>
        <p:sp>
          <p:nvSpPr>
            <p:cNvPr id="6" name="Rectangle 6"/>
            <p:cNvSpPr/>
            <p:nvPr/>
          </p:nvSpPr>
          <p:spPr>
            <a:xfrm>
              <a:off x="368332" y="66104"/>
              <a:ext cx="3727323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5800" y="66104"/>
              <a:ext cx="5715000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思源黑体 CN Heavy"/>
                  <a:ea typeface="Microsoft YaHei"/>
                  <a:cs typeface="思源黑体 CN Heavy"/>
                </a:rPr>
                <a:t>立项依据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1171575"/>
            <a:ext cx="10572750" cy="323850"/>
            <a:chOff x="723900" y="1171575"/>
            <a:chExt cx="10572750" cy="323850"/>
          </a:xfrm>
        </p:grpSpPr>
        <p:sp>
          <p:nvSpPr>
            <p:cNvPr id="9" name="Rectangle 9"/>
            <p:cNvSpPr/>
            <p:nvPr/>
          </p:nvSpPr>
          <p:spPr>
            <a:xfrm>
              <a:off x="723900" y="1257300"/>
              <a:ext cx="152400" cy="152400"/>
            </a:xfrm>
            <a:prstGeom prst="rect">
              <a:avLst/>
            </a:prstGeom>
            <a:solidFill>
              <a:srgbClr val="06060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700" y="1171575"/>
              <a:ext cx="102679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060607"/>
                  </a:solidFill>
                  <a:latin typeface="Arial"/>
                  <a:ea typeface="Microsoft YaHei"/>
                  <a:cs typeface="Arial"/>
                </a:rPr>
                <a:t>社会学习可加速听觉学习，但其因果机制与听损补偿边界仍不清楚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0" y="643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200" b="1" dirty="0">
                <a:solidFill>
                  <a:srgbClr val="75149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7" name="EasySlides Component: grant_stack"/>
          <p:cNvGrpSpPr/>
          <p:nvPr/>
        </p:nvGrpSpPr>
        <p:grpSpPr>
          <a:xfrm>
            <a:off x="1604991" y="2251643"/>
            <a:ext cx="8982018" cy="3685370"/>
            <a:chOff x="1604991" y="2251643"/>
            <a:chExt cx="8982018" cy="3685370"/>
          </a:xfrm>
        </p:grpSpPr>
        <p:sp>
          <p:nvSpPr>
            <p:cNvPr id="13" name="Rectangle 13"/>
            <p:cNvSpPr/>
            <p:nvPr/>
          </p:nvSpPr>
          <p:spPr>
            <a:xfrm>
              <a:off x="1604991" y="2251643"/>
              <a:ext cx="8982019" cy="737074"/>
            </a:xfrm>
            <a:prstGeom prst="roundRect">
              <a:avLst>
                <a:gd name="adj" fmla="val 16279"/>
              </a:avLst>
            </a:prstGeom>
            <a:solidFill>
              <a:srgbClr val="751497"/>
            </a:solidFill>
            <a:ln w="9525">
              <a:solidFill>
                <a:srgbClr val="75149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47816" y="2371631"/>
              <a:ext cx="8296369" cy="4970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从可观察现象到可审查问题，需要补齐三层证据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04991" y="3314401"/>
              <a:ext cx="8982019" cy="794497"/>
            </a:xfrm>
            <a:prstGeom prst="roundRect">
              <a:avLst>
                <a:gd name="adj" fmla="val 12945"/>
              </a:avLst>
            </a:prstGeom>
            <a:solidFill>
              <a:srgbClr val="FFFFFF"/>
            </a:solidFill>
            <a:ln w="9525">
              <a:solidFill>
                <a:srgbClr val="DEC4E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93544" y="3556949"/>
              <a:ext cx="308543" cy="308543"/>
            </a:xfrm>
            <a:prstGeom prst="roundRect">
              <a:avLst>
                <a:gd name="adj" fmla="val 50000"/>
              </a:avLst>
            </a:prstGeom>
            <a:solidFill>
              <a:srgbClr val="F8EAFC"/>
            </a:solidFill>
            <a:ln w="9525">
              <a:solidFill>
                <a:srgbClr val="D9B5E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8133" y="3646084"/>
              <a:ext cx="119365" cy="219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51497"/>
                  </a:solidFill>
                  <a:latin typeface="Aptos"/>
                  <a:ea typeface="Microsoft YaHei"/>
                  <a:cs typeface="Apto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07782" y="3382966"/>
              <a:ext cx="7919261" cy="6573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00" b="1" dirty="0">
                  <a:solidFill>
                    <a:srgbClr val="4A2C59"/>
                  </a:solidFill>
                  <a:latin typeface="Aptos"/>
                  <a:ea typeface="Microsoft YaHei"/>
                  <a:cs typeface="Aptos"/>
                </a:rPr>
                <a:t>学科缺口：既有听觉学习研究侧重个体奖励，缺少对观察同伴的神经解释。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4991" y="4228887"/>
              <a:ext cx="8982019" cy="794497"/>
            </a:xfrm>
            <a:prstGeom prst="roundRect">
              <a:avLst>
                <a:gd name="adj" fmla="val 12945"/>
              </a:avLst>
            </a:prstGeom>
            <a:solidFill>
              <a:srgbClr val="FFFFFF"/>
            </a:solidFill>
            <a:ln w="9525">
              <a:solidFill>
                <a:srgbClr val="DEC4E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93544" y="4471435"/>
              <a:ext cx="308543" cy="308543"/>
            </a:xfrm>
            <a:prstGeom prst="roundRect">
              <a:avLst>
                <a:gd name="adj" fmla="val 50000"/>
              </a:avLst>
            </a:prstGeom>
            <a:solidFill>
              <a:srgbClr val="F8EAFC"/>
            </a:solidFill>
            <a:ln w="9525">
              <a:solidFill>
                <a:srgbClr val="D9B5E7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88133" y="4560570"/>
              <a:ext cx="119365" cy="219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51497"/>
                  </a:solidFill>
                  <a:latin typeface="Aptos"/>
                  <a:ea typeface="Microsoft YaHei"/>
                  <a:cs typeface="Apto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07782" y="4297452"/>
              <a:ext cx="7919261" cy="6573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00" b="1" dirty="0">
                  <a:solidFill>
                    <a:srgbClr val="4A2C59"/>
                  </a:solidFill>
                  <a:latin typeface="Aptos"/>
                  <a:ea typeface="Microsoft YaHei"/>
                  <a:cs typeface="Aptos"/>
                </a:rPr>
                <a:t>科学问题：社会线索、听觉皮层活动与多巴胺调制之间尚未形成可分离的因果证据链。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04991" y="5142516"/>
              <a:ext cx="8982019" cy="794497"/>
            </a:xfrm>
            <a:prstGeom prst="roundRect">
              <a:avLst>
                <a:gd name="adj" fmla="val 12945"/>
              </a:avLst>
            </a:prstGeom>
            <a:solidFill>
              <a:srgbClr val="FFFFFF"/>
            </a:solidFill>
            <a:ln w="9525">
              <a:solidFill>
                <a:srgbClr val="DEC4E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93544" y="5385922"/>
              <a:ext cx="308543" cy="308543"/>
            </a:xfrm>
            <a:prstGeom prst="roundRect">
              <a:avLst>
                <a:gd name="adj" fmla="val 50000"/>
              </a:avLst>
            </a:prstGeom>
            <a:solidFill>
              <a:srgbClr val="F8EAFC"/>
            </a:solidFill>
            <a:ln w="9525">
              <a:solidFill>
                <a:srgbClr val="D9B5E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88133" y="5475056"/>
              <a:ext cx="119365" cy="219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51497"/>
                  </a:solidFill>
                  <a:latin typeface="Aptos"/>
                  <a:ea typeface="Microsoft YaHei"/>
                  <a:cs typeface="Apto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07782" y="5211081"/>
              <a:ext cx="7919261" cy="6573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00" b="1" dirty="0">
                  <a:solidFill>
                    <a:srgbClr val="4A2C59"/>
                  </a:solidFill>
                  <a:latin typeface="Aptos"/>
                  <a:ea typeface="Microsoft YaHei"/>
                  <a:cs typeface="Aptos"/>
                </a:rPr>
                <a:t>转化需求：发育期听力损失能否借助社会经验缓解，仍缺少系统验证。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70848" y="0"/>
            <a:ext cx="3121152" cy="754190"/>
            <a:chOff x="9070848" y="0"/>
            <a:chExt cx="3121152" cy="7541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31890" r="0" b="31890"/>
            <a:stretch>
              <a:fillRect/>
            </a:stretch>
          </p:blipFill>
          <p:spPr>
            <a:xfrm>
              <a:off x="9070848" y="0"/>
              <a:ext cx="3121152" cy="75419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192000" cy="754190"/>
            <a:chOff x="0" y="0"/>
            <a:chExt cx="12192000" cy="75419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754190"/>
            </a:xfrm>
            <a:prstGeom prst="rect">
              <a:avLst/>
            </a:prstGeom>
            <a:gradFill>
              <a:gsLst>
                <a:gs pos="75000">
                  <a:srgbClr val="751497"/>
                </a:gs>
                <a:gs pos="100000">
                  <a:srgbClr val="751497">
                    <a:alpha val="7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8332" y="66104"/>
            <a:ext cx="6032468" cy="646366"/>
            <a:chOff x="368332" y="66104"/>
            <a:chExt cx="6032468" cy="646366"/>
          </a:xfrm>
        </p:grpSpPr>
        <p:sp>
          <p:nvSpPr>
            <p:cNvPr id="6" name="Rectangle 6"/>
            <p:cNvSpPr/>
            <p:nvPr/>
          </p:nvSpPr>
          <p:spPr>
            <a:xfrm>
              <a:off x="368332" y="66104"/>
              <a:ext cx="3727323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5800" y="66104"/>
              <a:ext cx="5715000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思源黑体 CN Heavy"/>
                  <a:ea typeface="Microsoft YaHei"/>
                  <a:cs typeface="思源黑体 CN Heavy"/>
                </a:rPr>
                <a:t>科学问题与目标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1171575"/>
            <a:ext cx="10572750" cy="323850"/>
            <a:chOff x="723900" y="1171575"/>
            <a:chExt cx="10572750" cy="323850"/>
          </a:xfrm>
        </p:grpSpPr>
        <p:sp>
          <p:nvSpPr>
            <p:cNvPr id="9" name="Rectangle 9"/>
            <p:cNvSpPr/>
            <p:nvPr/>
          </p:nvSpPr>
          <p:spPr>
            <a:xfrm>
              <a:off x="723900" y="1257300"/>
              <a:ext cx="152400" cy="152400"/>
            </a:xfrm>
            <a:prstGeom prst="rect">
              <a:avLst/>
            </a:prstGeom>
            <a:solidFill>
              <a:srgbClr val="06060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700" y="1171575"/>
              <a:ext cx="102679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060607"/>
                  </a:solidFill>
                  <a:latin typeface="Arial"/>
                  <a:ea typeface="Microsoft YaHei"/>
                  <a:cs typeface="Arial"/>
                </a:rPr>
                <a:t>围绕皮层必要性、神经编码和听损补偿，形成三项递进研究内容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0" y="643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200" b="1" dirty="0">
                <a:solidFill>
                  <a:srgbClr val="751497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17" name="EasySlides Component: statement"/>
          <p:cNvGrpSpPr/>
          <p:nvPr/>
        </p:nvGrpSpPr>
        <p:grpSpPr>
          <a:xfrm>
            <a:off x="609600" y="1958472"/>
            <a:ext cx="10965069" cy="753286"/>
            <a:chOff x="609600" y="1958472"/>
            <a:chExt cx="10965069" cy="753286"/>
          </a:xfrm>
        </p:grpSpPr>
        <p:sp>
          <p:nvSpPr>
            <p:cNvPr id="13" name="Rectangle 13"/>
            <p:cNvSpPr/>
            <p:nvPr/>
          </p:nvSpPr>
          <p:spPr>
            <a:xfrm>
              <a:off x="609600" y="1958472"/>
              <a:ext cx="10965069" cy="753286"/>
            </a:xfrm>
            <a:prstGeom prst="rect">
              <a:avLst/>
            </a:prstGeom>
            <a:solidFill>
              <a:srgbClr val="FFFFFF"/>
            </a:soli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  <a:effectLst>
              <a:outerShdw blurRad="50864" dist="38100" dir="5400000" algn="ctr" rotWithShape="0">
                <a:srgbClr val="751497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1853588" y="2077794"/>
              <a:ext cx="9661559" cy="511661"/>
              <a:chOff x="1853588" y="2077794"/>
              <a:chExt cx="9661559" cy="511661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853588" y="2077794"/>
                <a:ext cx="9661560" cy="51166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853588" y="2077794"/>
                <a:ext cx="9661560" cy="511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800" dirty="0">
                    <a:solidFill>
                      <a:srgbClr val="060607"/>
                    </a:solidFill>
                    <a:latin typeface="思源黑体 CN Bold"/>
                    <a:ea typeface="Microsoft YaHei"/>
                    <a:cs typeface="思源黑体 CN Bold"/>
                  </a:rPr>
                  <a:t>总体目标：阐明社会经验促进听觉学习的神经机制与补偿边界</a:t>
                </a:r>
              </a:p>
            </p:txBody>
          </p:sp>
        </p:grpSp>
      </p:grpSp>
      <p:grpSp>
        <p:nvGrpSpPr>
          <p:cNvPr id="24" name="EasySlides Component: evidence_1"/>
          <p:cNvGrpSpPr/>
          <p:nvPr/>
        </p:nvGrpSpPr>
        <p:grpSpPr>
          <a:xfrm>
            <a:off x="606270" y="3828168"/>
            <a:ext cx="3404268" cy="2385418"/>
            <a:chOff x="606270" y="3828168"/>
            <a:chExt cx="3404268" cy="2385418"/>
          </a:xfrm>
        </p:grpSpPr>
        <p:sp>
          <p:nvSpPr>
            <p:cNvPr id="18" name="Polygon 18"/>
            <p:cNvSpPr/>
            <p:nvPr/>
          </p:nvSpPr>
          <p:spPr>
            <a:xfrm>
              <a:off x="606270" y="3828168"/>
              <a:ext cx="3404268" cy="2382807"/>
            </a:xfrm>
            <a:custGeom>
              <a:avLst/>
              <a:gdLst/>
              <a:ahLst/>
              <a:cxnLst/>
              <a:rect l="l" t="t" r="r" b="b"/>
              <a:pathLst>
                <a:path w="3404268" h="2382807">
                  <a:moveTo>
                    <a:pt x="0" y="0"/>
                  </a:moveTo>
                  <a:lnTo>
                    <a:pt x="3404268" y="0"/>
                  </a:lnTo>
                  <a:lnTo>
                    <a:pt x="3404268" y="1191359"/>
                  </a:lnTo>
                  <a:lnTo>
                    <a:pt x="3404268" y="2382807"/>
                  </a:lnTo>
                  <a:lnTo>
                    <a:pt x="0" y="2382807"/>
                  </a:lnTo>
                  <a:close/>
                </a:path>
              </a:pathLst>
            </a:cu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091" y="3999867"/>
              <a:ext cx="3102626" cy="2067127"/>
            </a:xfrm>
            <a:prstGeom prst="rect">
              <a:avLst/>
            </a:prstGeom>
          </p:spPr>
        </p:pic>
        <p:sp>
          <p:nvSpPr>
            <p:cNvPr id="20" name="Freeform 20"/>
            <p:cNvSpPr/>
            <p:nvPr/>
          </p:nvSpPr>
          <p:spPr>
            <a:xfrm>
              <a:off x="606270" y="5676444"/>
              <a:ext cx="3404268" cy="53714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348856" y="5726927"/>
              <a:ext cx="1919096" cy="436175"/>
              <a:chOff x="1348856" y="5726927"/>
              <a:chExt cx="1919096" cy="43617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348856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348856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26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内容一</a:t>
                </a:r>
              </a:p>
            </p:txBody>
          </p:sp>
        </p:grpSp>
      </p:grpSp>
      <p:grpSp>
        <p:nvGrpSpPr>
          <p:cNvPr id="31" name="EasySlides Component: evidence_2"/>
          <p:cNvGrpSpPr/>
          <p:nvPr/>
        </p:nvGrpSpPr>
        <p:grpSpPr>
          <a:xfrm>
            <a:off x="4337022" y="3828168"/>
            <a:ext cx="3404268" cy="2385418"/>
            <a:chOff x="4337022" y="3828168"/>
            <a:chExt cx="3404268" cy="2385418"/>
          </a:xfrm>
        </p:grpSpPr>
        <p:sp>
          <p:nvSpPr>
            <p:cNvPr id="25" name="Polygon 25"/>
            <p:cNvSpPr/>
            <p:nvPr/>
          </p:nvSpPr>
          <p:spPr>
            <a:xfrm>
              <a:off x="4337022" y="3828168"/>
              <a:ext cx="3404268" cy="2382807"/>
            </a:xfrm>
            <a:custGeom>
              <a:avLst/>
              <a:gdLst/>
              <a:ahLst/>
              <a:cxnLst/>
              <a:rect l="l" t="t" r="r" b="b"/>
              <a:pathLst>
                <a:path w="3404268" h="2382807">
                  <a:moveTo>
                    <a:pt x="0" y="0"/>
                  </a:moveTo>
                  <a:lnTo>
                    <a:pt x="3404268" y="0"/>
                  </a:lnTo>
                  <a:lnTo>
                    <a:pt x="3404268" y="1191359"/>
                  </a:lnTo>
                  <a:lnTo>
                    <a:pt x="3404268" y="2382807"/>
                  </a:lnTo>
                  <a:lnTo>
                    <a:pt x="0" y="2382807"/>
                  </a:lnTo>
                  <a:close/>
                </a:path>
              </a:pathLst>
            </a:cu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7843" y="3999867"/>
              <a:ext cx="3102626" cy="2067127"/>
            </a:xfrm>
            <a:prstGeom prst="rect">
              <a:avLst/>
            </a:prstGeom>
          </p:spPr>
        </p:pic>
        <p:sp>
          <p:nvSpPr>
            <p:cNvPr id="27" name="Freeform 27"/>
            <p:cNvSpPr/>
            <p:nvPr/>
          </p:nvSpPr>
          <p:spPr>
            <a:xfrm>
              <a:off x="4337022" y="5676444"/>
              <a:ext cx="3404268" cy="53714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079608" y="5726927"/>
              <a:ext cx="1919096" cy="436175"/>
              <a:chOff x="5079608" y="5726927"/>
              <a:chExt cx="1919096" cy="4361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079608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079608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26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内容二</a:t>
                </a:r>
              </a:p>
            </p:txBody>
          </p:sp>
        </p:grpSp>
      </p:grpSp>
      <p:grpSp>
        <p:nvGrpSpPr>
          <p:cNvPr id="38" name="EasySlides Component: evidence_3"/>
          <p:cNvGrpSpPr/>
          <p:nvPr/>
        </p:nvGrpSpPr>
        <p:grpSpPr>
          <a:xfrm>
            <a:off x="8067774" y="3828168"/>
            <a:ext cx="3404268" cy="2385418"/>
            <a:chOff x="8067774" y="3828168"/>
            <a:chExt cx="3404268" cy="2385418"/>
          </a:xfrm>
        </p:grpSpPr>
        <p:sp>
          <p:nvSpPr>
            <p:cNvPr id="32" name="Polygon 32"/>
            <p:cNvSpPr/>
            <p:nvPr/>
          </p:nvSpPr>
          <p:spPr>
            <a:xfrm>
              <a:off x="8067774" y="3828168"/>
              <a:ext cx="3404268" cy="2382807"/>
            </a:xfrm>
            <a:custGeom>
              <a:avLst/>
              <a:gdLst/>
              <a:ahLst/>
              <a:cxnLst/>
              <a:rect l="l" t="t" r="r" b="b"/>
              <a:pathLst>
                <a:path w="3404268" h="2382807">
                  <a:moveTo>
                    <a:pt x="0" y="0"/>
                  </a:moveTo>
                  <a:lnTo>
                    <a:pt x="3404268" y="0"/>
                  </a:lnTo>
                  <a:lnTo>
                    <a:pt x="3404268" y="1191359"/>
                  </a:lnTo>
                  <a:lnTo>
                    <a:pt x="3404268" y="2382807"/>
                  </a:lnTo>
                  <a:lnTo>
                    <a:pt x="0" y="2382807"/>
                  </a:lnTo>
                  <a:close/>
                </a:path>
              </a:pathLst>
            </a:cu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18595" y="3999867"/>
              <a:ext cx="3102626" cy="2067127"/>
            </a:xfrm>
            <a:prstGeom prst="rect">
              <a:avLst/>
            </a:prstGeom>
          </p:spPr>
        </p:pic>
        <p:sp>
          <p:nvSpPr>
            <p:cNvPr id="34" name="Freeform 34"/>
            <p:cNvSpPr/>
            <p:nvPr/>
          </p:nvSpPr>
          <p:spPr>
            <a:xfrm>
              <a:off x="8067774" y="5676444"/>
              <a:ext cx="3404268" cy="53714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810360" y="5726927"/>
              <a:ext cx="1919096" cy="436175"/>
              <a:chOff x="8810360" y="5726927"/>
              <a:chExt cx="1919096" cy="436175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810360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810360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26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内容三</a:t>
                </a:r>
              </a:p>
            </p:txBody>
          </p:sp>
        </p:grpSp>
      </p:grpSp>
      <p:grpSp>
        <p:nvGrpSpPr>
          <p:cNvPr id="55" name="EasySlides Component: relationship"/>
          <p:cNvGrpSpPr/>
          <p:nvPr/>
        </p:nvGrpSpPr>
        <p:grpSpPr>
          <a:xfrm>
            <a:off x="2409596" y="2905658"/>
            <a:ext cx="7375325" cy="520776"/>
            <a:chOff x="2409596" y="2905658"/>
            <a:chExt cx="7375325" cy="520776"/>
          </a:xfrm>
        </p:grpSpPr>
        <p:grpSp>
          <p:nvGrpSpPr>
            <p:cNvPr id="54" name="Group 54"/>
            <p:cNvGrpSpPr/>
            <p:nvPr/>
          </p:nvGrpSpPr>
          <p:grpSpPr>
            <a:xfrm>
              <a:off x="2409596" y="2905658"/>
              <a:ext cx="7375325" cy="520776"/>
              <a:chOff x="2409596" y="2905658"/>
              <a:chExt cx="7375325" cy="520776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2409596" y="2905658"/>
                <a:ext cx="2189916" cy="520776"/>
                <a:chOff x="2409596" y="2905658"/>
                <a:chExt cx="2189916" cy="520776"/>
              </a:xfrm>
            </p:grpSpPr>
            <p:sp>
              <p:nvSpPr>
                <p:cNvPr id="39" name="Polygon 39"/>
                <p:cNvSpPr/>
                <p:nvPr/>
              </p:nvSpPr>
              <p:spPr>
                <a:xfrm>
                  <a:off x="2409596" y="2905658"/>
                  <a:ext cx="2189916" cy="52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916" h="520776">
                      <a:moveTo>
                        <a:pt x="0" y="0"/>
                      </a:moveTo>
                      <a:lnTo>
                        <a:pt x="2189916" y="0"/>
                      </a:lnTo>
                      <a:lnTo>
                        <a:pt x="2189916" y="260338"/>
                      </a:lnTo>
                      <a:lnTo>
                        <a:pt x="2189916" y="520776"/>
                      </a:lnTo>
                      <a:lnTo>
                        <a:pt x="0" y="52077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8EAFC"/>
                    </a:gs>
                    <a:gs pos="100000">
                      <a:srgbClr val="F2F2F2">
                        <a:alpha val="0"/>
                      </a:srgbClr>
                    </a:gs>
                  </a:gsLst>
                  <a:lin ang="5400000" scaled="1"/>
                </a:gradFill>
                <a:ln w="3172" cap="flat">
                  <a:solidFill>
                    <a:srgbClr val="751497">
                      <a:alpha val="50000"/>
                    </a:srgbClr>
                  </a:solidFill>
                  <a:miter lim="800000"/>
                </a:ln>
              </p:spPr>
            </p:sp>
            <p:grpSp>
              <p:nvGrpSpPr>
                <p:cNvPr id="42" name="Group 42"/>
                <p:cNvGrpSpPr/>
                <p:nvPr/>
              </p:nvGrpSpPr>
              <p:grpSpPr>
                <a:xfrm>
                  <a:off x="2565939" y="3003410"/>
                  <a:ext cx="1897565" cy="325271"/>
                  <a:chOff x="2565939" y="3003410"/>
                  <a:chExt cx="1897565" cy="325271"/>
                </a:xfrm>
              </p:grpSpPr>
              <p:sp>
                <p:nvSpPr>
                  <p:cNvPr id="40" name="Rectangle 40"/>
                  <p:cNvSpPr/>
                  <p:nvPr/>
                </p:nvSpPr>
                <p:spPr>
                  <a:xfrm>
                    <a:off x="2565939" y="3003410"/>
                    <a:ext cx="1897565" cy="325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2565939" y="3003410"/>
                    <a:ext cx="1897565" cy="325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l"/>
                    <a:r>
                      <a:rPr lang="zh-CN" sz="2114" dirty="0">
                        <a:solidFill>
                          <a:srgbClr val="06060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机制问题</a:t>
                    </a:r>
                  </a:p>
                </p:txBody>
              </p:sp>
            </p:grpSp>
          </p:grpSp>
          <p:grpSp>
            <p:nvGrpSpPr>
              <p:cNvPr id="48" name="Group 48"/>
              <p:cNvGrpSpPr/>
              <p:nvPr/>
            </p:nvGrpSpPr>
            <p:grpSpPr>
              <a:xfrm>
                <a:off x="5617305" y="2905658"/>
                <a:ext cx="4167616" cy="520776"/>
                <a:chOff x="5617305" y="2905658"/>
                <a:chExt cx="4167616" cy="520776"/>
              </a:xfrm>
            </p:grpSpPr>
            <p:sp>
              <p:nvSpPr>
                <p:cNvPr id="44" name="Polygon 44"/>
                <p:cNvSpPr/>
                <p:nvPr/>
              </p:nvSpPr>
              <p:spPr>
                <a:xfrm>
                  <a:off x="5617305" y="2905658"/>
                  <a:ext cx="4167616" cy="52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616" h="520776">
                      <a:moveTo>
                        <a:pt x="0" y="0"/>
                      </a:moveTo>
                      <a:lnTo>
                        <a:pt x="4167616" y="0"/>
                      </a:lnTo>
                      <a:lnTo>
                        <a:pt x="4167616" y="260338"/>
                      </a:lnTo>
                      <a:lnTo>
                        <a:pt x="4167616" y="520776"/>
                      </a:lnTo>
                      <a:lnTo>
                        <a:pt x="0" y="52077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8EAFC"/>
                    </a:gs>
                    <a:gs pos="100000">
                      <a:srgbClr val="F2F2F2">
                        <a:alpha val="0"/>
                      </a:srgbClr>
                    </a:gs>
                  </a:gsLst>
                  <a:lin ang="5400000" scaled="1"/>
                </a:gradFill>
                <a:ln w="3172" cap="flat">
                  <a:solidFill>
                    <a:srgbClr val="751497">
                      <a:alpha val="50000"/>
                    </a:srgbClr>
                  </a:solidFill>
                  <a:miter lim="800000"/>
                </a:ln>
              </p:spPr>
            </p:sp>
            <p:grpSp>
              <p:nvGrpSpPr>
                <p:cNvPr id="47" name="Group 47"/>
                <p:cNvGrpSpPr/>
                <p:nvPr/>
              </p:nvGrpSpPr>
              <p:grpSpPr>
                <a:xfrm>
                  <a:off x="5803548" y="3003410"/>
                  <a:ext cx="3795130" cy="325271"/>
                  <a:chOff x="5803548" y="3003410"/>
                  <a:chExt cx="3795130" cy="325271"/>
                </a:xfrm>
              </p:grpSpPr>
              <p:sp>
                <p:nvSpPr>
                  <p:cNvPr id="45" name="Rectangle 45"/>
                  <p:cNvSpPr/>
                  <p:nvPr/>
                </p:nvSpPr>
                <p:spPr>
                  <a:xfrm>
                    <a:off x="5803548" y="3003410"/>
                    <a:ext cx="3795130" cy="325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5803548" y="3003410"/>
                    <a:ext cx="3795130" cy="325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l"/>
                    <a:r>
                      <a:rPr lang="zh-CN" sz="2114" dirty="0">
                        <a:solidFill>
                          <a:srgbClr val="06060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转化边界</a:t>
                    </a:r>
                  </a:p>
                </p:txBody>
              </p:sp>
            </p:grpSp>
          </p:grpSp>
          <p:grpSp>
            <p:nvGrpSpPr>
              <p:cNvPr id="53" name="Group 53"/>
              <p:cNvGrpSpPr/>
              <p:nvPr/>
            </p:nvGrpSpPr>
            <p:grpSpPr>
              <a:xfrm>
                <a:off x="4677130" y="3015592"/>
                <a:ext cx="862557" cy="300909"/>
                <a:chOff x="4677130" y="3015592"/>
                <a:chExt cx="862557" cy="300909"/>
              </a:xfrm>
            </p:grpSpPr>
            <p:sp>
              <p:nvSpPr>
                <p:cNvPr id="49" name="Line 49"/>
                <p:cNvSpPr/>
                <p:nvPr/>
              </p:nvSpPr>
              <p:spPr>
                <a:xfrm>
                  <a:off x="4677130" y="3316500"/>
                  <a:ext cx="862557" cy="1"/>
                </a:xfrm>
                <a:prstGeom prst="line">
                  <a:avLst/>
                </a:prstGeom>
                <a:noFill/>
                <a:ln w="25403">
                  <a:solidFill>
                    <a:srgbClr val="751497"/>
                  </a:solidFill>
                  <a:tailEnd type="triangle" w="lg" len="lg"/>
                </a:ln>
              </p:spPr>
            </p:sp>
            <p:grpSp>
              <p:nvGrpSpPr>
                <p:cNvPr id="52" name="Group 52"/>
                <p:cNvGrpSpPr/>
                <p:nvPr/>
              </p:nvGrpSpPr>
              <p:grpSpPr>
                <a:xfrm>
                  <a:off x="4864480" y="3015592"/>
                  <a:ext cx="487957" cy="292754"/>
                  <a:chOff x="4864480" y="3015592"/>
                  <a:chExt cx="487957" cy="292754"/>
                </a:xfrm>
              </p:grpSpPr>
              <p:sp>
                <p:nvSpPr>
                  <p:cNvPr id="50" name="Rectangle 50"/>
                  <p:cNvSpPr/>
                  <p:nvPr/>
                </p:nvSpPr>
                <p:spPr>
                  <a:xfrm>
                    <a:off x="4864480" y="3015592"/>
                    <a:ext cx="487957" cy="2927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4864480" y="3015592"/>
                    <a:ext cx="487957" cy="2927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902" dirty="0">
                        <a:solidFill>
                          <a:srgbClr val="75149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递进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143" y="161925"/>
            <a:ext cx="12185714" cy="6696075"/>
            <a:chOff x="3143" y="161925"/>
            <a:chExt cx="12185714" cy="669607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" y="161925"/>
              <a:ext cx="12185714" cy="6696075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212479" cy="6858000"/>
            <a:chOff x="0" y="0"/>
            <a:chExt cx="12212479" cy="685800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212479" cy="6858000"/>
            </a:xfrm>
            <a:prstGeom prst="rect">
              <a:avLst/>
            </a:prstGeom>
            <a:gradFill>
              <a:gsLst>
                <a:gs pos="21000">
                  <a:srgbClr val="FFFFFF"/>
                </a:gs>
                <a:gs pos="100000">
                  <a:srgbClr val="FFFFFF">
                    <a:alpha val="8500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49262" y="861060"/>
            <a:ext cx="10290715" cy="5192363"/>
            <a:chOff x="949262" y="861060"/>
            <a:chExt cx="10290715" cy="5192363"/>
          </a:xfrm>
        </p:grpSpPr>
        <p:sp>
          <p:nvSpPr>
            <p:cNvPr id="6" name="Freeform 6"/>
            <p:cNvSpPr/>
            <p:nvPr/>
          </p:nvSpPr>
          <p:spPr>
            <a:xfrm>
              <a:off x="949262" y="861060"/>
              <a:ext cx="10290715" cy="5192363"/>
            </a:xfrm>
            <a:custGeom>
              <a:avLst/>
              <a:gdLst/>
              <a:ahLst/>
              <a:cxnLst/>
              <a:rect l="l" t="t" r="r" b="b"/>
              <a:pathLst>
                <a:path w="10290715" h="5192363">
                  <a:moveTo>
                    <a:pt x="173927" y="0"/>
                  </a:moveTo>
                  <a:lnTo>
                    <a:pt x="10116788" y="0"/>
                  </a:lnTo>
                  <a:cubicBezTo>
                    <a:pt x="10212808" y="0"/>
                    <a:pt x="10290662" y="77812"/>
                    <a:pt x="10290715" y="173831"/>
                  </a:cubicBezTo>
                  <a:lnTo>
                    <a:pt x="10290715" y="5090732"/>
                  </a:lnTo>
                  <a:cubicBezTo>
                    <a:pt x="10290715" y="5146861"/>
                    <a:pt x="10245213" y="5192363"/>
                    <a:pt x="10189083" y="5192363"/>
                  </a:cubicBezTo>
                  <a:lnTo>
                    <a:pt x="101632" y="5192363"/>
                  </a:lnTo>
                  <a:cubicBezTo>
                    <a:pt x="45502" y="5192363"/>
                    <a:pt x="0" y="5146861"/>
                    <a:pt x="0" y="5090732"/>
                  </a:cubicBezTo>
                  <a:lnTo>
                    <a:pt x="0" y="173831"/>
                  </a:lnTo>
                  <a:cubicBezTo>
                    <a:pt x="53" y="77812"/>
                    <a:pt x="77907" y="0"/>
                    <a:pt x="173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0864" dist="38100" dir="5400000" algn="ctr" rotWithShape="0">
                <a:srgbClr val="000000">
                  <a:alpha val="15000"/>
                </a:srgbClr>
              </a:outerShdw>
            </a:effectLst>
          </p:spPr>
        </p:sp>
      </p:grpSp>
      <p:grpSp>
        <p:nvGrpSpPr>
          <p:cNvPr id="14" name="Group 14"/>
          <p:cNvGrpSpPr/>
          <p:nvPr/>
        </p:nvGrpSpPr>
        <p:grpSpPr>
          <a:xfrm>
            <a:off x="0" y="-10573"/>
            <a:ext cx="2357533" cy="1774031"/>
            <a:chOff x="0" y="-10573"/>
            <a:chExt cx="2357533" cy="177403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-10573"/>
              <a:ext cx="2357533" cy="1774031"/>
              <a:chOff x="0" y="-10573"/>
              <a:chExt cx="2357533" cy="17740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-10573"/>
                <a:ext cx="2357533" cy="1774031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774031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391668"/>
                      <a:pt x="0" y="1355217"/>
                    </a:cubicBezTo>
                    <a:cubicBezTo>
                      <a:pt x="0" y="177403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-10573"/>
                <a:ext cx="2357533" cy="1585532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585532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203168"/>
                      <a:pt x="0" y="1166812"/>
                    </a:cubicBezTo>
                    <a:cubicBezTo>
                      <a:pt x="0" y="158553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 rot="10800000">
              <a:off x="9834467" y="5094542"/>
              <a:ext cx="2357533" cy="1774031"/>
              <a:chOff x="0" y="-10573"/>
              <a:chExt cx="2357533" cy="177403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-10573"/>
                <a:ext cx="2357533" cy="1774031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774031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391668"/>
                      <a:pt x="0" y="1355217"/>
                    </a:cubicBezTo>
                    <a:cubicBezTo>
                      <a:pt x="0" y="177403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0" y="-10573"/>
                <a:ext cx="2357533" cy="1585532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585532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203168"/>
                      <a:pt x="0" y="1166812"/>
                    </a:cubicBezTo>
                    <a:cubicBezTo>
                      <a:pt x="0" y="158553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/>
              </a:solidFill>
              <a:ln>
                <a:noFill/>
              </a:ln>
            </p:spPr>
          </p:sp>
        </p:grpSp>
      </p:grpSp>
      <p:grpSp>
        <p:nvGrpSpPr>
          <p:cNvPr id="18" name="Group 18"/>
          <p:cNvGrpSpPr/>
          <p:nvPr/>
        </p:nvGrpSpPr>
        <p:grpSpPr>
          <a:xfrm>
            <a:off x="3048000" y="2457450"/>
            <a:ext cx="6096000" cy="1981200"/>
            <a:chOff x="3048000" y="2457450"/>
            <a:chExt cx="6096000" cy="1981200"/>
          </a:xfrm>
        </p:grpSpPr>
        <p:sp>
          <p:nvSpPr>
            <p:cNvPr id="15" name="Line 15"/>
            <p:cNvSpPr/>
            <p:nvPr/>
          </p:nvSpPr>
          <p:spPr>
            <a:xfrm>
              <a:off x="5619750" y="24574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 cap="rnd">
              <a:solidFill>
                <a:srgbClr val="75149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48000" y="2714625"/>
              <a:ext cx="6096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4800" dirty="0">
                  <a:solidFill>
                    <a:srgbClr val="751497"/>
                  </a:solidFill>
                  <a:latin typeface="Arial"/>
                  <a:ea typeface="Microsoft YaHei"/>
                  <a:cs typeface="Arial"/>
                </a:rPr>
                <a:t>02 研究内容与路线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9500" y="3905250"/>
              <a:ext cx="4953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100" dirty="0">
                  <a:solidFill>
                    <a:srgbClr val="9A9A9A"/>
                  </a:solidFill>
                  <a:latin typeface="Arial"/>
                  <a:ea typeface="Microsoft YaHei"/>
                  <a:cs typeface="Arial"/>
                </a:rPr>
                <a:t>以三项研究内容逐步检验核心科学假说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70848" y="0"/>
            <a:ext cx="3121152" cy="754190"/>
            <a:chOff x="9070848" y="0"/>
            <a:chExt cx="3121152" cy="7541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31890" r="0" b="31890"/>
            <a:stretch>
              <a:fillRect/>
            </a:stretch>
          </p:blipFill>
          <p:spPr>
            <a:xfrm>
              <a:off x="9070848" y="0"/>
              <a:ext cx="3121152" cy="75419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192000" cy="754190"/>
            <a:chOff x="0" y="0"/>
            <a:chExt cx="12192000" cy="75419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754190"/>
            </a:xfrm>
            <a:prstGeom prst="rect">
              <a:avLst/>
            </a:prstGeom>
            <a:gradFill>
              <a:gsLst>
                <a:gs pos="75000">
                  <a:srgbClr val="751497"/>
                </a:gs>
                <a:gs pos="100000">
                  <a:srgbClr val="751497">
                    <a:alpha val="7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8332" y="66104"/>
            <a:ext cx="6032468" cy="646366"/>
            <a:chOff x="368332" y="66104"/>
            <a:chExt cx="6032468" cy="646366"/>
          </a:xfrm>
        </p:grpSpPr>
        <p:sp>
          <p:nvSpPr>
            <p:cNvPr id="6" name="Rectangle 6"/>
            <p:cNvSpPr/>
            <p:nvPr/>
          </p:nvSpPr>
          <p:spPr>
            <a:xfrm>
              <a:off x="368332" y="66104"/>
              <a:ext cx="3727323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5800" y="66104"/>
              <a:ext cx="5715000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思源黑体 CN Heavy"/>
                  <a:ea typeface="Microsoft YaHei"/>
                  <a:cs typeface="思源黑体 CN Heavy"/>
                </a:rPr>
                <a:t>研究内容一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1171575"/>
            <a:ext cx="10572750" cy="323850"/>
            <a:chOff x="723900" y="1171575"/>
            <a:chExt cx="10572750" cy="323850"/>
          </a:xfrm>
        </p:grpSpPr>
        <p:sp>
          <p:nvSpPr>
            <p:cNvPr id="9" name="Rectangle 9"/>
            <p:cNvSpPr/>
            <p:nvPr/>
          </p:nvSpPr>
          <p:spPr>
            <a:xfrm>
              <a:off x="723900" y="1257300"/>
              <a:ext cx="152400" cy="152400"/>
            </a:xfrm>
            <a:prstGeom prst="rect">
              <a:avLst/>
            </a:prstGeom>
            <a:solidFill>
              <a:srgbClr val="06060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700" y="1171575"/>
              <a:ext cx="102679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060607"/>
                  </a:solidFill>
                  <a:latin typeface="Arial"/>
                  <a:ea typeface="Microsoft YaHei"/>
                  <a:cs typeface="Arial"/>
                </a:rPr>
                <a:t>在社会暴露期抑制听觉皮层，检验学习加速是否依赖皮层活动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0" y="643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200" b="1" dirty="0">
                <a:solidFill>
                  <a:srgbClr val="751497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17" name="EasySlides Component: statement"/>
          <p:cNvGrpSpPr/>
          <p:nvPr/>
        </p:nvGrpSpPr>
        <p:grpSpPr>
          <a:xfrm>
            <a:off x="609600" y="1958472"/>
            <a:ext cx="10965069" cy="753286"/>
            <a:chOff x="609600" y="1958472"/>
            <a:chExt cx="10965069" cy="753286"/>
          </a:xfrm>
        </p:grpSpPr>
        <p:sp>
          <p:nvSpPr>
            <p:cNvPr id="13" name="Rectangle 13"/>
            <p:cNvSpPr/>
            <p:nvPr/>
          </p:nvSpPr>
          <p:spPr>
            <a:xfrm>
              <a:off x="609600" y="1958472"/>
              <a:ext cx="10965069" cy="753286"/>
            </a:xfrm>
            <a:prstGeom prst="rect">
              <a:avLst/>
            </a:prstGeom>
            <a:solidFill>
              <a:srgbClr val="FFFFFF"/>
            </a:soli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  <a:effectLst>
              <a:outerShdw blurRad="50864" dist="38100" dir="5400000" algn="ctr" rotWithShape="0">
                <a:srgbClr val="751497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1853588" y="2077794"/>
              <a:ext cx="9661559" cy="511661"/>
              <a:chOff x="1853588" y="2077794"/>
              <a:chExt cx="9661559" cy="511661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853588" y="2077794"/>
                <a:ext cx="9661560" cy="51166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853588" y="2077794"/>
                <a:ext cx="9661560" cy="511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800" dirty="0">
                    <a:solidFill>
                      <a:srgbClr val="060607"/>
                    </a:solidFill>
                    <a:latin typeface="思源黑体 CN Bold"/>
                    <a:ea typeface="Microsoft YaHei"/>
                    <a:cs typeface="思源黑体 CN Bold"/>
                  </a:rPr>
                  <a:t>问题一：听觉皮层活动是否是社会学习加速的必要条件</a:t>
                </a:r>
              </a:p>
            </p:txBody>
          </p:sp>
        </p:grpSp>
      </p:grpSp>
      <p:grpSp>
        <p:nvGrpSpPr>
          <p:cNvPr id="27" name="EasySlides Component: callout"/>
          <p:cNvGrpSpPr/>
          <p:nvPr/>
        </p:nvGrpSpPr>
        <p:grpSpPr>
          <a:xfrm>
            <a:off x="8332226" y="2817305"/>
            <a:ext cx="2772057" cy="3487499"/>
            <a:chOff x="8332226" y="2817305"/>
            <a:chExt cx="2772057" cy="3487499"/>
          </a:xfrm>
        </p:grpSpPr>
        <p:sp>
          <p:nvSpPr>
            <p:cNvPr id="18" name="Polygon 18"/>
            <p:cNvSpPr/>
            <p:nvPr/>
          </p:nvSpPr>
          <p:spPr>
            <a:xfrm>
              <a:off x="8332226" y="2817305"/>
              <a:ext cx="2772057" cy="3487499"/>
            </a:xfrm>
            <a:custGeom>
              <a:avLst/>
              <a:gdLst/>
              <a:ahLst/>
              <a:cxnLst/>
              <a:rect l="l" t="t" r="r" b="b"/>
              <a:pathLst>
                <a:path w="2772057" h="3487499">
                  <a:moveTo>
                    <a:pt x="0" y="0"/>
                  </a:moveTo>
                  <a:lnTo>
                    <a:pt x="2772057" y="0"/>
                  </a:lnTo>
                  <a:lnTo>
                    <a:pt x="2772057" y="1743712"/>
                  </a:lnTo>
                  <a:lnTo>
                    <a:pt x="2772057" y="3487499"/>
                  </a:lnTo>
                  <a:lnTo>
                    <a:pt x="0" y="3487499"/>
                  </a:lnTo>
                  <a:close/>
                </a:path>
              </a:pathLst>
            </a:custGeom>
            <a:solidFill>
              <a:srgbClr val="FFFFFF"/>
            </a:soli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sp>
          <p:nvSpPr>
            <p:cNvPr id="19" name="Freeform 19"/>
            <p:cNvSpPr/>
            <p:nvPr/>
          </p:nvSpPr>
          <p:spPr>
            <a:xfrm>
              <a:off x="8730588" y="2944152"/>
              <a:ext cx="1975258" cy="45250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>
              <a:noFill/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l="19" t="0" r="19" b="0"/>
            <a:stretch>
              <a:fillRect/>
            </a:stretch>
          </p:blipFill>
          <p:spPr>
            <a:xfrm>
              <a:off x="8432749" y="4451024"/>
              <a:ext cx="2571086" cy="1776151"/>
            </a:xfrm>
            <a:prstGeom prst="rect">
              <a:avLst/>
            </a:prstGeom>
          </p:spPr>
        </p:pic>
        <p:grpSp>
          <p:nvGrpSpPr>
            <p:cNvPr id="23" name="Group 23"/>
            <p:cNvGrpSpPr/>
            <p:nvPr/>
          </p:nvGrpSpPr>
          <p:grpSpPr>
            <a:xfrm>
              <a:off x="8995393" y="3025808"/>
              <a:ext cx="1445723" cy="289189"/>
              <a:chOff x="8995393" y="3025808"/>
              <a:chExt cx="1445723" cy="289189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995393" y="3025808"/>
                <a:ext cx="1445723" cy="289189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995393" y="3025808"/>
                <a:ext cx="1445723" cy="2891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1879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成功判据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417536" y="3507094"/>
              <a:ext cx="2601437" cy="847732"/>
              <a:chOff x="8417536" y="3507094"/>
              <a:chExt cx="2601437" cy="847732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417536" y="3507094"/>
                <a:ext cx="2601437" cy="847732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417536" y="3507094"/>
                <a:ext cx="2601437" cy="847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66" dirty="0">
                    <a:solidFill>
                      <a:srgbClr val="000000"/>
                    </a:solidFill>
                    <a:latin typeface="思源黑体 CN Medium"/>
                    <a:ea typeface="Microsoft YaHei"/>
                    <a:cs typeface="思源黑体 CN Medium"/>
                  </a:rPr>
                  <a:t>仅在社会暴露期失活皮层，即降低后续独立训练的达标速度。</a:t>
                </a:r>
              </a:p>
            </p:txBody>
          </p:sp>
        </p:grpSp>
      </p:grpSp>
      <p:grpSp>
        <p:nvGrpSpPr>
          <p:cNvPr id="44" name="EasySlides Component: relationship"/>
          <p:cNvGrpSpPr/>
          <p:nvPr/>
        </p:nvGrpSpPr>
        <p:grpSpPr>
          <a:xfrm>
            <a:off x="722394" y="2874548"/>
            <a:ext cx="7018856" cy="495605"/>
            <a:chOff x="722394" y="2874548"/>
            <a:chExt cx="7018856" cy="495605"/>
          </a:xfrm>
        </p:grpSpPr>
        <p:grpSp>
          <p:nvGrpSpPr>
            <p:cNvPr id="43" name="Group 43"/>
            <p:cNvGrpSpPr/>
            <p:nvPr/>
          </p:nvGrpSpPr>
          <p:grpSpPr>
            <a:xfrm>
              <a:off x="722394" y="2874548"/>
              <a:ext cx="7018856" cy="495605"/>
              <a:chOff x="722394" y="2874548"/>
              <a:chExt cx="7018856" cy="495605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722394" y="2874548"/>
                <a:ext cx="2084072" cy="495605"/>
                <a:chOff x="722394" y="2874548"/>
                <a:chExt cx="2084072" cy="495605"/>
              </a:xfrm>
            </p:grpSpPr>
            <p:sp>
              <p:nvSpPr>
                <p:cNvPr id="28" name="Polygon 28"/>
                <p:cNvSpPr/>
                <p:nvPr/>
              </p:nvSpPr>
              <p:spPr>
                <a:xfrm>
                  <a:off x="722394" y="2874548"/>
                  <a:ext cx="2084072" cy="495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072" h="495605">
                      <a:moveTo>
                        <a:pt x="0" y="0"/>
                      </a:moveTo>
                      <a:lnTo>
                        <a:pt x="2084072" y="0"/>
                      </a:lnTo>
                      <a:lnTo>
                        <a:pt x="2084072" y="247755"/>
                      </a:lnTo>
                      <a:lnTo>
                        <a:pt x="2084072" y="495605"/>
                      </a:lnTo>
                      <a:lnTo>
                        <a:pt x="0" y="49560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8EAFC"/>
                    </a:gs>
                    <a:gs pos="100000">
                      <a:srgbClr val="F2F2F2">
                        <a:alpha val="0"/>
                      </a:srgbClr>
                    </a:gs>
                  </a:gsLst>
                  <a:lin ang="5400000" scaled="1"/>
                </a:gradFill>
                <a:ln w="3172" cap="flat">
                  <a:solidFill>
                    <a:srgbClr val="751497">
                      <a:alpha val="50000"/>
                    </a:srgbClr>
                  </a:solidFill>
                  <a:miter lim="800000"/>
                </a:ln>
              </p:spPr>
            </p:sp>
            <p:grpSp>
              <p:nvGrpSpPr>
                <p:cNvPr id="31" name="Group 31"/>
                <p:cNvGrpSpPr/>
                <p:nvPr/>
              </p:nvGrpSpPr>
              <p:grpSpPr>
                <a:xfrm>
                  <a:off x="871181" y="2967576"/>
                  <a:ext cx="1805850" cy="309550"/>
                  <a:chOff x="871181" y="2967576"/>
                  <a:chExt cx="1805850" cy="309550"/>
                </a:xfrm>
              </p:grpSpPr>
              <p:sp>
                <p:nvSpPr>
                  <p:cNvPr id="29" name="Rectangle 29"/>
                  <p:cNvSpPr/>
                  <p:nvPr/>
                </p:nvSpPr>
                <p:spPr>
                  <a:xfrm>
                    <a:off x="871181" y="2967576"/>
                    <a:ext cx="1805850" cy="309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30" name="TextBox 30"/>
                  <p:cNvSpPr txBox="1"/>
                  <p:nvPr/>
                </p:nvSpPr>
                <p:spPr>
                  <a:xfrm>
                    <a:off x="871181" y="2967576"/>
                    <a:ext cx="1805850" cy="309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l"/>
                    <a:r>
                      <a:rPr lang="zh-CN" sz="2012" dirty="0">
                        <a:solidFill>
                          <a:srgbClr val="06060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社会暴露</a:t>
                    </a:r>
                  </a:p>
                </p:txBody>
              </p:sp>
            </p:grpSp>
          </p:grpSp>
          <p:grpSp>
            <p:nvGrpSpPr>
              <p:cNvPr id="37" name="Group 37"/>
              <p:cNvGrpSpPr/>
              <p:nvPr/>
            </p:nvGrpSpPr>
            <p:grpSpPr>
              <a:xfrm>
                <a:off x="3775066" y="2874548"/>
                <a:ext cx="3966184" cy="495605"/>
                <a:chOff x="3775066" y="2874548"/>
                <a:chExt cx="3966184" cy="495605"/>
              </a:xfrm>
            </p:grpSpPr>
            <p:sp>
              <p:nvSpPr>
                <p:cNvPr id="33" name="Polygon 33"/>
                <p:cNvSpPr/>
                <p:nvPr/>
              </p:nvSpPr>
              <p:spPr>
                <a:xfrm>
                  <a:off x="3775066" y="2874548"/>
                  <a:ext cx="3966184" cy="495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184" h="495605">
                      <a:moveTo>
                        <a:pt x="0" y="0"/>
                      </a:moveTo>
                      <a:lnTo>
                        <a:pt x="3966184" y="0"/>
                      </a:lnTo>
                      <a:lnTo>
                        <a:pt x="3966184" y="247755"/>
                      </a:lnTo>
                      <a:lnTo>
                        <a:pt x="3966184" y="495605"/>
                      </a:lnTo>
                      <a:lnTo>
                        <a:pt x="0" y="49560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8EAFC"/>
                    </a:gs>
                    <a:gs pos="100000">
                      <a:srgbClr val="F2F2F2">
                        <a:alpha val="0"/>
                      </a:srgbClr>
                    </a:gs>
                  </a:gsLst>
                  <a:lin ang="5400000" scaled="1"/>
                </a:gradFill>
                <a:ln w="3172" cap="flat">
                  <a:solidFill>
                    <a:srgbClr val="751497">
                      <a:alpha val="50000"/>
                    </a:srgbClr>
                  </a:solidFill>
                  <a:miter lim="800000"/>
                </a:ln>
              </p:spPr>
            </p:sp>
            <p:grpSp>
              <p:nvGrpSpPr>
                <p:cNvPr id="36" name="Group 36"/>
                <p:cNvGrpSpPr/>
                <p:nvPr/>
              </p:nvGrpSpPr>
              <p:grpSpPr>
                <a:xfrm>
                  <a:off x="3952307" y="2967576"/>
                  <a:ext cx="3611701" cy="309550"/>
                  <a:chOff x="3952307" y="2967576"/>
                  <a:chExt cx="3611701" cy="309550"/>
                </a:xfrm>
              </p:grpSpPr>
              <p:sp>
                <p:nvSpPr>
                  <p:cNvPr id="34" name="Rectangle 34"/>
                  <p:cNvSpPr/>
                  <p:nvPr/>
                </p:nvSpPr>
                <p:spPr>
                  <a:xfrm>
                    <a:off x="3952307" y="2967576"/>
                    <a:ext cx="3611701" cy="309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35" name="TextBox 35"/>
                  <p:cNvSpPr txBox="1"/>
                  <p:nvPr/>
                </p:nvSpPr>
                <p:spPr>
                  <a:xfrm>
                    <a:off x="3952307" y="2967576"/>
                    <a:ext cx="3611701" cy="309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l"/>
                    <a:r>
                      <a:rPr lang="zh-CN" sz="2012" dirty="0">
                        <a:solidFill>
                          <a:srgbClr val="06060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独立训练</a:t>
                    </a:r>
                  </a:p>
                </p:txBody>
              </p:sp>
            </p:grpSp>
          </p:grpSp>
          <p:grpSp>
            <p:nvGrpSpPr>
              <p:cNvPr id="42" name="Group 42"/>
              <p:cNvGrpSpPr/>
              <p:nvPr/>
            </p:nvGrpSpPr>
            <p:grpSpPr>
              <a:xfrm>
                <a:off x="2880332" y="2979168"/>
                <a:ext cx="820867" cy="286366"/>
                <a:chOff x="2880332" y="2979168"/>
                <a:chExt cx="820867" cy="286366"/>
              </a:xfrm>
            </p:grpSpPr>
            <p:sp>
              <p:nvSpPr>
                <p:cNvPr id="38" name="Line 38"/>
                <p:cNvSpPr/>
                <p:nvPr/>
              </p:nvSpPr>
              <p:spPr>
                <a:xfrm>
                  <a:off x="2880332" y="3265533"/>
                  <a:ext cx="820867" cy="1"/>
                </a:xfrm>
                <a:prstGeom prst="line">
                  <a:avLst/>
                </a:prstGeom>
                <a:noFill/>
                <a:ln w="25403">
                  <a:solidFill>
                    <a:srgbClr val="751497"/>
                  </a:solidFill>
                  <a:tailEnd type="triangle" w="lg" len="lg"/>
                </a:ln>
              </p:spPr>
            </p:sp>
            <p:grpSp>
              <p:nvGrpSpPr>
                <p:cNvPr id="41" name="Group 41"/>
                <p:cNvGrpSpPr/>
                <p:nvPr/>
              </p:nvGrpSpPr>
              <p:grpSpPr>
                <a:xfrm>
                  <a:off x="3058627" y="2979168"/>
                  <a:ext cx="464372" cy="278604"/>
                  <a:chOff x="3058627" y="2979168"/>
                  <a:chExt cx="464372" cy="278604"/>
                </a:xfrm>
              </p:grpSpPr>
              <p:sp>
                <p:nvSpPr>
                  <p:cNvPr id="39" name="Rectangle 39"/>
                  <p:cNvSpPr/>
                  <p:nvPr/>
                </p:nvSpPr>
                <p:spPr>
                  <a:xfrm>
                    <a:off x="3058627" y="2979168"/>
                    <a:ext cx="464372" cy="2786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40" name="TextBox 40"/>
                  <p:cNvSpPr txBox="1"/>
                  <p:nvPr/>
                </p:nvSpPr>
                <p:spPr>
                  <a:xfrm>
                    <a:off x="3058627" y="2979168"/>
                    <a:ext cx="464372" cy="2786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811" dirty="0">
                        <a:solidFill>
                          <a:srgbClr val="75149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检验</a:t>
                    </a:r>
                  </a:p>
                </p:txBody>
              </p:sp>
            </p:grpSp>
          </p:grpSp>
        </p:grpSp>
      </p:grpSp>
      <p:grpSp>
        <p:nvGrpSpPr>
          <p:cNvPr id="51" name="EasySlides Component: track_one"/>
          <p:cNvGrpSpPr/>
          <p:nvPr/>
        </p:nvGrpSpPr>
        <p:grpSpPr>
          <a:xfrm>
            <a:off x="606270" y="3762732"/>
            <a:ext cx="3404268" cy="2385417"/>
            <a:chOff x="606270" y="3762732"/>
            <a:chExt cx="3404268" cy="2385417"/>
          </a:xfrm>
        </p:grpSpPr>
        <p:sp>
          <p:nvSpPr>
            <p:cNvPr id="45" name="Polygon 45"/>
            <p:cNvSpPr/>
            <p:nvPr/>
          </p:nvSpPr>
          <p:spPr>
            <a:xfrm>
              <a:off x="606270" y="3762732"/>
              <a:ext cx="3404268" cy="2382807"/>
            </a:xfrm>
            <a:custGeom>
              <a:avLst/>
              <a:gdLst/>
              <a:ahLst/>
              <a:cxnLst/>
              <a:rect l="l" t="t" r="r" b="b"/>
              <a:pathLst>
                <a:path w="3404268" h="2382807">
                  <a:moveTo>
                    <a:pt x="0" y="0"/>
                  </a:moveTo>
                  <a:lnTo>
                    <a:pt x="3404268" y="0"/>
                  </a:lnTo>
                  <a:lnTo>
                    <a:pt x="3404268" y="1191359"/>
                  </a:lnTo>
                  <a:lnTo>
                    <a:pt x="3404268" y="2382807"/>
                  </a:lnTo>
                  <a:lnTo>
                    <a:pt x="0" y="2382807"/>
                  </a:lnTo>
                  <a:close/>
                </a:path>
              </a:pathLst>
            </a:cu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91" y="3934430"/>
              <a:ext cx="3102626" cy="2067127"/>
            </a:xfrm>
            <a:prstGeom prst="rect">
              <a:avLst/>
            </a:prstGeom>
          </p:spPr>
        </p:pic>
        <p:sp>
          <p:nvSpPr>
            <p:cNvPr id="47" name="Freeform 47"/>
            <p:cNvSpPr/>
            <p:nvPr/>
          </p:nvSpPr>
          <p:spPr>
            <a:xfrm>
              <a:off x="606270" y="5611007"/>
              <a:ext cx="3404268" cy="53714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348856" y="5661491"/>
              <a:ext cx="1919096" cy="436175"/>
              <a:chOff x="1348856" y="5661491"/>
              <a:chExt cx="1919096" cy="436175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1348856" y="5661491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348856" y="5661491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26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皮层失活</a:t>
                </a:r>
              </a:p>
            </p:txBody>
          </p:sp>
        </p:grpSp>
      </p:grpSp>
      <p:grpSp>
        <p:nvGrpSpPr>
          <p:cNvPr id="59" name="EasySlides Component: track_two"/>
          <p:cNvGrpSpPr/>
          <p:nvPr/>
        </p:nvGrpSpPr>
        <p:grpSpPr>
          <a:xfrm>
            <a:off x="4120356" y="3762732"/>
            <a:ext cx="3404268" cy="2385417"/>
            <a:chOff x="4120356" y="3762732"/>
            <a:chExt cx="3404268" cy="2385417"/>
          </a:xfrm>
        </p:grpSpPr>
        <p:grpSp>
          <p:nvGrpSpPr>
            <p:cNvPr id="58" name="Group 58"/>
            <p:cNvGrpSpPr/>
            <p:nvPr/>
          </p:nvGrpSpPr>
          <p:grpSpPr>
            <a:xfrm>
              <a:off x="4120356" y="3762732"/>
              <a:ext cx="3404268" cy="2385417"/>
              <a:chOff x="4120356" y="3762732"/>
              <a:chExt cx="3404268" cy="2385417"/>
            </a:xfrm>
          </p:grpSpPr>
          <p:sp>
            <p:nvSpPr>
              <p:cNvPr id="52" name="Polygon 52"/>
              <p:cNvSpPr/>
              <p:nvPr/>
            </p:nvSpPr>
            <p:spPr>
              <a:xfrm>
                <a:off x="4120356" y="3762732"/>
                <a:ext cx="3404268" cy="2382807"/>
              </a:xfrm>
              <a:custGeom>
                <a:avLst/>
                <a:gdLst/>
                <a:ahLst/>
                <a:cxnLst/>
                <a:rect l="l" t="t" r="r" b="b"/>
                <a:pathLst>
                  <a:path w="3404268" h="2382807">
                    <a:moveTo>
                      <a:pt x="0" y="0"/>
                    </a:moveTo>
                    <a:lnTo>
                      <a:pt x="3404268" y="0"/>
                    </a:lnTo>
                    <a:lnTo>
                      <a:pt x="3404268" y="1191359"/>
                    </a:lnTo>
                    <a:lnTo>
                      <a:pt x="3404268" y="2382807"/>
                    </a:lnTo>
                    <a:lnTo>
                      <a:pt x="0" y="2382807"/>
                    </a:lnTo>
                    <a:close/>
                  </a:path>
                </a:pathLst>
              </a:custGeom>
              <a:gradFill>
                <a:gsLst>
                  <a:gs pos="0">
                    <a:srgbClr val="F8EAFC"/>
                  </a:gs>
                  <a:gs pos="100000">
                    <a:srgbClr val="F2F2F2">
                      <a:alpha val="0"/>
                    </a:srgbClr>
                  </a:gs>
                </a:gsLst>
                <a:lin ang="5400000" scaled="1"/>
              </a:gradFill>
              <a:ln w="3172" cap="flat">
                <a:solidFill>
                  <a:srgbClr val="751497">
                    <a:alpha val="50000"/>
                  </a:srgbClr>
                </a:solidFill>
                <a:miter lim="800000"/>
              </a:ln>
            </p:spPr>
          </p:sp>
          <p:pic>
            <p:nvPicPr>
              <p:cNvPr id="53" name="Image 53"/>
              <p:cNvPicPr>
                <a:picLocks noChangeAspect="1"/>
              </p:cNvPicPr>
              <p:nvPr/>
            </p:nvPicPr>
            <p:blipFill>
              <a:blip r:embed="rId5"/>
              <a:srcRect l="3219" t="0" r="3219" b="0"/>
              <a:stretch>
                <a:fillRect/>
              </a:stretch>
            </p:blipFill>
            <p:spPr>
              <a:xfrm>
                <a:off x="4271177" y="3907613"/>
                <a:ext cx="3102626" cy="2067127"/>
              </a:xfrm>
              <a:prstGeom prst="rect">
                <a:avLst/>
              </a:prstGeom>
            </p:spPr>
          </p:pic>
          <p:sp>
            <p:nvSpPr>
              <p:cNvPr id="54" name="Freeform 54"/>
              <p:cNvSpPr/>
              <p:nvPr/>
            </p:nvSpPr>
            <p:spPr>
              <a:xfrm>
                <a:off x="4120356" y="5611007"/>
                <a:ext cx="3404268" cy="53714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51497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5008273" y="5661491"/>
                <a:ext cx="1628343" cy="436175"/>
                <a:chOff x="5008273" y="5661491"/>
                <a:chExt cx="1628343" cy="436175"/>
              </a:xfrm>
            </p:grpSpPr>
            <p:sp>
              <p:nvSpPr>
                <p:cNvPr id="55" name="Rectangle 55"/>
                <p:cNvSpPr/>
                <p:nvPr/>
              </p:nvSpPr>
              <p:spPr>
                <a:xfrm>
                  <a:off x="5008273" y="5661491"/>
                  <a:ext cx="1628343" cy="436175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5008273" y="5661491"/>
                  <a:ext cx="1628343" cy="436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normAutofit/>
                </a:bodyPr>
                <a:lstStyle/>
                <a:p>
                  <a:pPr algn="ctr"/>
                  <a:r>
                    <a:rPr lang="zh-CN" sz="2267" dirty="0">
                      <a:solidFill>
                        <a:srgbClr val="FFFFFF"/>
                      </a:solidFill>
                      <a:latin typeface="思源黑体 CN Bold"/>
                      <a:ea typeface="Microsoft YaHei"/>
                      <a:cs typeface="思源黑体 CN Bold"/>
                    </a:rPr>
                    <a:t>达标速度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70848" y="0"/>
            <a:ext cx="3121152" cy="754190"/>
            <a:chOff x="9070848" y="0"/>
            <a:chExt cx="3121152" cy="7541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31890" r="0" b="31890"/>
            <a:stretch>
              <a:fillRect/>
            </a:stretch>
          </p:blipFill>
          <p:spPr>
            <a:xfrm>
              <a:off x="9070848" y="0"/>
              <a:ext cx="3121152" cy="75419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192000" cy="754190"/>
            <a:chOff x="0" y="0"/>
            <a:chExt cx="12192000" cy="75419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754190"/>
            </a:xfrm>
            <a:prstGeom prst="rect">
              <a:avLst/>
            </a:prstGeom>
            <a:gradFill>
              <a:gsLst>
                <a:gs pos="75000">
                  <a:srgbClr val="751497"/>
                </a:gs>
                <a:gs pos="100000">
                  <a:srgbClr val="751497">
                    <a:alpha val="7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8332" y="66104"/>
            <a:ext cx="6032468" cy="646366"/>
            <a:chOff x="368332" y="66104"/>
            <a:chExt cx="6032468" cy="646366"/>
          </a:xfrm>
        </p:grpSpPr>
        <p:sp>
          <p:nvSpPr>
            <p:cNvPr id="6" name="Rectangle 6"/>
            <p:cNvSpPr/>
            <p:nvPr/>
          </p:nvSpPr>
          <p:spPr>
            <a:xfrm>
              <a:off x="368332" y="66104"/>
              <a:ext cx="3727323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5800" y="66104"/>
              <a:ext cx="5715000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思源黑体 CN Heavy"/>
                  <a:ea typeface="Microsoft YaHei"/>
                  <a:cs typeface="思源黑体 CN Heavy"/>
                </a:rPr>
                <a:t>研究内容二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1171575"/>
            <a:ext cx="10572750" cy="323850"/>
            <a:chOff x="723900" y="1171575"/>
            <a:chExt cx="10572750" cy="323850"/>
          </a:xfrm>
        </p:grpSpPr>
        <p:sp>
          <p:nvSpPr>
            <p:cNvPr id="9" name="Rectangle 9"/>
            <p:cNvSpPr/>
            <p:nvPr/>
          </p:nvSpPr>
          <p:spPr>
            <a:xfrm>
              <a:off x="723900" y="1257300"/>
              <a:ext cx="152400" cy="152400"/>
            </a:xfrm>
            <a:prstGeom prst="rect">
              <a:avLst/>
            </a:prstGeom>
            <a:solidFill>
              <a:srgbClr val="06060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700" y="1171575"/>
              <a:ext cx="102679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060607"/>
                  </a:solidFill>
                  <a:latin typeface="Arial"/>
                  <a:ea typeface="Microsoft YaHei"/>
                  <a:cs typeface="Arial"/>
                </a:rPr>
                <a:t>以神经表征和多巴胺信号解释社会经验为何能够加速任务习得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0" y="643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200" b="1" dirty="0">
                <a:solidFill>
                  <a:srgbClr val="751497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17" name="EasySlides Component: metric_header"/>
          <p:cNvGrpSpPr/>
          <p:nvPr/>
        </p:nvGrpSpPr>
        <p:grpSpPr>
          <a:xfrm>
            <a:off x="677527" y="2030349"/>
            <a:ext cx="3928052" cy="559840"/>
            <a:chOff x="677527" y="2030349"/>
            <a:chExt cx="3928052" cy="559840"/>
          </a:xfrm>
        </p:grpSpPr>
        <p:sp>
          <p:nvSpPr>
            <p:cNvPr id="13" name="Rectangle 13"/>
            <p:cNvSpPr/>
            <p:nvPr/>
          </p:nvSpPr>
          <p:spPr>
            <a:xfrm>
              <a:off x="677527" y="2030349"/>
              <a:ext cx="3928052" cy="559840"/>
            </a:xfrm>
            <a:prstGeom prst="rect">
              <a:avLst/>
            </a:prstGeom>
            <a:solidFill>
              <a:srgbClr val="75149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483024" y="2079688"/>
              <a:ext cx="2321216" cy="458138"/>
              <a:chOff x="1483024" y="2079688"/>
              <a:chExt cx="2321216" cy="458138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483024" y="2079688"/>
                <a:ext cx="2321216" cy="458137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483024" y="2079688"/>
                <a:ext cx="2321216" cy="45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400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跨层机制读出</a:t>
                </a:r>
              </a:p>
            </p:txBody>
          </p:sp>
        </p:grpSp>
      </p:grpSp>
      <p:grpSp>
        <p:nvGrpSpPr>
          <p:cNvPr id="24" name="EasySlides Component: feature"/>
          <p:cNvGrpSpPr/>
          <p:nvPr/>
        </p:nvGrpSpPr>
        <p:grpSpPr>
          <a:xfrm>
            <a:off x="4994987" y="2393771"/>
            <a:ext cx="6589223" cy="2288451"/>
            <a:chOff x="4994987" y="2393771"/>
            <a:chExt cx="6589223" cy="2288451"/>
          </a:xfrm>
        </p:grpSpPr>
        <p:sp>
          <p:nvSpPr>
            <p:cNvPr id="18" name="Rectangle 18"/>
            <p:cNvSpPr/>
            <p:nvPr/>
          </p:nvSpPr>
          <p:spPr>
            <a:xfrm>
              <a:off x="5012408" y="2395920"/>
              <a:ext cx="6569992" cy="2282003"/>
            </a:xfrm>
            <a:prstGeom prst="roundRect">
              <a:avLst>
                <a:gd name="adj" fmla="val 625"/>
              </a:avLst>
            </a:prstGeom>
            <a:solidFill>
              <a:srgbClr val="FFFFFF"/>
            </a:soli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  <a:effectLst>
              <a:outerShdw blurRad="50864" dist="38100" dir="5400000" algn="ctr" rotWithShape="0">
                <a:srgbClr val="751497">
                  <a:alpha val="7500"/>
                </a:srgbClr>
              </a:outerShdw>
            </a:effectLst>
          </p:spPr>
        </p:sp>
        <p:sp>
          <p:nvSpPr>
            <p:cNvPr id="19" name="Freeform 19"/>
            <p:cNvSpPr/>
            <p:nvPr/>
          </p:nvSpPr>
          <p:spPr>
            <a:xfrm>
              <a:off x="4994987" y="2393771"/>
              <a:ext cx="1072846" cy="228845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 w="3172">
              <a:solidFill>
                <a:srgbClr val="751497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143403" y="2660738"/>
              <a:ext cx="775901" cy="1754517"/>
              <a:chOff x="5143403" y="2660738"/>
              <a:chExt cx="775901" cy="1754517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143403" y="2660738"/>
                <a:ext cx="775901" cy="1754517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143403" y="2660738"/>
                <a:ext cx="775901" cy="1754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0">
                <a:noAutofit/>
              </a:bodyPr>
              <a:lstStyle/>
              <a:p>
                <a:pPr algn="l"/>
                <a:r>
                  <a:rPr lang="zh-CN" sz="2850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神经</a:t>
                </a:r>
              </a:p>
              <a:p>
                <a:pPr algn="l"/>
                <a:r>
                  <a:rPr lang="zh-CN" sz="2850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证据</a:t>
                </a:r>
              </a:p>
            </p:txBody>
          </p:sp>
        </p:grp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rcRect l="5560" t="0" r="1392" b="44096"/>
            <a:stretch>
              <a:fillRect/>
            </a:stretch>
          </p:blipFill>
          <p:spPr>
            <a:xfrm>
              <a:off x="6209122" y="2498747"/>
              <a:ext cx="5375088" cy="2083475"/>
            </a:xfrm>
            <a:prstGeom prst="rect">
              <a:avLst/>
            </a:prstGeom>
          </p:spPr>
        </p:pic>
      </p:grpSp>
      <p:grpSp>
        <p:nvGrpSpPr>
          <p:cNvPr id="30" name="EasySlides Component: metric_1"/>
          <p:cNvGrpSpPr/>
          <p:nvPr/>
        </p:nvGrpSpPr>
        <p:grpSpPr>
          <a:xfrm>
            <a:off x="613854" y="2778899"/>
            <a:ext cx="1970850" cy="1164400"/>
            <a:chOff x="613854" y="2778899"/>
            <a:chExt cx="1970850" cy="1164400"/>
          </a:xfrm>
        </p:grpSpPr>
        <p:sp>
          <p:nvSpPr>
            <p:cNvPr id="25" name="Rectangle 25"/>
            <p:cNvSpPr/>
            <p:nvPr/>
          </p:nvSpPr>
          <p:spPr>
            <a:xfrm>
              <a:off x="613854" y="2778899"/>
              <a:ext cx="1970850" cy="1164400"/>
            </a:xfrm>
            <a:prstGeom prst="rect">
              <a:avLst/>
            </a:pr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59852" y="2920397"/>
              <a:ext cx="1286957" cy="883632"/>
              <a:chOff x="959852" y="2920397"/>
              <a:chExt cx="1286957" cy="883632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59852" y="2920397"/>
                <a:ext cx="1286958" cy="88363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59852" y="2920397"/>
                <a:ext cx="1286958" cy="465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3200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d′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9852" y="3406476"/>
                <a:ext cx="1286958" cy="397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800" dirty="0">
                    <a:solidFill>
                      <a:srgbClr val="060607"/>
                    </a:solidFill>
                    <a:latin typeface="Segoe UI"/>
                    <a:ea typeface="Microsoft YaHei"/>
                    <a:cs typeface="Segoe UI"/>
                  </a:rPr>
                  <a:t>神经敏感性</a:t>
                </a:r>
              </a:p>
            </p:txBody>
          </p:sp>
        </p:grpSp>
      </p:grpSp>
      <p:grpSp>
        <p:nvGrpSpPr>
          <p:cNvPr id="36" name="EasySlides Component: metric_2"/>
          <p:cNvGrpSpPr/>
          <p:nvPr/>
        </p:nvGrpSpPr>
        <p:grpSpPr>
          <a:xfrm>
            <a:off x="2698686" y="2778899"/>
            <a:ext cx="1970850" cy="1164400"/>
            <a:chOff x="2698686" y="2778899"/>
            <a:chExt cx="1970850" cy="1164400"/>
          </a:xfrm>
        </p:grpSpPr>
        <p:sp>
          <p:nvSpPr>
            <p:cNvPr id="31" name="Rectangle 31"/>
            <p:cNvSpPr/>
            <p:nvPr/>
          </p:nvSpPr>
          <p:spPr>
            <a:xfrm>
              <a:off x="2698686" y="2778899"/>
              <a:ext cx="1970850" cy="1164400"/>
            </a:xfrm>
            <a:prstGeom prst="rect">
              <a:avLst/>
            </a:pr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044684" y="2920397"/>
              <a:ext cx="1286957" cy="883632"/>
              <a:chOff x="3044684" y="2920397"/>
              <a:chExt cx="1286957" cy="883632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3044684" y="2920397"/>
                <a:ext cx="1286958" cy="88363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044684" y="2920397"/>
                <a:ext cx="1286958" cy="465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3200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days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044684" y="3406476"/>
                <a:ext cx="1286958" cy="397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800" dirty="0">
                    <a:solidFill>
                      <a:srgbClr val="060607"/>
                    </a:solidFill>
                    <a:latin typeface="Segoe UI"/>
                    <a:ea typeface="Microsoft YaHei"/>
                    <a:cs typeface="Segoe UI"/>
                  </a:rPr>
                  <a:t>达标速度</a:t>
                </a:r>
              </a:p>
            </p:txBody>
          </p:sp>
        </p:grpSp>
      </p:grpSp>
      <p:grpSp>
        <p:nvGrpSpPr>
          <p:cNvPr id="42" name="EasySlides Component: metric_3"/>
          <p:cNvGrpSpPr/>
          <p:nvPr/>
        </p:nvGrpSpPr>
        <p:grpSpPr>
          <a:xfrm>
            <a:off x="613854" y="4087634"/>
            <a:ext cx="1970850" cy="1164400"/>
            <a:chOff x="613854" y="4087634"/>
            <a:chExt cx="1970850" cy="1164400"/>
          </a:xfrm>
        </p:grpSpPr>
        <p:sp>
          <p:nvSpPr>
            <p:cNvPr id="37" name="Rectangle 37"/>
            <p:cNvSpPr/>
            <p:nvPr/>
          </p:nvSpPr>
          <p:spPr>
            <a:xfrm>
              <a:off x="613854" y="4087634"/>
              <a:ext cx="1970850" cy="1164400"/>
            </a:xfrm>
            <a:prstGeom prst="rect">
              <a:avLst/>
            </a:pr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59852" y="4229132"/>
              <a:ext cx="1286957" cy="883632"/>
              <a:chOff x="959852" y="4229132"/>
              <a:chExt cx="1286957" cy="883632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59852" y="4229132"/>
                <a:ext cx="1286958" cy="88363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59852" y="4229132"/>
                <a:ext cx="1286958" cy="465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3200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DA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59852" y="4715211"/>
                <a:ext cx="1286958" cy="397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800" dirty="0">
                    <a:solidFill>
                      <a:srgbClr val="060607"/>
                    </a:solidFill>
                    <a:latin typeface="Segoe UI"/>
                    <a:ea typeface="Microsoft YaHei"/>
                    <a:cs typeface="Segoe UI"/>
                  </a:rPr>
                  <a:t>调制信号</a:t>
                </a:r>
              </a:p>
            </p:txBody>
          </p:sp>
        </p:grpSp>
      </p:grpSp>
      <p:grpSp>
        <p:nvGrpSpPr>
          <p:cNvPr id="48" name="EasySlides Component: metric_4"/>
          <p:cNvGrpSpPr/>
          <p:nvPr/>
        </p:nvGrpSpPr>
        <p:grpSpPr>
          <a:xfrm>
            <a:off x="2698686" y="4087634"/>
            <a:ext cx="1970850" cy="1164400"/>
            <a:chOff x="2698686" y="4087634"/>
            <a:chExt cx="1970850" cy="1164400"/>
          </a:xfrm>
        </p:grpSpPr>
        <p:sp>
          <p:nvSpPr>
            <p:cNvPr id="43" name="Rectangle 43"/>
            <p:cNvSpPr/>
            <p:nvPr/>
          </p:nvSpPr>
          <p:spPr>
            <a:xfrm>
              <a:off x="2698686" y="4087634"/>
              <a:ext cx="1970850" cy="1164400"/>
            </a:xfrm>
            <a:prstGeom prst="rect">
              <a:avLst/>
            </a:pr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3044684" y="4229132"/>
              <a:ext cx="1286957" cy="883632"/>
              <a:chOff x="3044684" y="4229132"/>
              <a:chExt cx="1286957" cy="883632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044684" y="4229132"/>
                <a:ext cx="1286958" cy="88363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044684" y="4229132"/>
                <a:ext cx="1286958" cy="465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3200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units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044684" y="4715211"/>
                <a:ext cx="1286958" cy="397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800" dirty="0">
                    <a:solidFill>
                      <a:srgbClr val="060607"/>
                    </a:solidFill>
                    <a:latin typeface="Segoe UI"/>
                    <a:ea typeface="Microsoft YaHei"/>
                    <a:cs typeface="Segoe UI"/>
                  </a:rPr>
                  <a:t>群体编码</a:t>
                </a: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70848" y="0"/>
            <a:ext cx="3121152" cy="754190"/>
            <a:chOff x="9070848" y="0"/>
            <a:chExt cx="3121152" cy="7541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31890" r="0" b="31890"/>
            <a:stretch>
              <a:fillRect/>
            </a:stretch>
          </p:blipFill>
          <p:spPr>
            <a:xfrm>
              <a:off x="9070848" y="0"/>
              <a:ext cx="3121152" cy="75419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192000" cy="754190"/>
            <a:chOff x="0" y="0"/>
            <a:chExt cx="12192000" cy="75419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754190"/>
            </a:xfrm>
            <a:prstGeom prst="rect">
              <a:avLst/>
            </a:prstGeom>
            <a:gradFill>
              <a:gsLst>
                <a:gs pos="75000">
                  <a:srgbClr val="751497"/>
                </a:gs>
                <a:gs pos="100000">
                  <a:srgbClr val="751497">
                    <a:alpha val="7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8332" y="66104"/>
            <a:ext cx="6032468" cy="646366"/>
            <a:chOff x="368332" y="66104"/>
            <a:chExt cx="6032468" cy="646366"/>
          </a:xfrm>
        </p:grpSpPr>
        <p:sp>
          <p:nvSpPr>
            <p:cNvPr id="6" name="Rectangle 6"/>
            <p:cNvSpPr/>
            <p:nvPr/>
          </p:nvSpPr>
          <p:spPr>
            <a:xfrm>
              <a:off x="368332" y="66104"/>
              <a:ext cx="3727323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5800" y="66104"/>
              <a:ext cx="5715000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思源黑体 CN Heavy"/>
                  <a:ea typeface="Microsoft YaHei"/>
                  <a:cs typeface="思源黑体 CN Heavy"/>
                </a:rPr>
                <a:t>研究内容三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1171575"/>
            <a:ext cx="10572750" cy="323850"/>
            <a:chOff x="723900" y="1171575"/>
            <a:chExt cx="10572750" cy="323850"/>
          </a:xfrm>
        </p:grpSpPr>
        <p:sp>
          <p:nvSpPr>
            <p:cNvPr id="9" name="Rectangle 9"/>
            <p:cNvSpPr/>
            <p:nvPr/>
          </p:nvSpPr>
          <p:spPr>
            <a:xfrm>
              <a:off x="723900" y="1257300"/>
              <a:ext cx="152400" cy="152400"/>
            </a:xfrm>
            <a:prstGeom prst="rect">
              <a:avLst/>
            </a:prstGeom>
            <a:solidFill>
              <a:srgbClr val="06060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700" y="1171575"/>
              <a:ext cx="102679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060607"/>
                  </a:solidFill>
                  <a:latin typeface="Arial"/>
                  <a:ea typeface="Microsoft YaHei"/>
                  <a:cs typeface="Arial"/>
                </a:rPr>
                <a:t>比较听损状态与暴露条件，界定社会经验对发育期听损的补偿边界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0" y="643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200" b="1" dirty="0">
                <a:solidFill>
                  <a:srgbClr val="751497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17" name="EasySlides Component: statement"/>
          <p:cNvGrpSpPr/>
          <p:nvPr/>
        </p:nvGrpSpPr>
        <p:grpSpPr>
          <a:xfrm>
            <a:off x="1337698" y="1943100"/>
            <a:ext cx="9509899" cy="653317"/>
            <a:chOff x="1337698" y="1943100"/>
            <a:chExt cx="9509899" cy="653317"/>
          </a:xfrm>
        </p:grpSpPr>
        <p:sp>
          <p:nvSpPr>
            <p:cNvPr id="13" name="Rectangle 13"/>
            <p:cNvSpPr/>
            <p:nvPr/>
          </p:nvSpPr>
          <p:spPr>
            <a:xfrm>
              <a:off x="1337698" y="1943100"/>
              <a:ext cx="9509899" cy="653317"/>
            </a:xfrm>
            <a:prstGeom prst="rect">
              <a:avLst/>
            </a:prstGeom>
            <a:solidFill>
              <a:srgbClr val="FFFFFF"/>
            </a:soli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  <a:effectLst>
              <a:outerShdw blurRad="50864" dist="38100" dir="5400000" algn="ctr" rotWithShape="0">
                <a:srgbClr val="751497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2416597" y="2046587"/>
              <a:ext cx="8379377" cy="443758"/>
              <a:chOff x="2416597" y="2046587"/>
              <a:chExt cx="8379377" cy="443758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416597" y="2046587"/>
                <a:ext cx="8379378" cy="44375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416597" y="2046587"/>
                <a:ext cx="8379378" cy="4437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800" dirty="0">
                    <a:solidFill>
                      <a:srgbClr val="060607"/>
                    </a:solidFill>
                    <a:latin typeface="思源黑体 CN Bold"/>
                    <a:ea typeface="Microsoft YaHei"/>
                    <a:cs typeface="思源黑体 CN Bold"/>
                  </a:rPr>
                  <a:t>问题三：社会经验能否改善听损学习障碍</a:t>
                </a:r>
              </a:p>
            </p:txBody>
          </p:sp>
        </p:grpSp>
      </p:grpSp>
      <p:grpSp>
        <p:nvGrpSpPr>
          <p:cNvPr id="94" name="EasySlides Component: matrix"/>
          <p:cNvGrpSpPr/>
          <p:nvPr/>
        </p:nvGrpSpPr>
        <p:grpSpPr>
          <a:xfrm>
            <a:off x="606526" y="3133857"/>
            <a:ext cx="10977295" cy="2677251"/>
            <a:chOff x="606526" y="3133857"/>
            <a:chExt cx="10977295" cy="2677251"/>
          </a:xfrm>
        </p:grpSpPr>
        <p:grpSp>
          <p:nvGrpSpPr>
            <p:cNvPr id="93" name="Group 93"/>
            <p:cNvGrpSpPr/>
            <p:nvPr/>
          </p:nvGrpSpPr>
          <p:grpSpPr>
            <a:xfrm>
              <a:off x="606526" y="3133857"/>
              <a:ext cx="10977295" cy="2677251"/>
              <a:chOff x="606526" y="3133857"/>
              <a:chExt cx="10977295" cy="2677251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09600" y="3133857"/>
                <a:ext cx="1649832" cy="451673"/>
              </a:xfrm>
              <a:prstGeom prst="rect">
                <a:avLst/>
              </a:prstGeom>
              <a:gradFill>
                <a:gsLst>
                  <a:gs pos="75000">
                    <a:srgbClr val="751497"/>
                  </a:gs>
                  <a:gs pos="18000">
                    <a:srgbClr val="8116A6"/>
                  </a:gs>
                </a:gsLst>
                <a:lin ang="18900000" scaled="1"/>
              </a:gra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259432" y="3133857"/>
                <a:ext cx="5214129" cy="451673"/>
              </a:xfrm>
              <a:prstGeom prst="rect">
                <a:avLst/>
              </a:prstGeom>
              <a:gradFill>
                <a:gsLst>
                  <a:gs pos="75000">
                    <a:srgbClr val="751497"/>
                  </a:gs>
                  <a:gs pos="18000">
                    <a:srgbClr val="8116A6"/>
                  </a:gs>
                </a:gsLst>
                <a:lin ang="18900000" scaled="1"/>
              </a:gra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473561" y="3133857"/>
                <a:ext cx="4100735" cy="451673"/>
              </a:xfrm>
              <a:prstGeom prst="rect">
                <a:avLst/>
              </a:prstGeom>
              <a:gradFill>
                <a:gsLst>
                  <a:gs pos="75000">
                    <a:srgbClr val="751497"/>
                  </a:gs>
                  <a:gs pos="18000">
                    <a:srgbClr val="8116A6"/>
                  </a:gs>
                </a:gsLst>
                <a:lin ang="18900000" scaled="1"/>
              </a:gra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09600" y="3585530"/>
                <a:ext cx="1649832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259432" y="3585530"/>
                <a:ext cx="5214129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7473561" y="3585530"/>
                <a:ext cx="4100735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" y="4141901"/>
                <a:ext cx="1649832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2259432" y="4141901"/>
                <a:ext cx="5214129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7473561" y="4141901"/>
                <a:ext cx="4100735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09600" y="4698366"/>
                <a:ext cx="1649832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259432" y="4698366"/>
                <a:ext cx="5214129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473561" y="4698366"/>
                <a:ext cx="4100735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09600" y="5254737"/>
                <a:ext cx="1649832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2259432" y="5254737"/>
                <a:ext cx="9314864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06526" y="3133857"/>
                <a:ext cx="1652906" cy="451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34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分层模型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259432" y="3133857"/>
                <a:ext cx="5214129" cy="451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34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社会暴露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473561" y="3133857"/>
                <a:ext cx="4100735" cy="451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34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任务线索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6526" y="3585530"/>
                <a:ext cx="1652906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可逆听损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259432" y="3585530"/>
                <a:ext cx="5214129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是否恢复 d′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473561" y="3585530"/>
                <a:ext cx="4100735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主动练习对照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6526" y="4141901"/>
                <a:ext cx="1652906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不可逆听损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259432" y="4141901"/>
                <a:ext cx="5214129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是否缩短达标期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473561" y="4141901"/>
                <a:ext cx="4100735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仅听任务声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06526" y="4698366"/>
                <a:ext cx="1652906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神经读出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259432" y="4698366"/>
                <a:ext cx="5214129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皮层与 DA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473561" y="4698366"/>
                <a:ext cx="4100735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行为终点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06526" y="5254737"/>
                <a:ext cx="1652906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000000"/>
                    </a:solidFill>
                    <a:latin typeface="思源黑体 CN Bold"/>
                    <a:ea typeface="Microsoft YaHei"/>
                    <a:cs typeface="思源黑体 CN Bold"/>
                  </a:rPr>
                  <a:t>成功判据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259432" y="5254737"/>
                <a:ext cx="9314864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000000"/>
                    </a:solidFill>
                    <a:latin typeface="思源黑体 CN Bold"/>
                    <a:ea typeface="Microsoft YaHei"/>
                    <a:cs typeface="思源黑体 CN Bold"/>
                  </a:rPr>
                  <a:t>补偿边界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606526" y="3133857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2259432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606526" y="3585530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606526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2259432" y="3133857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7473561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2259432" y="3585530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2259432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7473561" y="3133857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11574296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7473561" y="3585530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7473561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606526" y="3585530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2259432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06526" y="4141901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606526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2259432" y="3585530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7473561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2259432" y="4141901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2259432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7473561" y="3585530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11574296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7473561" y="4141901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9" name="Line 69"/>
              <p:cNvSpPr/>
              <p:nvPr/>
            </p:nvSpPr>
            <p:spPr>
              <a:xfrm>
                <a:off x="7473561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70" name="Line 70"/>
              <p:cNvSpPr/>
              <p:nvPr/>
            </p:nvSpPr>
            <p:spPr>
              <a:xfrm>
                <a:off x="606526" y="4141901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1" name="Line 71"/>
              <p:cNvSpPr/>
              <p:nvPr/>
            </p:nvSpPr>
            <p:spPr>
              <a:xfrm>
                <a:off x="2259432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606526" y="4698366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606526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2259432" y="4141901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7473561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2259432" y="4698366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7" name="Line 77"/>
              <p:cNvSpPr/>
              <p:nvPr/>
            </p:nvSpPr>
            <p:spPr>
              <a:xfrm>
                <a:off x="2259432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78" name="Line 78"/>
              <p:cNvSpPr/>
              <p:nvPr/>
            </p:nvSpPr>
            <p:spPr>
              <a:xfrm>
                <a:off x="7473561" y="4141901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9" name="Line 79"/>
              <p:cNvSpPr/>
              <p:nvPr/>
            </p:nvSpPr>
            <p:spPr>
              <a:xfrm>
                <a:off x="11574296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0" name="Line 80"/>
              <p:cNvSpPr/>
              <p:nvPr/>
            </p:nvSpPr>
            <p:spPr>
              <a:xfrm>
                <a:off x="7473561" y="4698366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1" name="Line 81"/>
              <p:cNvSpPr/>
              <p:nvPr/>
            </p:nvSpPr>
            <p:spPr>
              <a:xfrm>
                <a:off x="7473561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82" name="Line 82"/>
              <p:cNvSpPr/>
              <p:nvPr/>
            </p:nvSpPr>
            <p:spPr>
              <a:xfrm>
                <a:off x="606526" y="4698366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3" name="Line 83"/>
              <p:cNvSpPr/>
              <p:nvPr/>
            </p:nvSpPr>
            <p:spPr>
              <a:xfrm>
                <a:off x="2259432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84" name="Line 84"/>
              <p:cNvSpPr/>
              <p:nvPr/>
            </p:nvSpPr>
            <p:spPr>
              <a:xfrm>
                <a:off x="606526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5" name="Line 85"/>
              <p:cNvSpPr/>
              <p:nvPr/>
            </p:nvSpPr>
            <p:spPr>
              <a:xfrm>
                <a:off x="2259432" y="4698366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6" name="Line 86"/>
              <p:cNvSpPr/>
              <p:nvPr/>
            </p:nvSpPr>
            <p:spPr>
              <a:xfrm>
                <a:off x="7473561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87" name="Line 87"/>
              <p:cNvSpPr/>
              <p:nvPr/>
            </p:nvSpPr>
            <p:spPr>
              <a:xfrm>
                <a:off x="2259432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88" name="Line 88"/>
              <p:cNvSpPr/>
              <p:nvPr/>
            </p:nvSpPr>
            <p:spPr>
              <a:xfrm>
                <a:off x="7473561" y="4698366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9" name="Line 89"/>
              <p:cNvSpPr/>
              <p:nvPr/>
            </p:nvSpPr>
            <p:spPr>
              <a:xfrm>
                <a:off x="11574296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90" name="Line 90"/>
              <p:cNvSpPr/>
              <p:nvPr/>
            </p:nvSpPr>
            <p:spPr>
              <a:xfrm>
                <a:off x="7473561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91" name="Line 91"/>
              <p:cNvSpPr/>
              <p:nvPr/>
            </p:nvSpPr>
            <p:spPr>
              <a:xfrm>
                <a:off x="2259432" y="5254737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92" name="Line 92"/>
              <p:cNvSpPr/>
              <p:nvPr/>
            </p:nvSpPr>
            <p:spPr>
              <a:xfrm>
                <a:off x="2259432" y="5254737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143" y="161925"/>
            <a:ext cx="12185714" cy="6696075"/>
            <a:chOff x="3143" y="161925"/>
            <a:chExt cx="12185714" cy="669607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" y="161925"/>
              <a:ext cx="12185714" cy="6696075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212479" cy="6858000"/>
            <a:chOff x="0" y="0"/>
            <a:chExt cx="12212479" cy="685800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212479" cy="6858000"/>
            </a:xfrm>
            <a:prstGeom prst="rect">
              <a:avLst/>
            </a:prstGeom>
            <a:gradFill>
              <a:gsLst>
                <a:gs pos="21000">
                  <a:srgbClr val="FFFFFF"/>
                </a:gs>
                <a:gs pos="100000">
                  <a:srgbClr val="FFFFFF">
                    <a:alpha val="8500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49262" y="861060"/>
            <a:ext cx="10290715" cy="5192363"/>
            <a:chOff x="949262" y="861060"/>
            <a:chExt cx="10290715" cy="5192363"/>
          </a:xfrm>
        </p:grpSpPr>
        <p:sp>
          <p:nvSpPr>
            <p:cNvPr id="6" name="Freeform 6"/>
            <p:cNvSpPr/>
            <p:nvPr/>
          </p:nvSpPr>
          <p:spPr>
            <a:xfrm>
              <a:off x="949262" y="861060"/>
              <a:ext cx="10290715" cy="5192363"/>
            </a:xfrm>
            <a:custGeom>
              <a:avLst/>
              <a:gdLst/>
              <a:ahLst/>
              <a:cxnLst/>
              <a:rect l="l" t="t" r="r" b="b"/>
              <a:pathLst>
                <a:path w="10290715" h="5192363">
                  <a:moveTo>
                    <a:pt x="173927" y="0"/>
                  </a:moveTo>
                  <a:lnTo>
                    <a:pt x="10116788" y="0"/>
                  </a:lnTo>
                  <a:cubicBezTo>
                    <a:pt x="10212808" y="0"/>
                    <a:pt x="10290662" y="77812"/>
                    <a:pt x="10290715" y="173831"/>
                  </a:cubicBezTo>
                  <a:lnTo>
                    <a:pt x="10290715" y="5090732"/>
                  </a:lnTo>
                  <a:cubicBezTo>
                    <a:pt x="10290715" y="5146861"/>
                    <a:pt x="10245213" y="5192363"/>
                    <a:pt x="10189083" y="5192363"/>
                  </a:cubicBezTo>
                  <a:lnTo>
                    <a:pt x="101632" y="5192363"/>
                  </a:lnTo>
                  <a:cubicBezTo>
                    <a:pt x="45502" y="5192363"/>
                    <a:pt x="0" y="5146861"/>
                    <a:pt x="0" y="5090732"/>
                  </a:cubicBezTo>
                  <a:lnTo>
                    <a:pt x="0" y="173831"/>
                  </a:lnTo>
                  <a:cubicBezTo>
                    <a:pt x="53" y="77812"/>
                    <a:pt x="77907" y="0"/>
                    <a:pt x="173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0864" dist="38100" dir="5400000" algn="ctr" rotWithShape="0">
                <a:srgbClr val="000000">
                  <a:alpha val="15000"/>
                </a:srgbClr>
              </a:outerShdw>
            </a:effectLst>
          </p:spPr>
        </p:sp>
      </p:grpSp>
      <p:grpSp>
        <p:nvGrpSpPr>
          <p:cNvPr id="14" name="Group 14"/>
          <p:cNvGrpSpPr/>
          <p:nvPr/>
        </p:nvGrpSpPr>
        <p:grpSpPr>
          <a:xfrm>
            <a:off x="0" y="-10573"/>
            <a:ext cx="2357533" cy="1774031"/>
            <a:chOff x="0" y="-10573"/>
            <a:chExt cx="2357533" cy="177403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-10573"/>
              <a:ext cx="2357533" cy="1774031"/>
              <a:chOff x="0" y="-10573"/>
              <a:chExt cx="2357533" cy="17740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-10573"/>
                <a:ext cx="2357533" cy="1774031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774031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391668"/>
                      <a:pt x="0" y="1355217"/>
                    </a:cubicBezTo>
                    <a:cubicBezTo>
                      <a:pt x="0" y="177403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-10573"/>
                <a:ext cx="2357533" cy="1585532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585532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203168"/>
                      <a:pt x="0" y="1166812"/>
                    </a:cubicBezTo>
                    <a:cubicBezTo>
                      <a:pt x="0" y="158553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 rot="10800000">
              <a:off x="9834467" y="5094542"/>
              <a:ext cx="2357533" cy="1774031"/>
              <a:chOff x="0" y="-10573"/>
              <a:chExt cx="2357533" cy="177403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-10573"/>
                <a:ext cx="2357533" cy="1774031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774031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391668"/>
                      <a:pt x="0" y="1355217"/>
                    </a:cubicBezTo>
                    <a:cubicBezTo>
                      <a:pt x="0" y="177403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0" y="-10573"/>
                <a:ext cx="2357533" cy="1585532"/>
              </a:xfrm>
              <a:custGeom>
                <a:avLst/>
                <a:gdLst/>
                <a:ahLst/>
                <a:cxnLst/>
                <a:rect l="l" t="t" r="r" b="b"/>
                <a:pathLst>
                  <a:path w="2357533" h="1585532">
                    <a:moveTo>
                      <a:pt x="0" y="0"/>
                    </a:moveTo>
                    <a:lnTo>
                      <a:pt x="2357533" y="0"/>
                    </a:lnTo>
                    <a:cubicBezTo>
                      <a:pt x="2357533" y="0"/>
                      <a:pt x="732092" y="203168"/>
                      <a:pt x="0" y="1166812"/>
                    </a:cubicBezTo>
                    <a:cubicBezTo>
                      <a:pt x="0" y="158553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51497"/>
              </a:solidFill>
              <a:ln>
                <a:noFill/>
              </a:ln>
            </p:spPr>
          </p:sp>
        </p:grpSp>
      </p:grpSp>
      <p:grpSp>
        <p:nvGrpSpPr>
          <p:cNvPr id="18" name="Group 18"/>
          <p:cNvGrpSpPr/>
          <p:nvPr/>
        </p:nvGrpSpPr>
        <p:grpSpPr>
          <a:xfrm>
            <a:off x="3048000" y="2457450"/>
            <a:ext cx="6096000" cy="1981200"/>
            <a:chOff x="3048000" y="2457450"/>
            <a:chExt cx="6096000" cy="1981200"/>
          </a:xfrm>
        </p:grpSpPr>
        <p:sp>
          <p:nvSpPr>
            <p:cNvPr id="15" name="Line 15"/>
            <p:cNvSpPr/>
            <p:nvPr/>
          </p:nvSpPr>
          <p:spPr>
            <a:xfrm>
              <a:off x="5619750" y="24574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 cap="rnd">
              <a:solidFill>
                <a:srgbClr val="75149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48000" y="2714625"/>
              <a:ext cx="60960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4800" dirty="0">
                  <a:solidFill>
                    <a:srgbClr val="751497"/>
                  </a:solidFill>
                  <a:latin typeface="Arial"/>
                  <a:ea typeface="Microsoft YaHei"/>
                  <a:cs typeface="Arial"/>
                </a:rPr>
                <a:t>03 创新、基础与计划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9500" y="3905250"/>
              <a:ext cx="4953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2100" dirty="0">
                  <a:solidFill>
                    <a:srgbClr val="9A9A9A"/>
                  </a:solidFill>
                  <a:latin typeface="Arial"/>
                  <a:ea typeface="Microsoft YaHei"/>
                  <a:cs typeface="Arial"/>
                </a:rPr>
                <a:t>以可验证创新和可执行计划支撑项目实施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70848" y="0"/>
            <a:ext cx="3121152" cy="754190"/>
            <a:chOff x="9070848" y="0"/>
            <a:chExt cx="3121152" cy="7541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31890" r="0" b="31890"/>
            <a:stretch>
              <a:fillRect/>
            </a:stretch>
          </p:blipFill>
          <p:spPr>
            <a:xfrm>
              <a:off x="9070848" y="0"/>
              <a:ext cx="3121152" cy="75419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192000" cy="754190"/>
            <a:chOff x="0" y="0"/>
            <a:chExt cx="12192000" cy="75419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754190"/>
            </a:xfrm>
            <a:prstGeom prst="rect">
              <a:avLst/>
            </a:prstGeom>
            <a:gradFill>
              <a:gsLst>
                <a:gs pos="75000">
                  <a:srgbClr val="751497"/>
                </a:gs>
                <a:gs pos="100000">
                  <a:srgbClr val="751497">
                    <a:alpha val="7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8332" y="66104"/>
            <a:ext cx="6032468" cy="646366"/>
            <a:chOff x="368332" y="66104"/>
            <a:chExt cx="6032468" cy="646366"/>
          </a:xfrm>
        </p:grpSpPr>
        <p:sp>
          <p:nvSpPr>
            <p:cNvPr id="6" name="Rectangle 6"/>
            <p:cNvSpPr/>
            <p:nvPr/>
          </p:nvSpPr>
          <p:spPr>
            <a:xfrm>
              <a:off x="368332" y="66104"/>
              <a:ext cx="3727323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5800" y="66104"/>
              <a:ext cx="5715000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思源黑体 CN Heavy"/>
                  <a:ea typeface="Microsoft YaHei"/>
                  <a:cs typeface="思源黑体 CN Heavy"/>
                </a:rPr>
                <a:t>项目创新点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1171575"/>
            <a:ext cx="10572750" cy="323850"/>
            <a:chOff x="723900" y="1171575"/>
            <a:chExt cx="10572750" cy="323850"/>
          </a:xfrm>
        </p:grpSpPr>
        <p:sp>
          <p:nvSpPr>
            <p:cNvPr id="9" name="Rectangle 9"/>
            <p:cNvSpPr/>
            <p:nvPr/>
          </p:nvSpPr>
          <p:spPr>
            <a:xfrm>
              <a:off x="723900" y="1257300"/>
              <a:ext cx="152400" cy="152400"/>
            </a:xfrm>
            <a:prstGeom prst="rect">
              <a:avLst/>
            </a:prstGeom>
            <a:solidFill>
              <a:srgbClr val="06060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700" y="1171575"/>
              <a:ext cx="102679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060607"/>
                  </a:solidFill>
                  <a:latin typeface="Arial"/>
                  <a:ea typeface="Microsoft YaHei"/>
                  <a:cs typeface="Arial"/>
                </a:rPr>
                <a:t>从因果操控、跨层读出和病理模型三个层面提升社会学习机制研究的可检验性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0" y="643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200" b="1" dirty="0">
                <a:solidFill>
                  <a:srgbClr val="751497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17" name="EasySlides Component: statement"/>
          <p:cNvGrpSpPr/>
          <p:nvPr/>
        </p:nvGrpSpPr>
        <p:grpSpPr>
          <a:xfrm>
            <a:off x="609600" y="1958472"/>
            <a:ext cx="10965069" cy="753286"/>
            <a:chOff x="609600" y="1958472"/>
            <a:chExt cx="10965069" cy="753286"/>
          </a:xfrm>
        </p:grpSpPr>
        <p:sp>
          <p:nvSpPr>
            <p:cNvPr id="13" name="Rectangle 13"/>
            <p:cNvSpPr/>
            <p:nvPr/>
          </p:nvSpPr>
          <p:spPr>
            <a:xfrm>
              <a:off x="609600" y="1958472"/>
              <a:ext cx="10965069" cy="753286"/>
            </a:xfrm>
            <a:prstGeom prst="rect">
              <a:avLst/>
            </a:prstGeom>
            <a:solidFill>
              <a:srgbClr val="FFFFFF"/>
            </a:soli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  <a:effectLst>
              <a:outerShdw blurRad="50864" dist="38100" dir="5400000" algn="ctr" rotWithShape="0">
                <a:srgbClr val="751497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1853588" y="2077794"/>
              <a:ext cx="9661559" cy="511661"/>
              <a:chOff x="1853588" y="2077794"/>
              <a:chExt cx="9661559" cy="511661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853588" y="2077794"/>
                <a:ext cx="9661560" cy="51166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853588" y="2077794"/>
                <a:ext cx="9661560" cy="511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800" dirty="0">
                    <a:solidFill>
                      <a:srgbClr val="060607"/>
                    </a:solidFill>
                    <a:latin typeface="思源黑体 CN Bold"/>
                    <a:ea typeface="Microsoft YaHei"/>
                    <a:cs typeface="思源黑体 CN Bold"/>
                  </a:rPr>
                  <a:t>三项创新共同连接社会线索、皮层可塑性与听损补偿</a:t>
                </a:r>
              </a:p>
            </p:txBody>
          </p:sp>
        </p:grpSp>
      </p:grpSp>
      <p:grpSp>
        <p:nvGrpSpPr>
          <p:cNvPr id="24" name="EasySlides Component: evidence_1"/>
          <p:cNvGrpSpPr/>
          <p:nvPr/>
        </p:nvGrpSpPr>
        <p:grpSpPr>
          <a:xfrm>
            <a:off x="606270" y="3828168"/>
            <a:ext cx="3404268" cy="2385418"/>
            <a:chOff x="606270" y="3828168"/>
            <a:chExt cx="3404268" cy="2385418"/>
          </a:xfrm>
        </p:grpSpPr>
        <p:sp>
          <p:nvSpPr>
            <p:cNvPr id="18" name="Polygon 18"/>
            <p:cNvSpPr/>
            <p:nvPr/>
          </p:nvSpPr>
          <p:spPr>
            <a:xfrm>
              <a:off x="606270" y="3828168"/>
              <a:ext cx="3404268" cy="2382807"/>
            </a:xfrm>
            <a:custGeom>
              <a:avLst/>
              <a:gdLst/>
              <a:ahLst/>
              <a:cxnLst/>
              <a:rect l="l" t="t" r="r" b="b"/>
              <a:pathLst>
                <a:path w="3404268" h="2382807">
                  <a:moveTo>
                    <a:pt x="0" y="0"/>
                  </a:moveTo>
                  <a:lnTo>
                    <a:pt x="3404268" y="0"/>
                  </a:lnTo>
                  <a:lnTo>
                    <a:pt x="3404268" y="1191359"/>
                  </a:lnTo>
                  <a:lnTo>
                    <a:pt x="3404268" y="2382807"/>
                  </a:lnTo>
                  <a:lnTo>
                    <a:pt x="0" y="2382807"/>
                  </a:lnTo>
                  <a:close/>
                </a:path>
              </a:pathLst>
            </a:cu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091" y="3999867"/>
              <a:ext cx="3102626" cy="2067127"/>
            </a:xfrm>
            <a:prstGeom prst="rect">
              <a:avLst/>
            </a:prstGeom>
          </p:spPr>
        </p:pic>
        <p:sp>
          <p:nvSpPr>
            <p:cNvPr id="20" name="Freeform 20"/>
            <p:cNvSpPr/>
            <p:nvPr/>
          </p:nvSpPr>
          <p:spPr>
            <a:xfrm>
              <a:off x="606270" y="5676444"/>
              <a:ext cx="3404268" cy="53714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348856" y="5726927"/>
              <a:ext cx="1919096" cy="436175"/>
              <a:chOff x="1348856" y="5726927"/>
              <a:chExt cx="1919096" cy="43617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348856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348856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26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因果操控</a:t>
                </a:r>
              </a:p>
            </p:txBody>
          </p:sp>
        </p:grpSp>
      </p:grpSp>
      <p:grpSp>
        <p:nvGrpSpPr>
          <p:cNvPr id="31" name="EasySlides Component: evidence_2"/>
          <p:cNvGrpSpPr/>
          <p:nvPr/>
        </p:nvGrpSpPr>
        <p:grpSpPr>
          <a:xfrm>
            <a:off x="4337022" y="3828168"/>
            <a:ext cx="3404268" cy="2385418"/>
            <a:chOff x="4337022" y="3828168"/>
            <a:chExt cx="3404268" cy="2385418"/>
          </a:xfrm>
        </p:grpSpPr>
        <p:sp>
          <p:nvSpPr>
            <p:cNvPr id="25" name="Polygon 25"/>
            <p:cNvSpPr/>
            <p:nvPr/>
          </p:nvSpPr>
          <p:spPr>
            <a:xfrm>
              <a:off x="4337022" y="3828168"/>
              <a:ext cx="3404268" cy="2382807"/>
            </a:xfrm>
            <a:custGeom>
              <a:avLst/>
              <a:gdLst/>
              <a:ahLst/>
              <a:cxnLst/>
              <a:rect l="l" t="t" r="r" b="b"/>
              <a:pathLst>
                <a:path w="3404268" h="2382807">
                  <a:moveTo>
                    <a:pt x="0" y="0"/>
                  </a:moveTo>
                  <a:lnTo>
                    <a:pt x="3404268" y="0"/>
                  </a:lnTo>
                  <a:lnTo>
                    <a:pt x="3404268" y="1191359"/>
                  </a:lnTo>
                  <a:lnTo>
                    <a:pt x="3404268" y="2382807"/>
                  </a:lnTo>
                  <a:lnTo>
                    <a:pt x="0" y="2382807"/>
                  </a:lnTo>
                  <a:close/>
                </a:path>
              </a:pathLst>
            </a:cu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7843" y="3999867"/>
              <a:ext cx="3102626" cy="2067127"/>
            </a:xfrm>
            <a:prstGeom prst="rect">
              <a:avLst/>
            </a:prstGeom>
          </p:spPr>
        </p:pic>
        <p:sp>
          <p:nvSpPr>
            <p:cNvPr id="27" name="Freeform 27"/>
            <p:cNvSpPr/>
            <p:nvPr/>
          </p:nvSpPr>
          <p:spPr>
            <a:xfrm>
              <a:off x="4337022" y="5676444"/>
              <a:ext cx="3404268" cy="53714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079608" y="5726927"/>
              <a:ext cx="1919096" cy="436175"/>
              <a:chOff x="5079608" y="5726927"/>
              <a:chExt cx="1919096" cy="4361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079608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079608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26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跨层读出</a:t>
                </a:r>
              </a:p>
            </p:txBody>
          </p:sp>
        </p:grpSp>
      </p:grpSp>
      <p:grpSp>
        <p:nvGrpSpPr>
          <p:cNvPr id="38" name="EasySlides Component: evidence_3"/>
          <p:cNvGrpSpPr/>
          <p:nvPr/>
        </p:nvGrpSpPr>
        <p:grpSpPr>
          <a:xfrm>
            <a:off x="8067774" y="3828168"/>
            <a:ext cx="3404268" cy="2385418"/>
            <a:chOff x="8067774" y="3828168"/>
            <a:chExt cx="3404268" cy="2385418"/>
          </a:xfrm>
        </p:grpSpPr>
        <p:sp>
          <p:nvSpPr>
            <p:cNvPr id="32" name="Polygon 32"/>
            <p:cNvSpPr/>
            <p:nvPr/>
          </p:nvSpPr>
          <p:spPr>
            <a:xfrm>
              <a:off x="8067774" y="3828168"/>
              <a:ext cx="3404268" cy="2382807"/>
            </a:xfrm>
            <a:custGeom>
              <a:avLst/>
              <a:gdLst/>
              <a:ahLst/>
              <a:cxnLst/>
              <a:rect l="l" t="t" r="r" b="b"/>
              <a:pathLst>
                <a:path w="3404268" h="2382807">
                  <a:moveTo>
                    <a:pt x="0" y="0"/>
                  </a:moveTo>
                  <a:lnTo>
                    <a:pt x="3404268" y="0"/>
                  </a:lnTo>
                  <a:lnTo>
                    <a:pt x="3404268" y="1191359"/>
                  </a:lnTo>
                  <a:lnTo>
                    <a:pt x="3404268" y="2382807"/>
                  </a:lnTo>
                  <a:lnTo>
                    <a:pt x="0" y="2382807"/>
                  </a:lnTo>
                  <a:close/>
                </a:path>
              </a:pathLst>
            </a:custGeom>
            <a:gradFill>
              <a:gsLst>
                <a:gs pos="0">
                  <a:srgbClr val="F8EAFC"/>
                </a:gs>
                <a:gs pos="100000">
                  <a:srgbClr val="F2F2F2">
                    <a:alpha val="0"/>
                  </a:srgbClr>
                </a:gs>
              </a:gsLst>
              <a:lin ang="5400000" scaled="1"/>
            </a:gra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</p:spPr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18595" y="3999867"/>
              <a:ext cx="3102626" cy="2067127"/>
            </a:xfrm>
            <a:prstGeom prst="rect">
              <a:avLst/>
            </a:prstGeom>
          </p:spPr>
        </p:pic>
        <p:sp>
          <p:nvSpPr>
            <p:cNvPr id="34" name="Freeform 34"/>
            <p:cNvSpPr/>
            <p:nvPr/>
          </p:nvSpPr>
          <p:spPr>
            <a:xfrm>
              <a:off x="8067774" y="5676444"/>
              <a:ext cx="3404268" cy="53714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5149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810360" y="5726927"/>
              <a:ext cx="1919096" cy="436175"/>
              <a:chOff x="8810360" y="5726927"/>
              <a:chExt cx="1919096" cy="436175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810360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810360" y="5726927"/>
                <a:ext cx="1919096" cy="436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26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听损模型</a:t>
                </a:r>
              </a:p>
            </p:txBody>
          </p:sp>
        </p:grpSp>
      </p:grpSp>
      <p:grpSp>
        <p:nvGrpSpPr>
          <p:cNvPr id="55" name="EasySlides Component: relationship"/>
          <p:cNvGrpSpPr/>
          <p:nvPr/>
        </p:nvGrpSpPr>
        <p:grpSpPr>
          <a:xfrm>
            <a:off x="2409596" y="2905658"/>
            <a:ext cx="7375325" cy="520776"/>
            <a:chOff x="2409596" y="2905658"/>
            <a:chExt cx="7375325" cy="520776"/>
          </a:xfrm>
        </p:grpSpPr>
        <p:grpSp>
          <p:nvGrpSpPr>
            <p:cNvPr id="54" name="Group 54"/>
            <p:cNvGrpSpPr/>
            <p:nvPr/>
          </p:nvGrpSpPr>
          <p:grpSpPr>
            <a:xfrm>
              <a:off x="2409596" y="2905658"/>
              <a:ext cx="7375325" cy="520776"/>
              <a:chOff x="2409596" y="2905658"/>
              <a:chExt cx="7375325" cy="520776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2409596" y="2905658"/>
                <a:ext cx="2189916" cy="520776"/>
                <a:chOff x="2409596" y="2905658"/>
                <a:chExt cx="2189916" cy="520776"/>
              </a:xfrm>
            </p:grpSpPr>
            <p:sp>
              <p:nvSpPr>
                <p:cNvPr id="39" name="Polygon 39"/>
                <p:cNvSpPr/>
                <p:nvPr/>
              </p:nvSpPr>
              <p:spPr>
                <a:xfrm>
                  <a:off x="2409596" y="2905658"/>
                  <a:ext cx="2189916" cy="52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916" h="520776">
                      <a:moveTo>
                        <a:pt x="0" y="0"/>
                      </a:moveTo>
                      <a:lnTo>
                        <a:pt x="2189916" y="0"/>
                      </a:lnTo>
                      <a:lnTo>
                        <a:pt x="2189916" y="260338"/>
                      </a:lnTo>
                      <a:lnTo>
                        <a:pt x="2189916" y="520776"/>
                      </a:lnTo>
                      <a:lnTo>
                        <a:pt x="0" y="52077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8EAFC"/>
                    </a:gs>
                    <a:gs pos="100000">
                      <a:srgbClr val="F2F2F2">
                        <a:alpha val="0"/>
                      </a:srgbClr>
                    </a:gs>
                  </a:gsLst>
                  <a:lin ang="5400000" scaled="1"/>
                </a:gradFill>
                <a:ln w="3172" cap="flat">
                  <a:solidFill>
                    <a:srgbClr val="751497">
                      <a:alpha val="50000"/>
                    </a:srgbClr>
                  </a:solidFill>
                  <a:miter lim="800000"/>
                </a:ln>
              </p:spPr>
            </p:sp>
            <p:grpSp>
              <p:nvGrpSpPr>
                <p:cNvPr id="42" name="Group 42"/>
                <p:cNvGrpSpPr/>
                <p:nvPr/>
              </p:nvGrpSpPr>
              <p:grpSpPr>
                <a:xfrm>
                  <a:off x="2565939" y="3003410"/>
                  <a:ext cx="1897565" cy="325271"/>
                  <a:chOff x="2565939" y="3003410"/>
                  <a:chExt cx="1897565" cy="325271"/>
                </a:xfrm>
              </p:grpSpPr>
              <p:sp>
                <p:nvSpPr>
                  <p:cNvPr id="40" name="Rectangle 40"/>
                  <p:cNvSpPr/>
                  <p:nvPr/>
                </p:nvSpPr>
                <p:spPr>
                  <a:xfrm>
                    <a:off x="2565939" y="3003410"/>
                    <a:ext cx="1897565" cy="325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2565939" y="3003410"/>
                    <a:ext cx="1897565" cy="325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l"/>
                    <a:r>
                      <a:rPr lang="zh-CN" sz="2114" dirty="0">
                        <a:solidFill>
                          <a:srgbClr val="06060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机制解析</a:t>
                    </a:r>
                  </a:p>
                </p:txBody>
              </p:sp>
            </p:grpSp>
          </p:grpSp>
          <p:grpSp>
            <p:nvGrpSpPr>
              <p:cNvPr id="48" name="Group 48"/>
              <p:cNvGrpSpPr/>
              <p:nvPr/>
            </p:nvGrpSpPr>
            <p:grpSpPr>
              <a:xfrm>
                <a:off x="5617305" y="2905658"/>
                <a:ext cx="4167616" cy="520776"/>
                <a:chOff x="5617305" y="2905658"/>
                <a:chExt cx="4167616" cy="520776"/>
              </a:xfrm>
            </p:grpSpPr>
            <p:sp>
              <p:nvSpPr>
                <p:cNvPr id="44" name="Polygon 44"/>
                <p:cNvSpPr/>
                <p:nvPr/>
              </p:nvSpPr>
              <p:spPr>
                <a:xfrm>
                  <a:off x="5617305" y="2905658"/>
                  <a:ext cx="4167616" cy="52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616" h="520776">
                      <a:moveTo>
                        <a:pt x="0" y="0"/>
                      </a:moveTo>
                      <a:lnTo>
                        <a:pt x="4167616" y="0"/>
                      </a:lnTo>
                      <a:lnTo>
                        <a:pt x="4167616" y="260338"/>
                      </a:lnTo>
                      <a:lnTo>
                        <a:pt x="4167616" y="520776"/>
                      </a:lnTo>
                      <a:lnTo>
                        <a:pt x="0" y="52077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8EAFC"/>
                    </a:gs>
                    <a:gs pos="100000">
                      <a:srgbClr val="F2F2F2">
                        <a:alpha val="0"/>
                      </a:srgbClr>
                    </a:gs>
                  </a:gsLst>
                  <a:lin ang="5400000" scaled="1"/>
                </a:gradFill>
                <a:ln w="3172" cap="flat">
                  <a:solidFill>
                    <a:srgbClr val="751497">
                      <a:alpha val="50000"/>
                    </a:srgbClr>
                  </a:solidFill>
                  <a:miter lim="800000"/>
                </a:ln>
              </p:spPr>
            </p:sp>
            <p:grpSp>
              <p:nvGrpSpPr>
                <p:cNvPr id="47" name="Group 47"/>
                <p:cNvGrpSpPr/>
                <p:nvPr/>
              </p:nvGrpSpPr>
              <p:grpSpPr>
                <a:xfrm>
                  <a:off x="5803548" y="3003410"/>
                  <a:ext cx="3795130" cy="325271"/>
                  <a:chOff x="5803548" y="3003410"/>
                  <a:chExt cx="3795130" cy="325271"/>
                </a:xfrm>
              </p:grpSpPr>
              <p:sp>
                <p:nvSpPr>
                  <p:cNvPr id="45" name="Rectangle 45"/>
                  <p:cNvSpPr/>
                  <p:nvPr/>
                </p:nvSpPr>
                <p:spPr>
                  <a:xfrm>
                    <a:off x="5803548" y="3003410"/>
                    <a:ext cx="3795130" cy="325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5803548" y="3003410"/>
                    <a:ext cx="3795130" cy="325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l"/>
                    <a:r>
                      <a:rPr lang="zh-CN" sz="2114" dirty="0">
                        <a:solidFill>
                          <a:srgbClr val="06060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疾病转化</a:t>
                    </a:r>
                  </a:p>
                </p:txBody>
              </p:sp>
            </p:grpSp>
          </p:grpSp>
          <p:grpSp>
            <p:nvGrpSpPr>
              <p:cNvPr id="53" name="Group 53"/>
              <p:cNvGrpSpPr/>
              <p:nvPr/>
            </p:nvGrpSpPr>
            <p:grpSpPr>
              <a:xfrm>
                <a:off x="4677130" y="3015592"/>
                <a:ext cx="862557" cy="300909"/>
                <a:chOff x="4677130" y="3015592"/>
                <a:chExt cx="862557" cy="300909"/>
              </a:xfrm>
            </p:grpSpPr>
            <p:sp>
              <p:nvSpPr>
                <p:cNvPr id="49" name="Line 49"/>
                <p:cNvSpPr/>
                <p:nvPr/>
              </p:nvSpPr>
              <p:spPr>
                <a:xfrm>
                  <a:off x="4677130" y="3316500"/>
                  <a:ext cx="862557" cy="1"/>
                </a:xfrm>
                <a:prstGeom prst="line">
                  <a:avLst/>
                </a:prstGeom>
                <a:noFill/>
                <a:ln w="25403">
                  <a:solidFill>
                    <a:srgbClr val="751497"/>
                  </a:solidFill>
                  <a:tailEnd type="triangle" w="lg" len="lg"/>
                </a:ln>
              </p:spPr>
            </p:sp>
            <p:grpSp>
              <p:nvGrpSpPr>
                <p:cNvPr id="52" name="Group 52"/>
                <p:cNvGrpSpPr/>
                <p:nvPr/>
              </p:nvGrpSpPr>
              <p:grpSpPr>
                <a:xfrm>
                  <a:off x="4864480" y="3015592"/>
                  <a:ext cx="487957" cy="292754"/>
                  <a:chOff x="4864480" y="3015592"/>
                  <a:chExt cx="487957" cy="292754"/>
                </a:xfrm>
              </p:grpSpPr>
              <p:sp>
                <p:nvSpPr>
                  <p:cNvPr id="50" name="Rectangle 50"/>
                  <p:cNvSpPr/>
                  <p:nvPr/>
                </p:nvSpPr>
                <p:spPr>
                  <a:xfrm>
                    <a:off x="4864480" y="3015592"/>
                    <a:ext cx="487957" cy="2927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4864480" y="3015592"/>
                    <a:ext cx="487957" cy="2927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902" dirty="0">
                        <a:solidFill>
                          <a:srgbClr val="751497"/>
                        </a:solidFill>
                        <a:latin typeface="思源黑体 CN Bold"/>
                        <a:ea typeface="Microsoft YaHei"/>
                        <a:cs typeface="思源黑体 CN Bold"/>
                      </a:rPr>
                      <a:t>贯通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70848" y="0"/>
            <a:ext cx="3121152" cy="754190"/>
            <a:chOff x="9070848" y="0"/>
            <a:chExt cx="3121152" cy="7541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31890" r="0" b="31890"/>
            <a:stretch>
              <a:fillRect/>
            </a:stretch>
          </p:blipFill>
          <p:spPr>
            <a:xfrm>
              <a:off x="9070848" y="0"/>
              <a:ext cx="3121152" cy="75419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192000" cy="754190"/>
            <a:chOff x="0" y="0"/>
            <a:chExt cx="12192000" cy="75419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754190"/>
            </a:xfrm>
            <a:prstGeom prst="rect">
              <a:avLst/>
            </a:prstGeom>
            <a:gradFill>
              <a:gsLst>
                <a:gs pos="75000">
                  <a:srgbClr val="751497"/>
                </a:gs>
                <a:gs pos="100000">
                  <a:srgbClr val="751497">
                    <a:alpha val="7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8332" y="66104"/>
            <a:ext cx="6032468" cy="646366"/>
            <a:chOff x="368332" y="66104"/>
            <a:chExt cx="6032468" cy="646366"/>
          </a:xfrm>
        </p:grpSpPr>
        <p:sp>
          <p:nvSpPr>
            <p:cNvPr id="6" name="Rectangle 6"/>
            <p:cNvSpPr/>
            <p:nvPr/>
          </p:nvSpPr>
          <p:spPr>
            <a:xfrm>
              <a:off x="368332" y="66104"/>
              <a:ext cx="3727323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5800" y="66104"/>
              <a:ext cx="5715000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思源黑体 CN Heavy"/>
                  <a:ea typeface="Microsoft YaHei"/>
                  <a:cs typeface="思源黑体 CN Heavy"/>
                </a:rPr>
                <a:t>研究基础与可行性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1171575"/>
            <a:ext cx="10572750" cy="323850"/>
            <a:chOff x="723900" y="1171575"/>
            <a:chExt cx="10572750" cy="323850"/>
          </a:xfrm>
        </p:grpSpPr>
        <p:sp>
          <p:nvSpPr>
            <p:cNvPr id="9" name="Rectangle 9"/>
            <p:cNvSpPr/>
            <p:nvPr/>
          </p:nvSpPr>
          <p:spPr>
            <a:xfrm>
              <a:off x="723900" y="1257300"/>
              <a:ext cx="152400" cy="152400"/>
            </a:xfrm>
            <a:prstGeom prst="rect">
              <a:avLst/>
            </a:prstGeom>
            <a:solidFill>
              <a:srgbClr val="06060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700" y="1171575"/>
              <a:ext cx="102679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060607"/>
                  </a:solidFill>
                  <a:latin typeface="Arial"/>
                  <a:ea typeface="Microsoft YaHei"/>
                  <a:cs typeface="Arial"/>
                </a:rPr>
                <a:t>已验证的行为范式、记录流程与独立终点共同支撑项目实施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0" y="643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200" b="1" dirty="0">
                <a:solidFill>
                  <a:srgbClr val="751497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27" name="EasySlides Component: grant_stack"/>
          <p:cNvGrpSpPr/>
          <p:nvPr/>
        </p:nvGrpSpPr>
        <p:grpSpPr>
          <a:xfrm>
            <a:off x="1604991" y="2251643"/>
            <a:ext cx="8982018" cy="3685370"/>
            <a:chOff x="1604991" y="2251643"/>
            <a:chExt cx="8982018" cy="3685370"/>
          </a:xfrm>
        </p:grpSpPr>
        <p:sp>
          <p:nvSpPr>
            <p:cNvPr id="13" name="Rectangle 13"/>
            <p:cNvSpPr/>
            <p:nvPr/>
          </p:nvSpPr>
          <p:spPr>
            <a:xfrm>
              <a:off x="1604991" y="2251643"/>
              <a:ext cx="8982019" cy="737074"/>
            </a:xfrm>
            <a:prstGeom prst="roundRect">
              <a:avLst>
                <a:gd name="adj" fmla="val 16279"/>
              </a:avLst>
            </a:prstGeom>
            <a:solidFill>
              <a:srgbClr val="751497"/>
            </a:solidFill>
            <a:ln w="9525">
              <a:solidFill>
                <a:srgbClr val="75149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47816" y="2371631"/>
              <a:ext cx="8296369" cy="4970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关键研究环节均已有可复用的范式、读出或独立终点基础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04991" y="3314401"/>
              <a:ext cx="8982019" cy="794497"/>
            </a:xfrm>
            <a:prstGeom prst="roundRect">
              <a:avLst>
                <a:gd name="adj" fmla="val 12945"/>
              </a:avLst>
            </a:prstGeom>
            <a:solidFill>
              <a:srgbClr val="FFFFFF"/>
            </a:solidFill>
            <a:ln w="9525">
              <a:solidFill>
                <a:srgbClr val="DEC4E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93544" y="3556949"/>
              <a:ext cx="308543" cy="308543"/>
            </a:xfrm>
            <a:prstGeom prst="roundRect">
              <a:avLst>
                <a:gd name="adj" fmla="val 50000"/>
              </a:avLst>
            </a:prstGeom>
            <a:solidFill>
              <a:srgbClr val="F8EAFC"/>
            </a:solidFill>
            <a:ln w="9525">
              <a:solidFill>
                <a:srgbClr val="D9B5E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8133" y="3646084"/>
              <a:ext cx="119365" cy="219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51497"/>
                  </a:solidFill>
                  <a:latin typeface="Aptos"/>
                  <a:ea typeface="Microsoft YaHei"/>
                  <a:cs typeface="Apto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07782" y="3382966"/>
              <a:ext cx="7919261" cy="6573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00" b="1" dirty="0">
                  <a:solidFill>
                    <a:srgbClr val="4A2C59"/>
                  </a:solidFill>
                  <a:latin typeface="Aptos"/>
                  <a:ea typeface="Microsoft YaHei"/>
                  <a:cs typeface="Aptos"/>
                </a:rPr>
                <a:t>行为基础：社会暴露与独立训练已形成稳定流程，可直接比较学习达标速度与正确率。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4991" y="4228887"/>
              <a:ext cx="8982019" cy="794497"/>
            </a:xfrm>
            <a:prstGeom prst="roundRect">
              <a:avLst>
                <a:gd name="adj" fmla="val 12945"/>
              </a:avLst>
            </a:prstGeom>
            <a:solidFill>
              <a:srgbClr val="FFFFFF"/>
            </a:solidFill>
            <a:ln w="9525">
              <a:solidFill>
                <a:srgbClr val="DEC4E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93544" y="4471435"/>
              <a:ext cx="308543" cy="308543"/>
            </a:xfrm>
            <a:prstGeom prst="roundRect">
              <a:avLst>
                <a:gd name="adj" fmla="val 50000"/>
              </a:avLst>
            </a:prstGeom>
            <a:solidFill>
              <a:srgbClr val="F8EAFC"/>
            </a:solidFill>
            <a:ln w="9525">
              <a:solidFill>
                <a:srgbClr val="D9B5E7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88133" y="4560570"/>
              <a:ext cx="119365" cy="219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51497"/>
                  </a:solidFill>
                  <a:latin typeface="Aptos"/>
                  <a:ea typeface="Microsoft YaHei"/>
                  <a:cs typeface="Apto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07782" y="4297452"/>
              <a:ext cx="7919261" cy="6573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00" b="1" dirty="0">
                  <a:solidFill>
                    <a:srgbClr val="4A2C59"/>
                  </a:solidFill>
                  <a:latin typeface="Aptos"/>
                  <a:ea typeface="Microsoft YaHei"/>
                  <a:cs typeface="Aptos"/>
                </a:rPr>
                <a:t>记录基础：听觉皮层活动与多巴胺信号已有成熟读出，可连接行为、神经与调制三个层次。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04991" y="5142516"/>
              <a:ext cx="8982019" cy="794497"/>
            </a:xfrm>
            <a:prstGeom prst="roundRect">
              <a:avLst>
                <a:gd name="adj" fmla="val 12945"/>
              </a:avLst>
            </a:prstGeom>
            <a:solidFill>
              <a:srgbClr val="FFFFFF"/>
            </a:solidFill>
            <a:ln w="9525">
              <a:solidFill>
                <a:srgbClr val="DEC4E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93544" y="5385922"/>
              <a:ext cx="308543" cy="308543"/>
            </a:xfrm>
            <a:prstGeom prst="roundRect">
              <a:avLst>
                <a:gd name="adj" fmla="val 50000"/>
              </a:avLst>
            </a:prstGeom>
            <a:solidFill>
              <a:srgbClr val="F8EAFC"/>
            </a:solidFill>
            <a:ln w="9525">
              <a:solidFill>
                <a:srgbClr val="D9B5E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88133" y="5475056"/>
              <a:ext cx="119365" cy="219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51497"/>
                  </a:solidFill>
                  <a:latin typeface="Aptos"/>
                  <a:ea typeface="Microsoft YaHei"/>
                  <a:cs typeface="Apto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07782" y="5211081"/>
              <a:ext cx="7919261" cy="6573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00" b="1" dirty="0">
                  <a:solidFill>
                    <a:srgbClr val="4A2C59"/>
                  </a:solidFill>
                  <a:latin typeface="Aptos"/>
                  <a:ea typeface="Microsoft YaHei"/>
                  <a:cs typeface="Aptos"/>
                </a:rPr>
                <a:t>实施基础：三项研究均保留独立行为终点，风险环节可在分 Aim 的框架内单独判定。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70848" y="0"/>
            <a:ext cx="3121152" cy="754190"/>
            <a:chOff x="9070848" y="0"/>
            <a:chExt cx="3121152" cy="7541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31890" r="0" b="31890"/>
            <a:stretch>
              <a:fillRect/>
            </a:stretch>
          </p:blipFill>
          <p:spPr>
            <a:xfrm>
              <a:off x="9070848" y="0"/>
              <a:ext cx="3121152" cy="75419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0"/>
            <a:ext cx="12192000" cy="754190"/>
            <a:chOff x="0" y="0"/>
            <a:chExt cx="12192000" cy="75419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754190"/>
            </a:xfrm>
            <a:prstGeom prst="rect">
              <a:avLst/>
            </a:prstGeom>
            <a:gradFill>
              <a:gsLst>
                <a:gs pos="75000">
                  <a:srgbClr val="751497"/>
                </a:gs>
                <a:gs pos="100000">
                  <a:srgbClr val="751497">
                    <a:alpha val="7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68332" y="66104"/>
            <a:ext cx="6032468" cy="646366"/>
            <a:chOff x="368332" y="66104"/>
            <a:chExt cx="6032468" cy="646366"/>
          </a:xfrm>
        </p:grpSpPr>
        <p:sp>
          <p:nvSpPr>
            <p:cNvPr id="6" name="Rectangle 6"/>
            <p:cNvSpPr/>
            <p:nvPr/>
          </p:nvSpPr>
          <p:spPr>
            <a:xfrm>
              <a:off x="368332" y="66104"/>
              <a:ext cx="3727323" cy="64636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5800" y="66104"/>
              <a:ext cx="5715000" cy="646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3600" dirty="0">
                  <a:solidFill>
                    <a:srgbClr val="FFFFFF"/>
                  </a:solidFill>
                  <a:latin typeface="思源黑体 CN Heavy"/>
                  <a:ea typeface="Microsoft YaHei"/>
                  <a:cs typeface="思源黑体 CN Heavy"/>
                </a:rPr>
                <a:t>年度计划与预期成果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1171575"/>
            <a:ext cx="10572750" cy="323850"/>
            <a:chOff x="723900" y="1171575"/>
            <a:chExt cx="10572750" cy="323850"/>
          </a:xfrm>
        </p:grpSpPr>
        <p:sp>
          <p:nvSpPr>
            <p:cNvPr id="9" name="Rectangle 9"/>
            <p:cNvSpPr/>
            <p:nvPr/>
          </p:nvSpPr>
          <p:spPr>
            <a:xfrm>
              <a:off x="723900" y="1257300"/>
              <a:ext cx="152400" cy="152400"/>
            </a:xfrm>
            <a:prstGeom prst="rect">
              <a:avLst/>
            </a:prstGeom>
            <a:solidFill>
              <a:srgbClr val="06060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8700" y="1171575"/>
              <a:ext cx="102679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060607"/>
                  </a:solidFill>
                  <a:latin typeface="Arial"/>
                  <a:ea typeface="Microsoft YaHei"/>
                  <a:cs typeface="Arial"/>
                </a:rPr>
                <a:t>三年实施以因果验证、机制解析和听损转化逐步形成可审查成果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972800" y="6438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200" b="1" dirty="0">
                <a:solidFill>
                  <a:srgbClr val="751497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17" name="EasySlides Component: statement"/>
          <p:cNvGrpSpPr/>
          <p:nvPr/>
        </p:nvGrpSpPr>
        <p:grpSpPr>
          <a:xfrm>
            <a:off x="1337698" y="1943100"/>
            <a:ext cx="9509899" cy="653317"/>
            <a:chOff x="1337698" y="1943100"/>
            <a:chExt cx="9509899" cy="653317"/>
          </a:xfrm>
        </p:grpSpPr>
        <p:sp>
          <p:nvSpPr>
            <p:cNvPr id="13" name="Rectangle 13"/>
            <p:cNvSpPr/>
            <p:nvPr/>
          </p:nvSpPr>
          <p:spPr>
            <a:xfrm>
              <a:off x="1337698" y="1943100"/>
              <a:ext cx="9509899" cy="653317"/>
            </a:xfrm>
            <a:prstGeom prst="rect">
              <a:avLst/>
            </a:prstGeom>
            <a:solidFill>
              <a:srgbClr val="FFFFFF"/>
            </a:solidFill>
            <a:ln w="3172" cap="flat">
              <a:solidFill>
                <a:srgbClr val="751497">
                  <a:alpha val="50000"/>
                </a:srgbClr>
              </a:solidFill>
              <a:miter lim="800000"/>
            </a:ln>
            <a:effectLst>
              <a:outerShdw blurRad="50864" dist="38100" dir="5400000" algn="ctr" rotWithShape="0">
                <a:srgbClr val="751497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2416597" y="2046587"/>
              <a:ext cx="8379377" cy="443758"/>
              <a:chOff x="2416597" y="2046587"/>
              <a:chExt cx="8379377" cy="443758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416597" y="2046587"/>
                <a:ext cx="8379378" cy="44375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416597" y="2046587"/>
                <a:ext cx="8379378" cy="4437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l"/>
                <a:r>
                  <a:rPr lang="zh-CN" sz="2800" dirty="0">
                    <a:solidFill>
                      <a:srgbClr val="060607"/>
                    </a:solidFill>
                    <a:latin typeface="思源黑体 CN Bold"/>
                    <a:ea typeface="Microsoft YaHei"/>
                    <a:cs typeface="思源黑体 CN Bold"/>
                  </a:rPr>
                  <a:t>年度计划按问题验证、机制解析与转化边界逐年推进</a:t>
                </a:r>
              </a:p>
            </p:txBody>
          </p:sp>
        </p:grpSp>
      </p:grpSp>
      <p:grpSp>
        <p:nvGrpSpPr>
          <p:cNvPr id="94" name="EasySlides Component: matrix"/>
          <p:cNvGrpSpPr/>
          <p:nvPr/>
        </p:nvGrpSpPr>
        <p:grpSpPr>
          <a:xfrm>
            <a:off x="606526" y="3133857"/>
            <a:ext cx="10977295" cy="2677251"/>
            <a:chOff x="606526" y="3133857"/>
            <a:chExt cx="10977295" cy="2677251"/>
          </a:xfrm>
        </p:grpSpPr>
        <p:grpSp>
          <p:nvGrpSpPr>
            <p:cNvPr id="93" name="Group 93"/>
            <p:cNvGrpSpPr/>
            <p:nvPr/>
          </p:nvGrpSpPr>
          <p:grpSpPr>
            <a:xfrm>
              <a:off x="606526" y="3133857"/>
              <a:ext cx="10977295" cy="2677251"/>
              <a:chOff x="606526" y="3133857"/>
              <a:chExt cx="10977295" cy="2677251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09600" y="3133857"/>
                <a:ext cx="1649832" cy="451673"/>
              </a:xfrm>
              <a:prstGeom prst="rect">
                <a:avLst/>
              </a:prstGeom>
              <a:gradFill>
                <a:gsLst>
                  <a:gs pos="75000">
                    <a:srgbClr val="751497"/>
                  </a:gs>
                  <a:gs pos="18000">
                    <a:srgbClr val="8116A6"/>
                  </a:gs>
                </a:gsLst>
                <a:lin ang="18900000" scaled="1"/>
              </a:gra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259432" y="3133857"/>
                <a:ext cx="5214129" cy="451673"/>
              </a:xfrm>
              <a:prstGeom prst="rect">
                <a:avLst/>
              </a:prstGeom>
              <a:gradFill>
                <a:gsLst>
                  <a:gs pos="75000">
                    <a:srgbClr val="751497"/>
                  </a:gs>
                  <a:gs pos="18000">
                    <a:srgbClr val="8116A6"/>
                  </a:gs>
                </a:gsLst>
                <a:lin ang="18900000" scaled="1"/>
              </a:gra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473561" y="3133857"/>
                <a:ext cx="4100735" cy="451673"/>
              </a:xfrm>
              <a:prstGeom prst="rect">
                <a:avLst/>
              </a:prstGeom>
              <a:gradFill>
                <a:gsLst>
                  <a:gs pos="75000">
                    <a:srgbClr val="751497"/>
                  </a:gs>
                  <a:gs pos="18000">
                    <a:srgbClr val="8116A6"/>
                  </a:gs>
                </a:gsLst>
                <a:lin ang="18900000" scaled="1"/>
              </a:gra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09600" y="3585530"/>
                <a:ext cx="1649832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259432" y="3585530"/>
                <a:ext cx="5214129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7473561" y="3585530"/>
                <a:ext cx="4100735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" y="4141901"/>
                <a:ext cx="1649832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2259432" y="4141901"/>
                <a:ext cx="5214129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7473561" y="4141901"/>
                <a:ext cx="4100735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09600" y="4698366"/>
                <a:ext cx="1649832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259432" y="4698366"/>
                <a:ext cx="5214129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473561" y="4698366"/>
                <a:ext cx="4100735" cy="556371"/>
              </a:xfrm>
              <a:prstGeom prst="rect">
                <a:avLst/>
              </a:prstGeom>
              <a:solidFill>
                <a:srgbClr val="F3F3F7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09600" y="5254737"/>
                <a:ext cx="1649832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2259432" y="5254737"/>
                <a:ext cx="9314864" cy="5563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06526" y="3133857"/>
                <a:ext cx="1652906" cy="451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34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阶段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259432" y="3133857"/>
                <a:ext cx="5214129" cy="451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34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主要工作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473561" y="3133857"/>
                <a:ext cx="4100735" cy="451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2347" dirty="0">
                    <a:solidFill>
                      <a:srgbClr val="FFFFFF"/>
                    </a:solidFill>
                    <a:latin typeface="思源黑体 CN Bold"/>
                    <a:ea typeface="Microsoft YaHei"/>
                    <a:cs typeface="思源黑体 CN Bold"/>
                  </a:rPr>
                  <a:t>预期产出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6526" y="3585530"/>
                <a:ext cx="1652906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第 1 年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259432" y="3585530"/>
                <a:ext cx="5214129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完成 Aim 1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473561" y="3585530"/>
                <a:ext cx="4100735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因果行为证据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6526" y="4141901"/>
                <a:ext cx="1652906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第 2 年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259432" y="4141901"/>
                <a:ext cx="5214129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完成 Aim 2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473561" y="4141901"/>
                <a:ext cx="4100735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262626"/>
                    </a:solidFill>
                    <a:latin typeface="思源黑体 CN Bold"/>
                    <a:ea typeface="Microsoft YaHei"/>
                    <a:cs typeface="思源黑体 CN Bold"/>
                  </a:rPr>
                  <a:t>编码与 DA 数据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06526" y="4698366"/>
                <a:ext cx="1652906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第 3 年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259432" y="4698366"/>
                <a:ext cx="5214129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完成 Aim 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473561" y="4698366"/>
                <a:ext cx="4100735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C00000"/>
                    </a:solidFill>
                    <a:latin typeface="思源黑体 CN Bold"/>
                    <a:ea typeface="Microsoft YaHei"/>
                    <a:cs typeface="思源黑体 CN Bold"/>
                  </a:rPr>
                  <a:t>补偿边界与论文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06526" y="5254737"/>
                <a:ext cx="1652906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000000"/>
                    </a:solidFill>
                    <a:latin typeface="思源黑体 CN Bold"/>
                    <a:ea typeface="Microsoft YaHei"/>
                    <a:cs typeface="思源黑体 CN Bold"/>
                  </a:rPr>
                  <a:t>验收指标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259432" y="5254737"/>
                <a:ext cx="9314864" cy="556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956" dirty="0">
                    <a:solidFill>
                      <a:srgbClr val="000000"/>
                    </a:solidFill>
                    <a:latin typeface="思源黑体 CN Bold"/>
                    <a:ea typeface="Microsoft YaHei"/>
                    <a:cs typeface="思源黑体 CN Bold"/>
                  </a:rPr>
                  <a:t>可审查成果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606526" y="3133857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2259432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606526" y="3585530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606526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2259432" y="3133857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7473561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2259432" y="3585530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2259432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7473561" y="3133857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11574296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7473561" y="3585530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7473561" y="3133857"/>
                <a:ext cx="9525" cy="45167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1673">
                    <a:moveTo>
                      <a:pt x="0" y="0"/>
                    </a:moveTo>
                    <a:lnTo>
                      <a:pt x="0" y="451673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606526" y="3585530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2259432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06526" y="4141901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606526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2259432" y="3585530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7473561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2259432" y="4141901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2259432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7473561" y="3585530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11574296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7473561" y="4141901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69" name="Line 69"/>
              <p:cNvSpPr/>
              <p:nvPr/>
            </p:nvSpPr>
            <p:spPr>
              <a:xfrm>
                <a:off x="7473561" y="3585530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70" name="Line 70"/>
              <p:cNvSpPr/>
              <p:nvPr/>
            </p:nvSpPr>
            <p:spPr>
              <a:xfrm>
                <a:off x="606526" y="4141901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1" name="Line 71"/>
              <p:cNvSpPr/>
              <p:nvPr/>
            </p:nvSpPr>
            <p:spPr>
              <a:xfrm>
                <a:off x="2259432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606526" y="4698366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606526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2259432" y="4141901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7473561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2259432" y="4698366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7" name="Line 77"/>
              <p:cNvSpPr/>
              <p:nvPr/>
            </p:nvSpPr>
            <p:spPr>
              <a:xfrm>
                <a:off x="2259432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78" name="Line 78"/>
              <p:cNvSpPr/>
              <p:nvPr/>
            </p:nvSpPr>
            <p:spPr>
              <a:xfrm>
                <a:off x="7473561" y="4141901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79" name="Line 79"/>
              <p:cNvSpPr/>
              <p:nvPr/>
            </p:nvSpPr>
            <p:spPr>
              <a:xfrm>
                <a:off x="11574296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0" name="Line 80"/>
              <p:cNvSpPr/>
              <p:nvPr/>
            </p:nvSpPr>
            <p:spPr>
              <a:xfrm>
                <a:off x="7473561" y="4698366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1" name="Line 81"/>
              <p:cNvSpPr/>
              <p:nvPr/>
            </p:nvSpPr>
            <p:spPr>
              <a:xfrm>
                <a:off x="7473561" y="4141901"/>
                <a:ext cx="9525" cy="5564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464">
                    <a:moveTo>
                      <a:pt x="0" y="0"/>
                    </a:moveTo>
                    <a:lnTo>
                      <a:pt x="0" y="556464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82" name="Line 82"/>
              <p:cNvSpPr/>
              <p:nvPr/>
            </p:nvSpPr>
            <p:spPr>
              <a:xfrm>
                <a:off x="606526" y="4698366"/>
                <a:ext cx="1652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2906" h="9525">
                    <a:moveTo>
                      <a:pt x="0" y="0"/>
                    </a:moveTo>
                    <a:lnTo>
                      <a:pt x="1652906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3" name="Line 83"/>
              <p:cNvSpPr/>
              <p:nvPr/>
            </p:nvSpPr>
            <p:spPr>
              <a:xfrm>
                <a:off x="2259432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84" name="Line 84"/>
              <p:cNvSpPr/>
              <p:nvPr/>
            </p:nvSpPr>
            <p:spPr>
              <a:xfrm>
                <a:off x="606526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5" name="Line 85"/>
              <p:cNvSpPr/>
              <p:nvPr/>
            </p:nvSpPr>
            <p:spPr>
              <a:xfrm>
                <a:off x="2259432" y="4698366"/>
                <a:ext cx="52141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14129" h="9525">
                    <a:moveTo>
                      <a:pt x="0" y="0"/>
                    </a:moveTo>
                    <a:lnTo>
                      <a:pt x="5214129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6" name="Line 86"/>
              <p:cNvSpPr/>
              <p:nvPr/>
            </p:nvSpPr>
            <p:spPr>
              <a:xfrm>
                <a:off x="7473561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87" name="Line 87"/>
              <p:cNvSpPr/>
              <p:nvPr/>
            </p:nvSpPr>
            <p:spPr>
              <a:xfrm>
                <a:off x="2259432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88" name="Line 88"/>
              <p:cNvSpPr/>
              <p:nvPr/>
            </p:nvSpPr>
            <p:spPr>
              <a:xfrm>
                <a:off x="7473561" y="4698366"/>
                <a:ext cx="410073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00735" h="9525">
                    <a:moveTo>
                      <a:pt x="0" y="0"/>
                    </a:moveTo>
                    <a:lnTo>
                      <a:pt x="4100735" y="0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89" name="Line 89"/>
              <p:cNvSpPr/>
              <p:nvPr/>
            </p:nvSpPr>
            <p:spPr>
              <a:xfrm>
                <a:off x="11574296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6353" cap="flat">
                <a:solidFill>
                  <a:srgbClr val="CECEDC"/>
                </a:solidFill>
                <a:round/>
              </a:ln>
            </p:spPr>
          </p:sp>
          <p:sp>
            <p:nvSpPr>
              <p:cNvPr id="90" name="Line 90"/>
              <p:cNvSpPr/>
              <p:nvPr/>
            </p:nvSpPr>
            <p:spPr>
              <a:xfrm>
                <a:off x="7473561" y="4698366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91" name="Line 91"/>
              <p:cNvSpPr/>
              <p:nvPr/>
            </p:nvSpPr>
            <p:spPr>
              <a:xfrm>
                <a:off x="2259432" y="5254737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  <p:sp>
            <p:nvSpPr>
              <p:cNvPr id="92" name="Line 92"/>
              <p:cNvSpPr/>
              <p:nvPr/>
            </p:nvSpPr>
            <p:spPr>
              <a:xfrm>
                <a:off x="2259432" y="5254737"/>
                <a:ext cx="9525" cy="55637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6371">
                    <a:moveTo>
                      <a:pt x="0" y="0"/>
                    </a:moveTo>
                    <a:lnTo>
                      <a:pt x="0" y="556371"/>
                    </a:lnTo>
                  </a:path>
                </a:pathLst>
              </a:custGeom>
              <a:noFill/>
              <a:ln w="12697" cap="flat">
                <a:solidFill>
                  <a:srgbClr val="D9D9D9"/>
                </a:solidFill>
                <a:round/>
              </a:ln>
            </p:spPr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143" y="2574608"/>
            <a:ext cx="12185714" cy="4283392"/>
            <a:chOff x="3143" y="2574608"/>
            <a:chExt cx="12185714" cy="4283392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0" r="37" b="6174"/>
            <a:stretch>
              <a:fillRect/>
            </a:stretch>
          </p:blipFill>
          <p:spPr>
            <a:xfrm>
              <a:off x="3143" y="2574608"/>
              <a:ext cx="12185714" cy="4283392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3143" y="-38100"/>
            <a:ext cx="12185714" cy="6890766"/>
            <a:chOff x="3143" y="-38100"/>
            <a:chExt cx="12185714" cy="6890766"/>
          </a:xfrm>
        </p:grpSpPr>
        <p:sp>
          <p:nvSpPr>
            <p:cNvPr id="4" name="Rectangle 4"/>
            <p:cNvSpPr/>
            <p:nvPr/>
          </p:nvSpPr>
          <p:spPr>
            <a:xfrm>
              <a:off x="3143" y="-38100"/>
              <a:ext cx="12185714" cy="6890766"/>
            </a:xfrm>
            <a:prstGeom prst="rect">
              <a:avLst/>
            </a:prstGeom>
            <a:gradFill>
              <a:gsLst>
                <a:gs pos="65000">
                  <a:srgbClr val="751497"/>
                </a:gs>
                <a:gs pos="100000">
                  <a:srgbClr val="751497">
                    <a:alpha val="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50864" dist="38100" dir="5400000" algn="ctr" rotWithShape="0">
                <a:srgbClr val="751497">
                  <a:alpha val="15000"/>
                </a:srgbClr>
              </a:outerShdw>
            </a:effectLst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>
              <a:alphaModFix amt="22000"/>
            </a:blip>
            <a:srcRect l="20549" t="0" r="0" b="21428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0601325" y="334137"/>
            <a:ext cx="1507712" cy="1320927"/>
            <a:chOff x="10601325" y="334137"/>
            <a:chExt cx="1507712" cy="1320927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0601325" y="334137"/>
              <a:ext cx="1507712" cy="132092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627507" y="1767650"/>
            <a:ext cx="634651" cy="470344"/>
            <a:chOff x="627507" y="1767650"/>
            <a:chExt cx="634651" cy="470344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5"/>
            <a:srcRect l="44795" t="17124" r="6734" b="41869"/>
            <a:stretch>
              <a:fillRect/>
            </a:stretch>
          </p:blipFill>
          <p:spPr>
            <a:xfrm>
              <a:off x="627507" y="1767650"/>
              <a:ext cx="634651" cy="470344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0" y="0"/>
            <a:ext cx="4706398" cy="6859238"/>
            <a:chOff x="0" y="0"/>
            <a:chExt cx="4706398" cy="6859238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4706398" cy="6859238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-3947520" y="3441845"/>
            <a:ext cx="19791622" cy="6029410"/>
            <a:chOff x="-3947520" y="3441845"/>
            <a:chExt cx="19791622" cy="602941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61600">
              <a:off x="3254969" y="4579113"/>
              <a:ext cx="8995505" cy="4188523"/>
            </a:xfrm>
            <a:prstGeom prst="rect">
              <a:avLst/>
            </a:prstGeom>
          </p:spPr>
        </p:pic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627600">
              <a:off x="-3677752" y="4336729"/>
              <a:ext cx="10215944" cy="3906964"/>
            </a:xfrm>
            <a:prstGeom prst="rect">
              <a:avLst/>
            </a:prstGeom>
          </p:spPr>
        </p:pic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200">
              <a:off x="6848046" y="4647534"/>
              <a:ext cx="8995505" cy="315449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437132" y="1221581"/>
            <a:ext cx="9317736" cy="2800731"/>
            <a:chOff x="1437132" y="1221581"/>
            <a:chExt cx="9317736" cy="2800731"/>
          </a:xfrm>
        </p:grpSpPr>
        <p:sp>
          <p:nvSpPr>
            <p:cNvPr id="18" name="Rectangle 18"/>
            <p:cNvSpPr/>
            <p:nvPr/>
          </p:nvSpPr>
          <p:spPr>
            <a:xfrm>
              <a:off x="1437132" y="1221581"/>
              <a:ext cx="9317736" cy="280073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48000" y="1714500"/>
              <a:ext cx="609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5700" b="1" dirty="0">
                  <a:solidFill>
                    <a:srgbClr val="FFFFFF"/>
                  </a:solidFill>
                  <a:latin typeface="思源宋体 CN Heavy"/>
                  <a:ea typeface="Microsoft YaHei"/>
                  <a:cs typeface="思源宋体 CN Heavy"/>
                </a:rPr>
                <a:t>敬请批评指正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33703" y="4403122"/>
            <a:ext cx="9324594" cy="422148"/>
            <a:chOff x="1433703" y="4403122"/>
            <a:chExt cx="9324594" cy="422148"/>
          </a:xfrm>
        </p:grpSpPr>
        <p:grpSp>
          <p:nvGrpSpPr>
            <p:cNvPr id="30" name="Group 30"/>
            <p:cNvGrpSpPr/>
            <p:nvPr/>
          </p:nvGrpSpPr>
          <p:grpSpPr>
            <a:xfrm>
              <a:off x="1433703" y="4403122"/>
              <a:ext cx="2438686" cy="422148"/>
              <a:chOff x="1433703" y="4403122"/>
              <a:chExt cx="2438686" cy="422148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2155222" y="4403122"/>
                <a:ext cx="1717167" cy="4221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751497"/>
                </a:solidFill>
              </a:ln>
              <a:effectLst>
                <a:outerShdw blurRad="50864" dist="38100" dir="5400000" algn="ctr" rotWithShape="0">
                  <a:srgbClr val="751497">
                    <a:alpha val="30000"/>
                  </a:srgbClr>
                </a:outerShdw>
              </a:effectLst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433703" y="4403122"/>
                <a:ext cx="1211008" cy="422148"/>
                <a:chOff x="1433703" y="4403122"/>
                <a:chExt cx="1211008" cy="422148"/>
              </a:xfrm>
            </p:grpSpPr>
            <p:sp>
              <p:nvSpPr>
                <p:cNvPr id="22" name="Rectangle 22"/>
                <p:cNvSpPr/>
                <p:nvPr/>
              </p:nvSpPr>
              <p:spPr>
                <a:xfrm>
                  <a:off x="1433703" y="4403122"/>
                  <a:ext cx="1211008" cy="422148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BF4BE7"/>
                    </a:gs>
                    <a:gs pos="45000">
                      <a:srgbClr val="751497"/>
                    </a:gs>
                  </a:gsLst>
                  <a:lin ang="2700000" scaled="1"/>
                </a:gradFill>
                <a:ln w="9525">
                  <a:solidFill>
                    <a:srgbClr val="FFFFFF"/>
                  </a:solidFill>
                </a:ln>
                <a:effectLst>
                  <a:outerShdw blurRad="50864" dist="38100" dir="5400000" algn="ctr" rotWithShape="0">
                    <a:srgbClr val="751497">
                      <a:alpha val="30000"/>
                    </a:srgbClr>
                  </a:outerShdw>
                </a:effectLst>
              </p:spPr>
            </p:sp>
            <p:grpSp>
              <p:nvGrpSpPr>
                <p:cNvPr id="25" name="Group 25"/>
                <p:cNvGrpSpPr/>
                <p:nvPr/>
              </p:nvGrpSpPr>
              <p:grpSpPr>
                <a:xfrm>
                  <a:off x="1524381" y="4444841"/>
                  <a:ext cx="1029652" cy="338518"/>
                  <a:chOff x="1524381" y="4444841"/>
                  <a:chExt cx="1029652" cy="338518"/>
                </a:xfrm>
              </p:grpSpPr>
              <p:sp>
                <p:nvSpPr>
                  <p:cNvPr id="23" name="Rectangle 23"/>
                  <p:cNvSpPr/>
                  <p:nvPr/>
                </p:nvSpPr>
                <p:spPr>
                  <a:xfrm>
                    <a:off x="1524381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1524381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600" dirty="0">
                        <a:solidFill>
                          <a:srgbClr val="FFFFFF"/>
                        </a:solidFill>
                        <a:latin typeface="思源宋体 CN Heavy"/>
                        <a:ea typeface="Microsoft YaHei"/>
                        <a:cs typeface="思源宋体 CN Heavy"/>
                      </a:rPr>
                      <a:t>汇报单位</a:t>
                    </a:r>
                  </a:p>
                </p:txBody>
              </p:sp>
            </p:grpSp>
          </p:grpSp>
          <p:grpSp>
            <p:nvGrpSpPr>
              <p:cNvPr id="29" name="Group 29"/>
              <p:cNvGrpSpPr/>
              <p:nvPr/>
            </p:nvGrpSpPr>
            <p:grpSpPr>
              <a:xfrm>
                <a:off x="2660237" y="4429506"/>
                <a:ext cx="1105186" cy="386429"/>
                <a:chOff x="2660237" y="4429506"/>
                <a:chExt cx="1105186" cy="386429"/>
              </a:xfrm>
            </p:grpSpPr>
            <p:sp>
              <p:nvSpPr>
                <p:cNvPr id="27" name="Rectangle 27"/>
                <p:cNvSpPr/>
                <p:nvPr/>
              </p:nvSpPr>
              <p:spPr>
                <a:xfrm>
                  <a:off x="2660237" y="4429506"/>
                  <a:ext cx="1105186" cy="386429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2660237" y="4429506"/>
                  <a:ext cx="1105186" cy="3864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norm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000000"/>
                      </a:solidFill>
                      <a:latin typeface="思源宋体 CN Heavy"/>
                      <a:ea typeface="Microsoft YaHei"/>
                      <a:cs typeface="思源宋体 CN Heavy"/>
                    </a:rPr>
                    <a:t>NIDCD</a:t>
                  </a:r>
                </a:p>
              </p:txBody>
            </p:sp>
          </p:grpSp>
        </p:grpSp>
        <p:grpSp>
          <p:nvGrpSpPr>
            <p:cNvPr id="40" name="Group 40"/>
            <p:cNvGrpSpPr/>
            <p:nvPr/>
          </p:nvGrpSpPr>
          <p:grpSpPr>
            <a:xfrm>
              <a:off x="4876705" y="4403122"/>
              <a:ext cx="2438590" cy="422148"/>
              <a:chOff x="4876705" y="4403122"/>
              <a:chExt cx="2438590" cy="422148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598128" y="4403122"/>
                <a:ext cx="1717167" cy="4221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751497"/>
                </a:solidFill>
              </a:ln>
              <a:effectLst>
                <a:outerShdw blurRad="50864" dist="38100" dir="5400000" algn="ctr" rotWithShape="0">
                  <a:srgbClr val="751497">
                    <a:alpha val="30000"/>
                  </a:srgbClr>
                </a:outerShdw>
              </a:effectLst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4876705" y="4403122"/>
                <a:ext cx="1211008" cy="422148"/>
                <a:chOff x="4876705" y="4403122"/>
                <a:chExt cx="1211008" cy="422148"/>
              </a:xfrm>
            </p:grpSpPr>
            <p:sp>
              <p:nvSpPr>
                <p:cNvPr id="32" name="Rectangle 32"/>
                <p:cNvSpPr/>
                <p:nvPr/>
              </p:nvSpPr>
              <p:spPr>
                <a:xfrm>
                  <a:off x="4876705" y="4403122"/>
                  <a:ext cx="1211008" cy="422148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BF4BE7"/>
                    </a:gs>
                    <a:gs pos="45000">
                      <a:srgbClr val="751497"/>
                    </a:gs>
                  </a:gsLst>
                  <a:lin ang="2700000" scaled="1"/>
                </a:gradFill>
                <a:ln w="9525">
                  <a:solidFill>
                    <a:srgbClr val="FFFFFF"/>
                  </a:solidFill>
                </a:ln>
                <a:effectLst>
                  <a:outerShdw blurRad="50864" dist="38100" dir="5400000" algn="ctr" rotWithShape="0">
                    <a:srgbClr val="751497">
                      <a:alpha val="30000"/>
                    </a:srgbClr>
                  </a:outerShdw>
                </a:effectLst>
              </p:spPr>
            </p:sp>
            <p:grpSp>
              <p:nvGrpSpPr>
                <p:cNvPr id="35" name="Group 35"/>
                <p:cNvGrpSpPr/>
                <p:nvPr/>
              </p:nvGrpSpPr>
              <p:grpSpPr>
                <a:xfrm>
                  <a:off x="4967383" y="4444841"/>
                  <a:ext cx="1029652" cy="338518"/>
                  <a:chOff x="4967383" y="4444841"/>
                  <a:chExt cx="1029652" cy="338518"/>
                </a:xfrm>
              </p:grpSpPr>
              <p:sp>
                <p:nvSpPr>
                  <p:cNvPr id="33" name="Rectangle 33"/>
                  <p:cNvSpPr/>
                  <p:nvPr/>
                </p:nvSpPr>
                <p:spPr>
                  <a:xfrm>
                    <a:off x="4967383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34" name="TextBox 34"/>
                  <p:cNvSpPr txBox="1"/>
                  <p:nvPr/>
                </p:nvSpPr>
                <p:spPr>
                  <a:xfrm>
                    <a:off x="4967383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600" dirty="0">
                        <a:solidFill>
                          <a:srgbClr val="FFFFFF"/>
                        </a:solidFill>
                        <a:latin typeface="思源宋体 CN Heavy"/>
                        <a:ea typeface="Microsoft YaHei"/>
                        <a:cs typeface="思源宋体 CN Heavy"/>
                      </a:rPr>
                      <a:t>汇报人</a:t>
                    </a:r>
                  </a:p>
                </p:txBody>
              </p:sp>
            </p:grpSp>
          </p:grpSp>
          <p:grpSp>
            <p:nvGrpSpPr>
              <p:cNvPr id="39" name="Group 39"/>
              <p:cNvGrpSpPr/>
              <p:nvPr/>
            </p:nvGrpSpPr>
            <p:grpSpPr>
              <a:xfrm>
                <a:off x="6103239" y="4429506"/>
                <a:ext cx="1105186" cy="369380"/>
                <a:chOff x="6103239" y="4429506"/>
                <a:chExt cx="1105186" cy="36938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6103239" y="4429506"/>
                  <a:ext cx="1105186" cy="369380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103239" y="4429506"/>
                  <a:ext cx="1105186" cy="369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norm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000000"/>
                      </a:solidFill>
                      <a:latin typeface="思源宋体 CN Heavy"/>
                      <a:ea typeface="Microsoft YaHei"/>
                      <a:cs typeface="思源宋体 CN Heavy"/>
                    </a:rPr>
                    <a:t>教学案例</a:t>
                  </a:r>
                </a:p>
              </p:txBody>
            </p:sp>
          </p:grpSp>
        </p:grpSp>
        <p:grpSp>
          <p:nvGrpSpPr>
            <p:cNvPr id="50" name="Group 50"/>
            <p:cNvGrpSpPr/>
            <p:nvPr/>
          </p:nvGrpSpPr>
          <p:grpSpPr>
            <a:xfrm>
              <a:off x="8319706" y="4403122"/>
              <a:ext cx="2438591" cy="422148"/>
              <a:chOff x="8319706" y="4403122"/>
              <a:chExt cx="2438591" cy="422148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9041130" y="4403122"/>
                <a:ext cx="1717167" cy="422148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751497"/>
                </a:solidFill>
              </a:ln>
              <a:effectLst>
                <a:outerShdw blurRad="50864" dist="38100" dir="5400000" algn="ctr" rotWithShape="0">
                  <a:srgbClr val="751497">
                    <a:alpha val="30000"/>
                  </a:srgbClr>
                </a:outerShdw>
              </a:effectLst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8319706" y="4403122"/>
                <a:ext cx="1211008" cy="422148"/>
                <a:chOff x="8319706" y="4403122"/>
                <a:chExt cx="1211008" cy="422148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8319706" y="4403122"/>
                  <a:ext cx="1211008" cy="422148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BF4BE7"/>
                    </a:gs>
                    <a:gs pos="45000">
                      <a:srgbClr val="751497"/>
                    </a:gs>
                  </a:gsLst>
                  <a:lin ang="2700000" scaled="1"/>
                </a:gradFill>
                <a:ln w="9525">
                  <a:solidFill>
                    <a:srgbClr val="FFFFFF"/>
                  </a:solidFill>
                </a:ln>
                <a:effectLst>
                  <a:outerShdw blurRad="50864" dist="38100" dir="5400000" algn="ctr" rotWithShape="0">
                    <a:srgbClr val="751497">
                      <a:alpha val="30000"/>
                    </a:srgbClr>
                  </a:outerShdw>
                </a:effectLst>
              </p:spPr>
            </p:sp>
            <p:grpSp>
              <p:nvGrpSpPr>
                <p:cNvPr id="45" name="Group 45"/>
                <p:cNvGrpSpPr/>
                <p:nvPr/>
              </p:nvGrpSpPr>
              <p:grpSpPr>
                <a:xfrm>
                  <a:off x="8410384" y="4444841"/>
                  <a:ext cx="1029652" cy="338518"/>
                  <a:chOff x="8410384" y="4444841"/>
                  <a:chExt cx="1029652" cy="338518"/>
                </a:xfrm>
              </p:grpSpPr>
              <p:sp>
                <p:nvSpPr>
                  <p:cNvPr id="43" name="Rectangle 43"/>
                  <p:cNvSpPr/>
                  <p:nvPr/>
                </p:nvSpPr>
                <p:spPr>
                  <a:xfrm>
                    <a:off x="8410384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sp>
              <p:sp>
                <p:nvSpPr>
                  <p:cNvPr id="44" name="TextBox 44"/>
                  <p:cNvSpPr txBox="1"/>
                  <p:nvPr/>
                </p:nvSpPr>
                <p:spPr>
                  <a:xfrm>
                    <a:off x="8410384" y="4444841"/>
                    <a:ext cx="1029652" cy="338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 anchorCtr="0">
                    <a:normAutofit/>
                  </a:bodyPr>
                  <a:lstStyle/>
                  <a:p>
                    <a:pPr algn="ctr"/>
                    <a:r>
                      <a:rPr lang="zh-CN" sz="1600" dirty="0">
                        <a:solidFill>
                          <a:srgbClr val="FFFFFF"/>
                        </a:solidFill>
                        <a:latin typeface="思源宋体 CN Heavy"/>
                        <a:ea typeface="Microsoft YaHei"/>
                        <a:cs typeface="思源宋体 CN Heavy"/>
                      </a:rPr>
                      <a:t>汇报时间</a:t>
                    </a:r>
                  </a:p>
                </p:txBody>
              </p:sp>
            </p:grpSp>
          </p:grpSp>
          <p:grpSp>
            <p:nvGrpSpPr>
              <p:cNvPr id="49" name="Group 49"/>
              <p:cNvGrpSpPr/>
              <p:nvPr/>
            </p:nvGrpSpPr>
            <p:grpSpPr>
              <a:xfrm>
                <a:off x="9546241" y="4429506"/>
                <a:ext cx="1105186" cy="369380"/>
                <a:chOff x="9546241" y="4429506"/>
                <a:chExt cx="1105186" cy="369380"/>
              </a:xfrm>
            </p:grpSpPr>
            <p:sp>
              <p:nvSpPr>
                <p:cNvPr id="47" name="Rectangle 47"/>
                <p:cNvSpPr/>
                <p:nvPr/>
              </p:nvSpPr>
              <p:spPr>
                <a:xfrm>
                  <a:off x="9546241" y="4429506"/>
                  <a:ext cx="1105186" cy="369380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9546241" y="4429506"/>
                  <a:ext cx="1105186" cy="369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ctr" anchorCtr="0">
                  <a:norm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000000"/>
                      </a:solidFill>
                      <a:latin typeface="思源宋体 CN Heavy"/>
                      <a:ea typeface="Microsoft YaHei"/>
                      <a:cs typeface="思源宋体 CN Heavy"/>
                    </a:rPr>
                    <a:t>2026.07</a:t>
                  </a: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