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  <Relationship Id="rId19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1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projects\urban_multimodal_traffic\generation\slide_001.png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projects\urban_multimodal_traffic\generation\slide_002.png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projects\urban_multimodal_traffic\generation\slide_003.png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projects\urban_multimodal_traffic\generation\slide_004.png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projects\urban_multimodal_traffic\generation\slide_005.png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projects\urban_multimodal_traffic\generation\slide_006.png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projects\urban_multimodal_traffic\generation\slide_007.png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projects\urban_multimodal_traffic\generation\slide_008.png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projects\urban_multimodal_traffic\generation\slide_009.png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projects\urban_multimodal_traffic\generation\slide_010_v2.png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projects\urban_multimodal_traffic\generation\slide_011_v2.png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Source image: projects\urban_multimodal_traffic\generation\slide_012.png</a:t>
            </a:r>
          </a:p>
          <a:p>
            <a:r>
              <a:rPr lang="zh-CN" dirty="0"/>
              <a:t>Route: image_full_rebuild; preserve_complex_images.</a:t>
            </a:r>
          </a:p>
          <a:p>
            <a:r>
              <a:rPr lang="zh-CN" dirty="0"/>
              <a:t>Sources: ST-ResNet https://www.microsoft.com/en-us/research/wp-content/uploads/2016/11/ST-ResNet-AAAI17-Zhang.pdf ; Event Traffic https://github.com/smilehanCN/EventTrafficForecasting ; BjTT https://chyazhang.github.io/BjTT/ ; KGCM https://arxiv.org/abs/2509.06976 ; NYC TLC https://www.nyc.gov/site/tlc/about/tlc-trip-record-data.page</a:t>
            </a:r>
          </a:p>
          <a:p>
            <a:r>
              <a:rPr lang="zh-CN" dirty="0"/>
              <a:t>Slides 10/11 are proposals, with no experimental results. Original paper figure pixels restored on slides 5/7/8.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0438e623dea51755.png"/>
  <Relationship Id="rId3" Type="http://schemas.openxmlformats.org/officeDocument/2006/relationships/image" Target="../media/image_45bf69cc14b609ec.png"/>
  <Relationship Id="rId4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2618ea898c9f91b1.png"/>
  <Relationship Id="rId5" Type="http://schemas.openxmlformats.org/officeDocument/2006/relationships/image" Target="../media/image_50b70811ddccc7ff.png"/>
  <Relationship Id="rId6" Type="http://schemas.openxmlformats.org/officeDocument/2006/relationships/image" Target="../media/image_0a6125f6e97e71f2.png"/>
  <Relationship Id="rId7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1aed416b403ac5ad.png"/>
  <Relationship Id="rId5" Type="http://schemas.openxmlformats.org/officeDocument/2006/relationships/image" Target="../media/image_57c2fa82fb347567.png"/>
  <Relationship Id="rId6" Type="http://schemas.openxmlformats.org/officeDocument/2006/relationships/image" Target="../media/image_dc89b610513ff7b6.png"/>
  <Relationship Id="rId7" Type="http://schemas.openxmlformats.org/officeDocument/2006/relationships/image" Target="../media/image_4fb403b684be2454.png"/>
  <Relationship Id="rId8" Type="http://schemas.openxmlformats.org/officeDocument/2006/relationships/image" Target="../media/image_e613aa7f48187404.png"/>
  <Relationship Id="rId9" Type="http://schemas.openxmlformats.org/officeDocument/2006/relationships/image" Target="../media/image_56f3324556d8df9f.png"/>
  <Relationship Id="rId10" Type="http://schemas.openxmlformats.org/officeDocument/2006/relationships/image" Target="../media/image_fd867bac719adee4.png"/>
  <Relationship Id="rId11" Type="http://schemas.openxmlformats.org/officeDocument/2006/relationships/image" Target="../media/image_7ea49bfeba47e68e.png"/>
  <Relationship Id="rId12" Type="http://schemas.openxmlformats.org/officeDocument/2006/relationships/image" Target="../media/image_1ddf638255c75ba6.png"/>
  <Relationship Id="rId13" Type="http://schemas.openxmlformats.org/officeDocument/2006/relationships/image" Target="../media/image_52b29d002c4f35b6.png"/>
  <Relationship Id="rId14" Type="http://schemas.openxmlformats.org/officeDocument/2006/relationships/image" Target="../media/image_5d0c9390fd85c7db.png"/>
  <Relationship Id="rId15" Type="http://schemas.openxmlformats.org/officeDocument/2006/relationships/image" Target="../media/image_ef23387d26bb74fd.png"/>
  <Relationship Id="rId16" Type="http://schemas.openxmlformats.org/officeDocument/2006/relationships/image" Target="../media/image_b881f83ce7ec5226.png"/>
  <Relationship Id="rId17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9d93f67673603192.png"/>
  <Relationship Id="rId5" Type="http://schemas.openxmlformats.org/officeDocument/2006/relationships/image" Target="../media/image_67a90730bab6fdf7.png"/>
  <Relationship Id="rId6" Type="http://schemas.openxmlformats.org/officeDocument/2006/relationships/image" Target="../media/image_3f7483be30951704.png"/>
  <Relationship Id="rId7" Type="http://schemas.openxmlformats.org/officeDocument/2006/relationships/image" Target="../media/image_1f765c818c15fe4a.png"/>
  <Relationship Id="rId8" Type="http://schemas.openxmlformats.org/officeDocument/2006/relationships/image" Target="../media/image_8722cd9a29fe389d.png"/>
  <Relationship Id="rId9" Type="http://schemas.openxmlformats.org/officeDocument/2006/relationships/image" Target="../media/image_8c631947a2419d4f.png"/>
  <Relationship Id="rId10" Type="http://schemas.openxmlformats.org/officeDocument/2006/relationships/image" Target="../media/image_453712906b8f5921.png"/>
  <Relationship Id="rId11" Type="http://schemas.openxmlformats.org/officeDocument/2006/relationships/image" Target="../media/image_32a9a2f6bf5bf8f0.png"/>
  <Relationship Id="rId12" Type="http://schemas.openxmlformats.org/officeDocument/2006/relationships/image" Target="../media/image_b6a6d7478d70a24c.png"/>
  <Relationship Id="rId13" Type="http://schemas.openxmlformats.org/officeDocument/2006/relationships/image" Target="../media/image_0330be3398560f3c.png"/>
  <Relationship Id="rId14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cf998a6c08e6a621.png"/>
  <Relationship Id="rId5" Type="http://schemas.openxmlformats.org/officeDocument/2006/relationships/image" Target="../media/image_06069ae3045d2188.png"/>
  <Relationship Id="rId6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9da7cc55e5f5c468.png"/>
  <Relationship Id="rId5" Type="http://schemas.openxmlformats.org/officeDocument/2006/relationships/image" Target="../media/image_e69b71c57bf5c756.png"/>
  <Relationship Id="rId6" Type="http://schemas.openxmlformats.org/officeDocument/2006/relationships/image" Target="../media/image_9a9dcebeec4a7eff.png"/>
  <Relationship Id="rId7" Type="http://schemas.openxmlformats.org/officeDocument/2006/relationships/image" Target="../media/image_d27f8455c99293eb.png"/>
  <Relationship Id="rId8" Type="http://schemas.openxmlformats.org/officeDocument/2006/relationships/image" Target="../media/image_fd3943e8628f0812.png"/>
  <Relationship Id="rId9" Type="http://schemas.openxmlformats.org/officeDocument/2006/relationships/image" Target="../media/image_569f9154276f9264.png"/>
  <Relationship Id="rId10" Type="http://schemas.openxmlformats.org/officeDocument/2006/relationships/image" Target="../media/image_93e97c3a2baf13da.png"/>
  <Relationship Id="rId11" Type="http://schemas.openxmlformats.org/officeDocument/2006/relationships/image" Target="../media/image_f399607fb4264be9.png"/>
  <Relationship Id="rId12" Type="http://schemas.openxmlformats.org/officeDocument/2006/relationships/image" Target="../media/image_87888ac625be42ac.png"/>
  <Relationship Id="rId13" Type="http://schemas.openxmlformats.org/officeDocument/2006/relationships/image" Target="../media/image_eb56f4f543c063b9.png"/>
  <Relationship Id="rId14" Type="http://schemas.openxmlformats.org/officeDocument/2006/relationships/image" Target="../media/image_b48b0a08b9ff5b02.png"/>
  <Relationship Id="rId15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8e6995491440be09.png"/>
  <Relationship Id="rId5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778aac0873236f8e.png"/>
  <Relationship Id="rId5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e804e7a7e3a0c3c6.png"/>
  <Relationship Id="rId5" Type="http://schemas.openxmlformats.org/officeDocument/2006/relationships/image" Target="../media/image_2cd490ef42fe7436.png"/>
  <Relationship Id="rId6" Type="http://schemas.openxmlformats.org/officeDocument/2006/relationships/image" Target="../media/image_374d6445b55f63f6.png"/>
  <Relationship Id="rId7" Type="http://schemas.openxmlformats.org/officeDocument/2006/relationships/image" Target="../media/image_d4606eaeea533ddf.png"/>
  <Relationship Id="rId8" Type="http://schemas.openxmlformats.org/officeDocument/2006/relationships/image" Target="../media/image_912b6763f121e4c0.png"/>
  <Relationship Id="rId9" Type="http://schemas.openxmlformats.org/officeDocument/2006/relationships/image" Target="../media/image_e12c9590d3fa6860.png"/>
  <Relationship Id="rId10" Type="http://schemas.openxmlformats.org/officeDocument/2006/relationships/image" Target="../media/image_c5cb2d279f6f90b0.png"/>
  <Relationship Id="rId11" Type="http://schemas.openxmlformats.org/officeDocument/2006/relationships/image" Target="../media/image_23e74b0178569e17.png"/>
  <Relationship Id="rId12" Type="http://schemas.openxmlformats.org/officeDocument/2006/relationships/image" Target="../media/image_28601d0825eddac4.png"/>
  <Relationship Id="rId13" Type="http://schemas.openxmlformats.org/officeDocument/2006/relationships/image" Target="../media/image_fc27d7aa3df13e1a.png"/>
  <Relationship Id="rId14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c5090165061d6f77.png"/>
  <Relationship Id="rId3" Type="http://schemas.openxmlformats.org/officeDocument/2006/relationships/image" Target="../media/image_9eb7959ede8f9320.png"/>
  <Relationship Id="rId4" Type="http://schemas.openxmlformats.org/officeDocument/2006/relationships/image" Target="../media/image_f0b56155ec8572e6.png"/>
  <Relationship Id="rId5" Type="http://schemas.openxmlformats.org/officeDocument/2006/relationships/image" Target="../media/image_bdd75faee76943b5.png"/>
  <Relationship Id="rId6" Type="http://schemas.openxmlformats.org/officeDocument/2006/relationships/image" Target="../media/image_df26a41862d96056.png"/>
  <Relationship Id="rId7" Type="http://schemas.openxmlformats.org/officeDocument/2006/relationships/image" Target="../media/image_a006bf9ff41e5678.png"/>
  <Relationship Id="rId8" Type="http://schemas.openxmlformats.org/officeDocument/2006/relationships/image" Target="../media/image_522850bf348c2e8e.png"/>
  <Relationship Id="rId9" Type="http://schemas.openxmlformats.org/officeDocument/2006/relationships/image" Target="../media/image_1bdbcd253597cefc.png"/>
  <Relationship Id="rId10" Type="http://schemas.openxmlformats.org/officeDocument/2006/relationships/image" Target="../media/image_6329b50b59789e58.png"/>
  <Relationship Id="rId11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image" Target="../media/image_5e136d66c8919eeb.png"/>
  <Relationship Id="rId3" Type="http://schemas.openxmlformats.org/officeDocument/2006/relationships/image" Target="../media/image_816348505fa68853.png"/>
  <Relationship Id="rId4" Type="http://schemas.openxmlformats.org/officeDocument/2006/relationships/image" Target="../media/image_64c95ec19212d2a6.png"/>
  <Relationship Id="rId5" Type="http://schemas.openxmlformats.org/officeDocument/2006/relationships/notesSlide" Target="../notesSlides/notesSlide12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pic>
        <p:nvPicPr>
          <p:cNvPr id="3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4503982"/>
          </a:xfrm>
          <a:prstGeom prst="rect">
            <a:avLst/>
          </a:prstGeom>
        </p:spPr>
      </p:pic>
      <p:pic>
        <p:nvPicPr>
          <p:cNvPr id="4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474826"/>
            <a:ext cx="12192000" cy="2383174"/>
          </a:xfrm>
          <a:prstGeom prst="rect">
            <a:avLst/>
          </a:prstGeom>
        </p:spPr>
      </p:pic>
      <p:sp>
        <p:nvSpPr>
          <p:cNvPr id="5" name="TextBox 5"/>
          <p:cNvSpPr txBox="1"/>
          <p:nvPr/>
        </p:nvSpPr>
        <p:spPr>
          <a:xfrm>
            <a:off x="2989669" y="761162"/>
            <a:ext cx="6161627" cy="3944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sz="2353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城市交通时空预测 · 多模态数据研究综述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859423" y="1423492"/>
            <a:ext cx="8691905" cy="14237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sz="849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基于多模态数据的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830257" y="2711063"/>
            <a:ext cx="8721071" cy="142858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sz="8522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城市交通流量预测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20923" y="4794285"/>
            <a:ext cx="6015790" cy="446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sz="2666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数据基础 · 融合方法 · 证据与挑战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871979" y="5501707"/>
            <a:ext cx="4535538" cy="3148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sz="187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12 页研究综述｜文献与论文原图解读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747003" y="5952363"/>
            <a:ext cx="2770908" cy="295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ctr"/>
            <a:r>
              <a:rPr lang="zh-CN" sz="176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文献检索截至 2026 年 9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0490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218761" y="765238"/>
            <a:ext cx="11754488" cy="422700"/>
          </a:xfrm>
          <a:prstGeom prst="roundRect">
            <a:avLst>
              <a:gd name="adj" fmla="val 173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13553" y="3192142"/>
            <a:ext cx="3784483" cy="2208257"/>
          </a:xfrm>
          <a:prstGeom prst="roundRect">
            <a:avLst>
              <a:gd name="adj" fmla="val 33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214698" y="3192142"/>
            <a:ext cx="3777186" cy="2208257"/>
          </a:xfrm>
          <a:prstGeom prst="roundRect">
            <a:avLst>
              <a:gd name="adj" fmla="val 33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101260" y="3192142"/>
            <a:ext cx="3806352" cy="2208257"/>
          </a:xfrm>
          <a:prstGeom prst="roundRect">
            <a:avLst>
              <a:gd name="adj" fmla="val 33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84378" y="5808526"/>
            <a:ext cx="11623234" cy="524732"/>
          </a:xfrm>
          <a:prstGeom prst="roundRect">
            <a:avLst>
              <a:gd name="adj" fmla="val 139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13553" y="3192142"/>
            <a:ext cx="3784483" cy="34982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214698" y="3192142"/>
            <a:ext cx="3777186" cy="34982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101260" y="3192142"/>
            <a:ext cx="3806352" cy="34982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291675" y="5815813"/>
            <a:ext cx="2406320" cy="502872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218761" y="1260824"/>
            <a:ext cx="1407328" cy="386267"/>
          </a:xfrm>
          <a:prstGeom prst="rect">
            <a:avLst/>
          </a:prstGeom>
          <a:solidFill>
            <a:srgbClr val="087BD6"/>
          </a:solidFill>
          <a:ln w="7144">
            <a:solidFill>
              <a:srgbClr val="B8D8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1626089" y="1260824"/>
            <a:ext cx="3521974" cy="386267"/>
          </a:xfrm>
          <a:prstGeom prst="rect">
            <a:avLst/>
          </a:prstGeom>
          <a:solidFill>
            <a:srgbClr val="087BD6"/>
          </a:solidFill>
          <a:ln w="7144">
            <a:solidFill>
              <a:srgbClr val="B8D8E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5148053" y="1260824"/>
            <a:ext cx="3536556" cy="386267"/>
          </a:xfrm>
          <a:prstGeom prst="rect">
            <a:avLst/>
          </a:prstGeom>
          <a:solidFill>
            <a:srgbClr val="087BD6"/>
          </a:solidFill>
          <a:ln w="7144">
            <a:solidFill>
              <a:srgbClr val="B8D8E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8684609" y="1260824"/>
            <a:ext cx="3288630" cy="386267"/>
          </a:xfrm>
          <a:prstGeom prst="rect">
            <a:avLst/>
          </a:prstGeom>
          <a:solidFill>
            <a:srgbClr val="087BD6"/>
          </a:solidFill>
          <a:ln w="7144">
            <a:solidFill>
              <a:srgbClr val="B8D8ED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218761" y="1647082"/>
            <a:ext cx="1407328" cy="364398"/>
          </a:xfrm>
          <a:prstGeom prst="rect">
            <a:avLst/>
          </a:prstGeom>
          <a:solidFill>
            <a:srgbClr val="DDEFFD"/>
          </a:solidFill>
          <a:ln w="7144">
            <a:solidFill>
              <a:srgbClr val="B8D8ED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1626089" y="1647082"/>
            <a:ext cx="3521974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5148053" y="1647082"/>
            <a:ext cx="3536556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8684609" y="1647082"/>
            <a:ext cx="3288630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218761" y="2011490"/>
            <a:ext cx="1407328" cy="357111"/>
          </a:xfrm>
          <a:prstGeom prst="rect">
            <a:avLst/>
          </a:prstGeom>
          <a:solidFill>
            <a:srgbClr val="DDEFFD"/>
          </a:solidFill>
          <a:ln w="7144">
            <a:solidFill>
              <a:srgbClr val="B8D8E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1626089" y="2011490"/>
            <a:ext cx="3521974" cy="357111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5148053" y="2011490"/>
            <a:ext cx="3536556" cy="357111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8684609" y="2011490"/>
            <a:ext cx="3288630" cy="357111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218761" y="2368601"/>
            <a:ext cx="1407328" cy="364398"/>
          </a:xfrm>
          <a:prstGeom prst="rect">
            <a:avLst/>
          </a:prstGeom>
          <a:solidFill>
            <a:srgbClr val="DDEFFD"/>
          </a:solidFill>
          <a:ln w="7144">
            <a:solidFill>
              <a:srgbClr val="B8D8ED"/>
            </a:solidFill>
          </a:ln>
        </p:spPr>
      </p:sp>
      <p:sp>
        <p:nvSpPr>
          <p:cNvPr id="28" name="Rectangle 28"/>
          <p:cNvSpPr/>
          <p:nvPr/>
        </p:nvSpPr>
        <p:spPr>
          <a:xfrm>
            <a:off x="1626089" y="2368601"/>
            <a:ext cx="3521974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9" name="Rectangle 29"/>
          <p:cNvSpPr/>
          <p:nvPr/>
        </p:nvSpPr>
        <p:spPr>
          <a:xfrm>
            <a:off x="5148053" y="2368601"/>
            <a:ext cx="3536556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30" name="Rectangle 30"/>
          <p:cNvSpPr/>
          <p:nvPr/>
        </p:nvSpPr>
        <p:spPr>
          <a:xfrm>
            <a:off x="8684609" y="2368601"/>
            <a:ext cx="3288630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31" name="Rectangle 31"/>
          <p:cNvSpPr/>
          <p:nvPr/>
        </p:nvSpPr>
        <p:spPr>
          <a:xfrm>
            <a:off x="218761" y="2732999"/>
            <a:ext cx="1407328" cy="364398"/>
          </a:xfrm>
          <a:prstGeom prst="rect">
            <a:avLst/>
          </a:prstGeom>
          <a:solidFill>
            <a:srgbClr val="DDEFFD"/>
          </a:solidFill>
          <a:ln w="7144">
            <a:solidFill>
              <a:srgbClr val="B8D8ED"/>
            </a:solidFill>
          </a:ln>
        </p:spPr>
      </p:sp>
      <p:sp>
        <p:nvSpPr>
          <p:cNvPr id="32" name="Rectangle 32"/>
          <p:cNvSpPr/>
          <p:nvPr/>
        </p:nvSpPr>
        <p:spPr>
          <a:xfrm>
            <a:off x="1626089" y="2732999"/>
            <a:ext cx="3521974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33" name="Rectangle 33"/>
          <p:cNvSpPr/>
          <p:nvPr/>
        </p:nvSpPr>
        <p:spPr>
          <a:xfrm>
            <a:off x="5148053" y="2732999"/>
            <a:ext cx="3536556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34" name="Rectangle 34"/>
          <p:cNvSpPr/>
          <p:nvPr/>
        </p:nvSpPr>
        <p:spPr>
          <a:xfrm>
            <a:off x="8684609" y="2732999"/>
            <a:ext cx="3288630" cy="364398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pic>
        <p:nvPicPr>
          <p:cNvPr id="35" name="Image 3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885" y="3578400"/>
            <a:ext cx="3660515" cy="1494034"/>
          </a:xfrm>
          <a:prstGeom prst="rect">
            <a:avLst/>
          </a:prstGeom>
        </p:spPr>
      </p:pic>
      <p:pic>
        <p:nvPicPr>
          <p:cNvPr id="36" name="Image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657" y="3578400"/>
            <a:ext cx="3514677" cy="1537764"/>
          </a:xfrm>
          <a:prstGeom prst="rect">
            <a:avLst/>
          </a:prstGeom>
        </p:spPr>
      </p:pic>
      <p:pic>
        <p:nvPicPr>
          <p:cNvPr id="37" name="Image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83559" y="3578400"/>
            <a:ext cx="3500095" cy="1508617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29166" y="65246"/>
            <a:ext cx="1057323" cy="4744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83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69816" y="88668"/>
            <a:ext cx="6008494" cy="42755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先明确目标：流量、需求与车速各有边界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894867" y="807187"/>
            <a:ext cx="6487077" cy="3533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08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同一交通系统，不同预测对象</a:t>
            </a:r>
            <a:r>
              <a:rPr lang="zh-CN" sz="2108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需要不同标签与评价口径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2778204" y="1315479"/>
            <a:ext cx="1290657" cy="276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路段车辆流量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6314761" y="1315479"/>
            <a:ext cx="1268787" cy="276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区域出行需求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902352" y="1308192"/>
            <a:ext cx="900836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97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路段车速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25018" y="1679886"/>
            <a:ext cx="875024" cy="298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空间单元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2719864" y="1687173"/>
            <a:ext cx="1385459" cy="2842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9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检测断面或路段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6168923" y="1687173"/>
            <a:ext cx="1567748" cy="276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8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网格或出租车区域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9763811" y="1694459"/>
            <a:ext cx="1188577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8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路段或传感器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27097" y="2044284"/>
            <a:ext cx="678142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97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目标量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2544861" y="2066144"/>
            <a:ext cx="1750047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7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单位时间通过车辆数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906414" y="2067601"/>
            <a:ext cx="2100053" cy="24487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6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单位时间出发或到达次数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771097" y="2058857"/>
            <a:ext cx="1188577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8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平均行驶速度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32305" y="2408682"/>
            <a:ext cx="870214" cy="28423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97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典型来源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2719864" y="2415969"/>
            <a:ext cx="1400042" cy="276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0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线圈、视频计数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6052252" y="2422636"/>
            <a:ext cx="1793796" cy="2563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2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GPS轨迹、订单记录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9574216" y="2423255"/>
            <a:ext cx="1575044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9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路侧观测、浮动车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9601" y="2765793"/>
            <a:ext cx="870214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97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单位示例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909459" y="2780367"/>
            <a:ext cx="1013565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9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辆/ 5 分钟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6394971" y="2780367"/>
            <a:ext cx="1115654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1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次 / 30 分钟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0055485" y="2742552"/>
            <a:ext cx="700992" cy="3380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16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km/h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517722" y="3246796"/>
            <a:ext cx="3441763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路段车辆流量：检测断面或路段的统计边界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4557417" y="3239510"/>
            <a:ext cx="3164672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3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区域出行需求：网格内的出发/到达次数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8546068" y="3239510"/>
            <a:ext cx="2945911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2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路段车速：路段或传感器的速度观测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2085470" y="3640350"/>
            <a:ext cx="721890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0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检测断面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6883517" y="3764251"/>
            <a:ext cx="425701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5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离开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5104305" y="4128649"/>
            <a:ext cx="422929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58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进入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6518929" y="4310844"/>
            <a:ext cx="612515" cy="276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离开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141974" y="4411694"/>
            <a:ext cx="510435" cy="22099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18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km/h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988840" y="4697111"/>
            <a:ext cx="809396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68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60 km/h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5272021" y="4799143"/>
            <a:ext cx="415633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6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进入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904189" y="5112525"/>
            <a:ext cx="2690698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1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统计该断面在单位时间内通过的车辆数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4608462" y="5112525"/>
            <a:ext cx="3069879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4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统计该区域在单位时间内的出发或到达次数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925239" y="5112525"/>
            <a:ext cx="2245890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统计该路段车辆的平均行驶速度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5293890" y="5455063"/>
            <a:ext cx="1691716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8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概念示意，非实测结果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998982" y="5899633"/>
            <a:ext cx="1050026" cy="3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74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主要结论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3048000" y="5907767"/>
            <a:ext cx="7291864" cy="3408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33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先统一任务，再比较模型；出</a:t>
            </a:r>
            <a:r>
              <a:rPr lang="zh-CN" sz="2033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租车需求不能代表全部道路流量。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357302" y="6482667"/>
            <a:ext cx="3901145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2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依据 ST-ResNet（2017）、NYC TLC 数据说明；综述归纳。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12191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204168" y="765238"/>
            <a:ext cx="3842814" cy="3461795"/>
          </a:xfrm>
          <a:prstGeom prst="roundRect">
            <a:avLst>
              <a:gd name="adj" fmla="val 21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4229281" y="765238"/>
            <a:ext cx="3740725" cy="3461795"/>
          </a:xfrm>
          <a:prstGeom prst="roundRect">
            <a:avLst>
              <a:gd name="adj" fmla="val 21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8130435" y="765238"/>
            <a:ext cx="3864693" cy="3461795"/>
          </a:xfrm>
          <a:prstGeom prst="roundRect">
            <a:avLst>
              <a:gd name="adj" fmla="val 21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18761" y="4671603"/>
            <a:ext cx="11754488" cy="903713"/>
          </a:xfrm>
          <a:prstGeom prst="roundRect">
            <a:avLst>
              <a:gd name="adj" fmla="val 81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26047" y="5691921"/>
            <a:ext cx="11739905" cy="583035"/>
          </a:xfrm>
          <a:prstGeom prst="roundRect">
            <a:avLst>
              <a:gd name="adj" fmla="val 125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204168" y="765238"/>
            <a:ext cx="3842814" cy="41541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4229281" y="765238"/>
            <a:ext cx="3740725" cy="41541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8130435" y="765238"/>
            <a:ext cx="3864693" cy="41541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320840" y="1340987"/>
            <a:ext cx="1378163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320840" y="2324872"/>
            <a:ext cx="1378163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320840" y="3316034"/>
            <a:ext cx="1378163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4353239" y="1340987"/>
            <a:ext cx="1436494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4353239" y="2324872"/>
            <a:ext cx="1436494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4353239" y="3316034"/>
            <a:ext cx="1436494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8261680" y="1340987"/>
            <a:ext cx="1458373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8261680" y="2324872"/>
            <a:ext cx="1458373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8261680" y="3316034"/>
            <a:ext cx="1458373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3" name="Polygon 23"/>
          <p:cNvSpPr/>
          <p:nvPr/>
        </p:nvSpPr>
        <p:spPr>
          <a:xfrm>
            <a:off x="1979771" y="4241578"/>
            <a:ext cx="262509" cy="379000"/>
          </a:xfrm>
          <a:custGeom>
            <a:avLst/>
            <a:gdLst/>
            <a:ahLst/>
            <a:cxnLst/>
            <a:rect l="l" t="t" r="r" b="b"/>
            <a:pathLst>
              <a:path w="262509" h="379000">
                <a:moveTo>
                  <a:pt x="65627" y="0"/>
                </a:moveTo>
                <a:lnTo>
                  <a:pt x="196882" y="0"/>
                </a:lnTo>
                <a:lnTo>
                  <a:pt x="196882" y="189547"/>
                </a:lnTo>
                <a:lnTo>
                  <a:pt x="262509" y="189547"/>
                </a:lnTo>
                <a:lnTo>
                  <a:pt x="131254" y="379000"/>
                </a:lnTo>
                <a:lnTo>
                  <a:pt x="0" y="189547"/>
                </a:lnTo>
                <a:lnTo>
                  <a:pt x="65627" y="189547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5997607" y="4241578"/>
            <a:ext cx="262414" cy="379000"/>
          </a:xfrm>
          <a:custGeom>
            <a:avLst/>
            <a:gdLst/>
            <a:ahLst/>
            <a:cxnLst/>
            <a:rect l="l" t="t" r="r" b="b"/>
            <a:pathLst>
              <a:path w="262414" h="379000">
                <a:moveTo>
                  <a:pt x="65627" y="0"/>
                </a:moveTo>
                <a:lnTo>
                  <a:pt x="196787" y="0"/>
                </a:lnTo>
                <a:lnTo>
                  <a:pt x="196787" y="189547"/>
                </a:lnTo>
                <a:lnTo>
                  <a:pt x="262414" y="189547"/>
                </a:lnTo>
                <a:lnTo>
                  <a:pt x="131159" y="379000"/>
                </a:lnTo>
                <a:lnTo>
                  <a:pt x="0" y="189547"/>
                </a:lnTo>
                <a:lnTo>
                  <a:pt x="65627" y="189547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5" name="Polygon 25"/>
          <p:cNvSpPr/>
          <p:nvPr/>
        </p:nvSpPr>
        <p:spPr>
          <a:xfrm>
            <a:off x="9942481" y="4241578"/>
            <a:ext cx="262509" cy="379000"/>
          </a:xfrm>
          <a:custGeom>
            <a:avLst/>
            <a:gdLst/>
            <a:ahLst/>
            <a:cxnLst/>
            <a:rect l="l" t="t" r="r" b="b"/>
            <a:pathLst>
              <a:path w="262509" h="379000">
                <a:moveTo>
                  <a:pt x="65627" y="0"/>
                </a:moveTo>
                <a:lnTo>
                  <a:pt x="196882" y="0"/>
                </a:lnTo>
                <a:lnTo>
                  <a:pt x="196882" y="189547"/>
                </a:lnTo>
                <a:lnTo>
                  <a:pt x="262509" y="189547"/>
                </a:lnTo>
                <a:lnTo>
                  <a:pt x="131254" y="379000"/>
                </a:lnTo>
                <a:lnTo>
                  <a:pt x="0" y="189547"/>
                </a:lnTo>
                <a:lnTo>
                  <a:pt x="65627" y="189547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6" name="Polygon 26"/>
          <p:cNvSpPr/>
          <p:nvPr/>
        </p:nvSpPr>
        <p:spPr>
          <a:xfrm>
            <a:off x="2880265" y="4853845"/>
            <a:ext cx="546926" cy="546545"/>
          </a:xfrm>
          <a:custGeom>
            <a:avLst/>
            <a:gdLst/>
            <a:ahLst/>
            <a:cxnLst/>
            <a:rect l="l" t="t" r="r" b="b"/>
            <a:pathLst>
              <a:path w="546926" h="546545">
                <a:moveTo>
                  <a:pt x="0" y="200406"/>
                </a:moveTo>
                <a:lnTo>
                  <a:pt x="386525" y="200406"/>
                </a:lnTo>
                <a:lnTo>
                  <a:pt x="386525" y="0"/>
                </a:lnTo>
                <a:lnTo>
                  <a:pt x="546926" y="273272"/>
                </a:lnTo>
                <a:lnTo>
                  <a:pt x="386525" y="546545"/>
                </a:lnTo>
                <a:lnTo>
                  <a:pt x="386525" y="346138"/>
                </a:lnTo>
                <a:lnTo>
                  <a:pt x="0" y="346138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7" name="Polygon 27"/>
          <p:cNvSpPr/>
          <p:nvPr/>
        </p:nvSpPr>
        <p:spPr>
          <a:xfrm>
            <a:off x="5921026" y="4853845"/>
            <a:ext cx="546830" cy="546545"/>
          </a:xfrm>
          <a:custGeom>
            <a:avLst/>
            <a:gdLst/>
            <a:ahLst/>
            <a:cxnLst/>
            <a:rect l="l" t="t" r="r" b="b"/>
            <a:pathLst>
              <a:path w="546830" h="546545">
                <a:moveTo>
                  <a:pt x="0" y="200406"/>
                </a:moveTo>
                <a:lnTo>
                  <a:pt x="386429" y="200406"/>
                </a:lnTo>
                <a:lnTo>
                  <a:pt x="386429" y="0"/>
                </a:lnTo>
                <a:lnTo>
                  <a:pt x="546830" y="273272"/>
                </a:lnTo>
                <a:lnTo>
                  <a:pt x="386429" y="546545"/>
                </a:lnTo>
                <a:lnTo>
                  <a:pt x="386429" y="346138"/>
                </a:lnTo>
                <a:lnTo>
                  <a:pt x="0" y="346138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8728329" y="4853845"/>
            <a:ext cx="546925" cy="546545"/>
          </a:xfrm>
          <a:custGeom>
            <a:avLst/>
            <a:gdLst/>
            <a:ahLst/>
            <a:cxnLst/>
            <a:rect l="l" t="t" r="r" b="b"/>
            <a:pathLst>
              <a:path w="546925" h="546545">
                <a:moveTo>
                  <a:pt x="0" y="200406"/>
                </a:moveTo>
                <a:lnTo>
                  <a:pt x="386525" y="200406"/>
                </a:lnTo>
                <a:lnTo>
                  <a:pt x="386525" y="0"/>
                </a:lnTo>
                <a:lnTo>
                  <a:pt x="546925" y="273272"/>
                </a:lnTo>
                <a:lnTo>
                  <a:pt x="386525" y="546545"/>
                </a:lnTo>
                <a:lnTo>
                  <a:pt x="386525" y="346138"/>
                </a:lnTo>
                <a:lnTo>
                  <a:pt x="0" y="346138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64630" y="1340987"/>
            <a:ext cx="2143811" cy="757952"/>
          </a:xfrm>
          <a:prstGeom prst="rect">
            <a:avLst/>
          </a:prstGeom>
        </p:spPr>
      </p:pic>
      <p:pic>
        <p:nvPicPr>
          <p:cNvPr id="30" name="Imag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57343" y="2266569"/>
            <a:ext cx="2151097" cy="838114"/>
          </a:xfrm>
          <a:prstGeom prst="rect">
            <a:avLst/>
          </a:prstGeom>
        </p:spPr>
      </p:pic>
      <p:pic>
        <p:nvPicPr>
          <p:cNvPr id="31" name="Imag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7343" y="3257731"/>
            <a:ext cx="2151097" cy="852697"/>
          </a:xfrm>
          <a:prstGeom prst="rect">
            <a:avLst/>
          </a:prstGeom>
        </p:spPr>
      </p:pic>
      <p:pic>
        <p:nvPicPr>
          <p:cNvPr id="32" name="Imag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40787" y="1333700"/>
            <a:ext cx="1997974" cy="765238"/>
          </a:xfrm>
          <a:prstGeom prst="rect">
            <a:avLst/>
          </a:prstGeom>
        </p:spPr>
      </p:pic>
      <p:pic>
        <p:nvPicPr>
          <p:cNvPr id="33" name="Imag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28284" y="2310289"/>
            <a:ext cx="1852136" cy="757952"/>
          </a:xfrm>
          <a:prstGeom prst="rect">
            <a:avLst/>
          </a:prstGeom>
        </p:spPr>
      </p:pic>
      <p:pic>
        <p:nvPicPr>
          <p:cNvPr id="34" name="Imag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40787" y="3206715"/>
            <a:ext cx="1997974" cy="903713"/>
          </a:xfrm>
          <a:prstGeom prst="rect">
            <a:avLst/>
          </a:prstGeom>
        </p:spPr>
      </p:pic>
      <p:pic>
        <p:nvPicPr>
          <p:cNvPr id="35" name="Image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65890" y="1362856"/>
            <a:ext cx="1968808" cy="714223"/>
          </a:xfrm>
          <a:prstGeom prst="rect">
            <a:avLst/>
          </a:prstGeom>
        </p:spPr>
      </p:pic>
      <p:pic>
        <p:nvPicPr>
          <p:cNvPr id="36" name="Image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80483" y="2171824"/>
            <a:ext cx="1961512" cy="962015"/>
          </a:xfrm>
          <a:prstGeom prst="rect">
            <a:avLst/>
          </a:prstGeom>
        </p:spPr>
      </p:pic>
      <p:pic>
        <p:nvPicPr>
          <p:cNvPr id="37" name="Imag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38814" y="3345190"/>
            <a:ext cx="1859423" cy="634051"/>
          </a:xfrm>
          <a:prstGeom prst="rect">
            <a:avLst/>
          </a:prstGeom>
        </p:spPr>
      </p:pic>
      <p:pic>
        <p:nvPicPr>
          <p:cNvPr id="38" name="Image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60441" y="4831937"/>
            <a:ext cx="539601" cy="590331"/>
          </a:xfrm>
          <a:prstGeom prst="rect">
            <a:avLst/>
          </a:prstGeom>
        </p:spPr>
      </p:pic>
      <p:pic>
        <p:nvPicPr>
          <p:cNvPr id="39" name="Image 39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71979" y="4817364"/>
            <a:ext cx="641680" cy="590331"/>
          </a:xfrm>
          <a:prstGeom prst="rect">
            <a:avLst/>
          </a:prstGeom>
        </p:spPr>
      </p:pic>
      <p:pic>
        <p:nvPicPr>
          <p:cNvPr id="40" name="Image 40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796021" y="4802791"/>
            <a:ext cx="627097" cy="619477"/>
          </a:xfrm>
          <a:prstGeom prst="rect">
            <a:avLst/>
          </a:prstGeom>
        </p:spPr>
      </p:pic>
      <p:pic>
        <p:nvPicPr>
          <p:cNvPr id="41" name="Image 41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610677" y="4817364"/>
            <a:ext cx="568766" cy="612191"/>
          </a:xfrm>
          <a:prstGeom prst="rect">
            <a:avLst/>
          </a:prstGeom>
        </p:spPr>
      </p:pic>
      <p:sp>
        <p:nvSpPr>
          <p:cNvPr id="42" name="TextBox 42"/>
          <p:cNvSpPr txBox="1"/>
          <p:nvPr/>
        </p:nvSpPr>
        <p:spPr>
          <a:xfrm>
            <a:off x="342719" y="0"/>
            <a:ext cx="780231" cy="60555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3616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268787" y="102908"/>
            <a:ext cx="5403275" cy="41367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468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多模态的价值来自互补信息与可靠对齐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408346" y="834476"/>
            <a:ext cx="1064609" cy="313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7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观测模态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4462624" y="834476"/>
            <a:ext cx="1297953" cy="306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7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外部上下文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327307" y="834476"/>
            <a:ext cx="1064609" cy="313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7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对齐约束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73974" y="1381077"/>
            <a:ext cx="918772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3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交通时序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4499077" y="1381077"/>
            <a:ext cx="918772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3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天气日历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8422110" y="1359208"/>
            <a:ext cx="546887" cy="3352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7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时间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466677" y="1767335"/>
            <a:ext cx="1173994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5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历史流量与速度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491790" y="1767335"/>
            <a:ext cx="998982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降雨、节假日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8400231" y="1767335"/>
            <a:ext cx="1305239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2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采样窗与发布时刻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473974" y="2350379"/>
            <a:ext cx="926068" cy="298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07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视频图像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4506373" y="2364953"/>
            <a:ext cx="926068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07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事件文本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8414814" y="2350379"/>
            <a:ext cx="532305" cy="320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8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空间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466677" y="2743933"/>
            <a:ext cx="1166698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车辆与路况观测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4499077" y="2751220"/>
            <a:ext cx="1295743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1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事故、展会与管制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8378352" y="2751220"/>
            <a:ext cx="153129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5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路段、网格与影响范围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466677" y="3334255"/>
            <a:ext cx="977113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8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GPS 轨迹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4491790" y="3334255"/>
            <a:ext cx="940651" cy="3352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36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空间背景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8436693" y="3341541"/>
            <a:ext cx="525018" cy="313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2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质量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459391" y="3727809"/>
            <a:ext cx="1042740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9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区域出行联系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4491790" y="3742382"/>
            <a:ext cx="1152115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路网与区域功能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8392935" y="3756955"/>
            <a:ext cx="1509417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4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缺失、噪声与覆盖偏差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596923" y="4988633"/>
            <a:ext cx="955234" cy="298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7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可用信息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4695958" y="4974050"/>
            <a:ext cx="969816" cy="320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93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时空对齐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83538" y="4981346"/>
            <a:ext cx="962530" cy="320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75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融合预测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0434657" y="4981346"/>
            <a:ext cx="962530" cy="320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75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增量验证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3492808" y="5833377"/>
            <a:ext cx="5184515" cy="3074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34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更多模态不保证更好：先回答“</a:t>
            </a:r>
            <a:r>
              <a:rPr lang="zh-CN" sz="1834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新增了什么信息”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262509" y="6438938"/>
            <a:ext cx="3113627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综述归纳|流程为概念示意，不代表已完成实验。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8303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226047" y="692363"/>
            <a:ext cx="11739905" cy="539315"/>
          </a:xfrm>
          <a:prstGeom prst="roundRect">
            <a:avLst>
              <a:gd name="adj" fmla="val 9466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26047" y="1340987"/>
            <a:ext cx="7255402" cy="4146871"/>
          </a:xfrm>
          <a:prstGeom prst="roundRect">
            <a:avLst>
              <a:gd name="adj" fmla="val 123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620000" y="1340987"/>
            <a:ext cx="4345953" cy="4146871"/>
          </a:xfrm>
          <a:prstGeom prst="roundRect">
            <a:avLst>
              <a:gd name="adj" fmla="val 123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408346" y="1873015"/>
            <a:ext cx="1968808" cy="1734541"/>
          </a:xfrm>
          <a:prstGeom prst="roundRect">
            <a:avLst>
              <a:gd name="adj" fmla="val 294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719864" y="1873015"/>
            <a:ext cx="2260483" cy="1734541"/>
          </a:xfrm>
          <a:prstGeom prst="roundRect">
            <a:avLst>
              <a:gd name="adj" fmla="val 294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5315769" y="1873015"/>
            <a:ext cx="1976095" cy="1734541"/>
          </a:xfrm>
          <a:prstGeom prst="roundRect">
            <a:avLst>
              <a:gd name="adj" fmla="val 294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7700210" y="1836572"/>
            <a:ext cx="4185533" cy="1129636"/>
          </a:xfrm>
          <a:prstGeom prst="roundRect">
            <a:avLst>
              <a:gd name="adj" fmla="val 4520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700210" y="3046381"/>
            <a:ext cx="4185533" cy="1129636"/>
          </a:xfrm>
          <a:prstGeom prst="roundRect">
            <a:avLst>
              <a:gd name="adj" fmla="val 4520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700210" y="4263476"/>
            <a:ext cx="4185533" cy="1136923"/>
          </a:xfrm>
          <a:prstGeom prst="roundRect">
            <a:avLst>
              <a:gd name="adj" fmla="val 449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08346" y="3724161"/>
            <a:ext cx="6883517" cy="481003"/>
          </a:xfrm>
          <a:prstGeom prst="roundRect">
            <a:avLst>
              <a:gd name="adj" fmla="val 10614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408346" y="4278049"/>
            <a:ext cx="6883517" cy="481003"/>
          </a:xfrm>
          <a:prstGeom prst="roundRect">
            <a:avLst>
              <a:gd name="adj" fmla="val 10614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408346" y="4831937"/>
            <a:ext cx="6883517" cy="488299"/>
          </a:xfrm>
          <a:prstGeom prst="roundRect">
            <a:avLst>
              <a:gd name="adj" fmla="val 1045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240630" y="5611749"/>
            <a:ext cx="11725323" cy="670493"/>
          </a:xfrm>
          <a:prstGeom prst="roundRect">
            <a:avLst>
              <a:gd name="adj" fmla="val 7614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226047" y="1340987"/>
            <a:ext cx="7255402" cy="39355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7620000" y="1340987"/>
            <a:ext cx="4345953" cy="39355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408346" y="1873015"/>
            <a:ext cx="1968808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2719864" y="1873015"/>
            <a:ext cx="2260483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315769" y="1873015"/>
            <a:ext cx="1976095" cy="364398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408346" y="3724161"/>
            <a:ext cx="1917764" cy="481003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408346" y="4278049"/>
            <a:ext cx="1917764" cy="481003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408346" y="4831937"/>
            <a:ext cx="1917764" cy="488299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7" name="Polygon 27"/>
          <p:cNvSpPr/>
          <p:nvPr/>
        </p:nvSpPr>
        <p:spPr>
          <a:xfrm>
            <a:off x="2391728" y="2711101"/>
            <a:ext cx="269843" cy="327946"/>
          </a:xfrm>
          <a:custGeom>
            <a:avLst/>
            <a:gdLst/>
            <a:ahLst/>
            <a:cxnLst/>
            <a:rect l="l" t="t" r="r" b="b"/>
            <a:pathLst>
              <a:path w="269843" h="327946">
                <a:moveTo>
                  <a:pt x="0" y="91154"/>
                </a:moveTo>
                <a:lnTo>
                  <a:pt x="134874" y="91154"/>
                </a:lnTo>
                <a:lnTo>
                  <a:pt x="134874" y="0"/>
                </a:lnTo>
                <a:lnTo>
                  <a:pt x="269843" y="164021"/>
                </a:lnTo>
                <a:lnTo>
                  <a:pt x="134874" y="327946"/>
                </a:lnTo>
                <a:lnTo>
                  <a:pt x="134874" y="236887"/>
                </a:lnTo>
                <a:lnTo>
                  <a:pt x="0" y="236887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8" name="Polygon 28"/>
          <p:cNvSpPr/>
          <p:nvPr/>
        </p:nvSpPr>
        <p:spPr>
          <a:xfrm>
            <a:off x="4994910" y="2711101"/>
            <a:ext cx="277082" cy="327946"/>
          </a:xfrm>
          <a:custGeom>
            <a:avLst/>
            <a:gdLst/>
            <a:ahLst/>
            <a:cxnLst/>
            <a:rect l="l" t="t" r="r" b="b"/>
            <a:pathLst>
              <a:path w="277082" h="327946">
                <a:moveTo>
                  <a:pt x="0" y="91154"/>
                </a:moveTo>
                <a:lnTo>
                  <a:pt x="138589" y="91154"/>
                </a:lnTo>
                <a:lnTo>
                  <a:pt x="138589" y="0"/>
                </a:lnTo>
                <a:lnTo>
                  <a:pt x="277082" y="164021"/>
                </a:lnTo>
                <a:lnTo>
                  <a:pt x="138589" y="327946"/>
                </a:lnTo>
                <a:lnTo>
                  <a:pt x="138589" y="236887"/>
                </a:lnTo>
                <a:lnTo>
                  <a:pt x="0" y="236887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pic>
        <p:nvPicPr>
          <p:cNvPr id="29" name="Image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139" y="2375887"/>
            <a:ext cx="1720882" cy="1042187"/>
          </a:xfrm>
          <a:prstGeom prst="rect">
            <a:avLst/>
          </a:prstGeom>
        </p:spPr>
      </p:pic>
      <p:pic>
        <p:nvPicPr>
          <p:cNvPr id="30" name="Image 3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29239" y="2375887"/>
            <a:ext cx="2027139" cy="911000"/>
          </a:xfrm>
          <a:prstGeom prst="rect">
            <a:avLst/>
          </a:prstGeom>
        </p:spPr>
      </p:pic>
      <p:pic>
        <p:nvPicPr>
          <p:cNvPr id="31" name="Image 3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903" y="2375887"/>
            <a:ext cx="1604210" cy="911000"/>
          </a:xfrm>
          <a:prstGeom prst="rect">
            <a:avLst/>
          </a:prstGeom>
        </p:spPr>
      </p:pic>
      <p:pic>
        <p:nvPicPr>
          <p:cNvPr id="32" name="Image 3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47097" y="1909458"/>
            <a:ext cx="1348997" cy="976589"/>
          </a:xfrm>
          <a:prstGeom prst="rect">
            <a:avLst/>
          </a:prstGeom>
        </p:spPr>
      </p:pic>
      <p:pic>
        <p:nvPicPr>
          <p:cNvPr id="33" name="Image 3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2305" y="3133839"/>
            <a:ext cx="1436494" cy="983875"/>
          </a:xfrm>
          <a:prstGeom prst="rect">
            <a:avLst/>
          </a:prstGeom>
        </p:spPr>
      </p:pic>
      <p:pic>
        <p:nvPicPr>
          <p:cNvPr id="34" name="Image 34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52305" y="4336352"/>
            <a:ext cx="1451077" cy="1005745"/>
          </a:xfrm>
          <a:prstGeom prst="rect">
            <a:avLst/>
          </a:prstGeom>
        </p:spPr>
      </p:pic>
      <p:pic>
        <p:nvPicPr>
          <p:cNvPr id="35" name="Image 3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1680" y="3797046"/>
            <a:ext cx="262509" cy="335251"/>
          </a:xfrm>
          <a:prstGeom prst="rect">
            <a:avLst/>
          </a:prstGeom>
        </p:spPr>
      </p:pic>
      <p:pic>
        <p:nvPicPr>
          <p:cNvPr id="36" name="Image 3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12515" y="4350934"/>
            <a:ext cx="306257" cy="342538"/>
          </a:xfrm>
          <a:prstGeom prst="rect">
            <a:avLst/>
          </a:prstGeom>
        </p:spPr>
      </p:pic>
      <p:pic>
        <p:nvPicPr>
          <p:cNvPr id="37" name="Image 37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097" y="4904823"/>
            <a:ext cx="298971" cy="320669"/>
          </a:xfrm>
          <a:prstGeom prst="rect">
            <a:avLst/>
          </a:prstGeom>
        </p:spPr>
      </p:pic>
      <p:pic>
        <p:nvPicPr>
          <p:cNvPr id="38" name="Image 38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041722" y="5684634"/>
            <a:ext cx="612515" cy="539315"/>
          </a:xfrm>
          <a:prstGeom prst="rect">
            <a:avLst/>
          </a:prstGeom>
        </p:spPr>
      </p:pic>
      <p:sp>
        <p:nvSpPr>
          <p:cNvPr id="39" name="TextBox 39"/>
          <p:cNvSpPr txBox="1"/>
          <p:nvPr/>
        </p:nvSpPr>
        <p:spPr>
          <a:xfrm>
            <a:off x="277092" y="68123"/>
            <a:ext cx="7357491" cy="4613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752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01  数据基础：先对齐空间、时间和可获得性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879275" y="793175"/>
            <a:ext cx="4535538" cy="3595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45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对齐误差</a:t>
            </a:r>
            <a:r>
              <a:rPr lang="zh-CN" sz="2145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会被模型误判为跨模态关系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459391" y="1405099"/>
            <a:ext cx="1487538" cy="294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7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统一预测单元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7758541" y="1401451"/>
            <a:ext cx="2078184" cy="294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7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三类数据的适用边界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933355" y="1934966"/>
            <a:ext cx="998982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5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轨迹／订单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3259465" y="1942043"/>
            <a:ext cx="1297953" cy="23362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94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网格或道路映射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5694950" y="1934966"/>
            <a:ext cx="1305239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2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固定时间窗聚合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7860630" y="1883950"/>
            <a:ext cx="904189" cy="313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62" b="1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TaxiBJ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10077355" y="2131733"/>
            <a:ext cx="1677133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历史区域流入与流出，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10062772" y="2386813"/>
            <a:ext cx="1042645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2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30分钟聚合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7875213" y="3101150"/>
            <a:ext cx="1086488" cy="29130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38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NYC TLC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3033417" y="3305108"/>
            <a:ext cx="605228" cy="21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9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网格映射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4098026" y="3297812"/>
            <a:ext cx="612515" cy="21863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9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道路映射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5942867" y="3308995"/>
            <a:ext cx="495843" cy="210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58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t+1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6402257" y="3308995"/>
            <a:ext cx="466677" cy="2108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58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t+2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10077355" y="3356124"/>
            <a:ext cx="1516704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2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上下车记录可构造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0070068" y="3625777"/>
            <a:ext cx="116669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区域出行需求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1079192" y="3807971"/>
            <a:ext cx="969816" cy="313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4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空间口径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2559444" y="3839432"/>
            <a:ext cx="3325092" cy="2650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网格、交通小区与道路</a:t>
            </a:r>
            <a:r>
              <a:rPr lang="zh-CN" sz="158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不可直接互换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1079192" y="4369156"/>
            <a:ext cx="969816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40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时间口径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7867926" y="4310844"/>
            <a:ext cx="700021" cy="3352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63" b="1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BjTT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2552157" y="4383729"/>
            <a:ext cx="2902163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统一</a:t>
            </a:r>
            <a:r>
              <a:rPr lang="zh-CN" sz="158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时区、采样频率与预测窗口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10062772" y="4580506"/>
            <a:ext cx="140732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2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速度与拥堵标签，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079192" y="4915748"/>
            <a:ext cx="977113" cy="313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4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信息口径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0048189" y="4857445"/>
            <a:ext cx="1180833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配合文本描述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2566740" y="4948542"/>
            <a:ext cx="2894867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6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仅使用预测时刻</a:t>
            </a:r>
            <a:r>
              <a:rPr lang="zh-CN" sz="1565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已经发布</a:t>
            </a:r>
            <a:r>
              <a:rPr lang="zh-CN" sz="156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的信息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2836535" y="5783018"/>
            <a:ext cx="7058530" cy="3425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4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订单需求是出行活动的代理，</a:t>
            </a:r>
            <a:r>
              <a:rPr lang="zh-CN" sz="2040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不能直接解释为道路全部车流。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20840" y="6489954"/>
            <a:ext cx="5140766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03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来源：ST-ResNet（AAAI2017）；NYCTLC；BjTT作者项目页。流程为综述概念示意。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5665784" y="3316443"/>
            <a:ext cx="247926" cy="2032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12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t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8303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247926" y="692363"/>
            <a:ext cx="11718026" cy="488299"/>
          </a:xfrm>
          <a:prstGeom prst="roundRect">
            <a:avLst>
              <a:gd name="adj" fmla="val 150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47926" y="1282684"/>
            <a:ext cx="6730394" cy="4613300"/>
          </a:xfrm>
          <a:prstGeom prst="roundRect">
            <a:avLst>
              <a:gd name="adj" fmla="val 15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131444" y="1275398"/>
            <a:ext cx="4827213" cy="2747572"/>
          </a:xfrm>
          <a:prstGeom prst="roundRect">
            <a:avLst>
              <a:gd name="adj" fmla="val 267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131444" y="4139575"/>
            <a:ext cx="4827213" cy="510159"/>
          </a:xfrm>
          <a:prstGeom prst="roundRect">
            <a:avLst>
              <a:gd name="adj" fmla="val 143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7131444" y="4744479"/>
            <a:ext cx="4827213" cy="517446"/>
          </a:xfrm>
          <a:prstGeom prst="roundRect">
            <a:avLst>
              <a:gd name="adj" fmla="val 1417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7131444" y="5342096"/>
            <a:ext cx="4827213" cy="524732"/>
          </a:xfrm>
          <a:prstGeom prst="roundRect">
            <a:avLst>
              <a:gd name="adj" fmla="val 139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247926" y="6005303"/>
            <a:ext cx="11710740" cy="502872"/>
          </a:xfrm>
          <a:prstGeom prst="roundRect">
            <a:avLst>
              <a:gd name="adj" fmla="val 145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47926" y="1282684"/>
            <a:ext cx="6730394" cy="364398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7131444" y="1275398"/>
            <a:ext cx="4827213" cy="37168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7131444" y="4139575"/>
            <a:ext cx="1312535" cy="510159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6" name="Rectangle 16"/>
          <p:cNvSpPr/>
          <p:nvPr/>
        </p:nvSpPr>
        <p:spPr>
          <a:xfrm>
            <a:off x="7131444" y="4744479"/>
            <a:ext cx="1312535" cy="517446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7" name="Rectangle 17"/>
          <p:cNvSpPr/>
          <p:nvPr/>
        </p:nvSpPr>
        <p:spPr>
          <a:xfrm>
            <a:off x="7131444" y="5342096"/>
            <a:ext cx="1312535" cy="524732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18" name="Imag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725" y="1763697"/>
            <a:ext cx="5702236" cy="3811619"/>
          </a:xfrm>
          <a:prstGeom prst="rect">
            <a:avLst/>
          </a:prstGeom>
        </p:spPr>
      </p:pic>
      <p:pic>
        <p:nvPicPr>
          <p:cNvPr id="19" name="Imag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1864" y="1756410"/>
            <a:ext cx="4484494" cy="1829286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379181" y="52283"/>
            <a:ext cx="6796021" cy="4711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811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02  经典起点：时序与外部因素联合建模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595905" y="767439"/>
            <a:ext cx="7116861" cy="3381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17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ST-ResNet：以</a:t>
            </a:r>
            <a:r>
              <a:rPr lang="zh-CN" sz="2017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区域流入／流出</a:t>
            </a:r>
            <a:r>
              <a:rPr lang="zh-CN" sz="2017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为目标，融合天气与日历信息.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81260" y="1330061"/>
            <a:ext cx="1341701" cy="276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4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原始模型结构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7342908" y="1332367"/>
            <a:ext cx="1757343" cy="2650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从轨迹到区域流量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08556" y="3705939"/>
            <a:ext cx="2712577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5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论文原图Fig.2|网格化与流入矩阵.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328325" y="4267114"/>
            <a:ext cx="998982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8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预测对象：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662740" y="4279240"/>
            <a:ext cx="2369858" cy="245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6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城市网格的</a:t>
            </a:r>
            <a:r>
              <a:rPr lang="zh-CN" sz="1464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流入量</a:t>
            </a:r>
            <a:r>
              <a:rPr lang="zh-CN" sz="146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与</a:t>
            </a:r>
            <a:r>
              <a:rPr lang="zh-CN" sz="1464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流出量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328325" y="4872018"/>
            <a:ext cx="991695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69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融合方式：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70026" y="4884144"/>
            <a:ext cx="2428189" cy="245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6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多时间分支+外部特征分支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321029" y="5462349"/>
            <a:ext cx="1006278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92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适用边界：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662740" y="5479352"/>
            <a:ext cx="2369858" cy="2429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4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区域流动，区别于路段车速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881302" y="5615397"/>
            <a:ext cx="3492808" cy="2477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0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论文原图Fig.3丨近期、周期、趋势+外部因素.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2552157" y="6080465"/>
            <a:ext cx="7124157" cy="3452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6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研究启示：先建立</a:t>
            </a:r>
            <a:r>
              <a:rPr lang="zh-CN" sz="2060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可靠时空基线，</a:t>
            </a:r>
            <a:r>
              <a:rPr lang="zh-CN" sz="206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再检验外部模态的</a:t>
            </a:r>
            <a:r>
              <a:rPr lang="zh-CN" sz="2060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增量价值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0630" y="6562839"/>
            <a:ext cx="2865701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53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Zhang, Zheng &amp; Qi · AAAI 2017 · Fig. 2–3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24732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196882" y="612191"/>
            <a:ext cx="11798236" cy="400841"/>
          </a:xfrm>
          <a:prstGeom prst="roundRect">
            <a:avLst>
              <a:gd name="adj" fmla="val 1830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196882" y="1100490"/>
            <a:ext cx="7065816" cy="4022969"/>
          </a:xfrm>
          <a:prstGeom prst="roundRect">
            <a:avLst>
              <a:gd name="adj" fmla="val 18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401239" y="1100490"/>
            <a:ext cx="4593879" cy="4022969"/>
          </a:xfrm>
          <a:prstGeom prst="roundRect">
            <a:avLst>
              <a:gd name="adj" fmla="val 182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06257" y="1792843"/>
            <a:ext cx="2865701" cy="1639795"/>
          </a:xfrm>
          <a:prstGeom prst="roundRect">
            <a:avLst>
              <a:gd name="adj" fmla="val 447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06257" y="3534680"/>
            <a:ext cx="2865701" cy="1472174"/>
          </a:xfrm>
          <a:prstGeom prst="roundRect">
            <a:avLst>
              <a:gd name="adj" fmla="val 49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587601" y="2339445"/>
            <a:ext cx="1750047" cy="1931318"/>
          </a:xfrm>
          <a:prstGeom prst="roundRect">
            <a:avLst>
              <a:gd name="adj" fmla="val 41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5563695" y="2339445"/>
            <a:ext cx="1596923" cy="2135381"/>
          </a:xfrm>
          <a:prstGeom prst="roundRect">
            <a:avLst>
              <a:gd name="adj" fmla="val 45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7488746" y="1479461"/>
            <a:ext cx="4426163" cy="1115063"/>
          </a:xfrm>
          <a:prstGeom prst="roundRect">
            <a:avLst>
              <a:gd name="adj" fmla="val 65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7488746" y="2674696"/>
            <a:ext cx="4426163" cy="1326413"/>
          </a:xfrm>
          <a:prstGeom prst="roundRect">
            <a:avLst>
              <a:gd name="adj" fmla="val 55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7488746" y="4088559"/>
            <a:ext cx="4426163" cy="983875"/>
          </a:xfrm>
          <a:prstGeom prst="roundRect">
            <a:avLst>
              <a:gd name="adj" fmla="val 74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204168" y="5210918"/>
            <a:ext cx="11783654" cy="1311840"/>
          </a:xfrm>
          <a:prstGeom prst="roundRect">
            <a:avLst>
              <a:gd name="adj" fmla="val 55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196882" y="1100490"/>
            <a:ext cx="7065816" cy="320669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8" name="Rectangle 18"/>
          <p:cNvSpPr/>
          <p:nvPr/>
        </p:nvSpPr>
        <p:spPr>
          <a:xfrm>
            <a:off x="7401239" y="1100490"/>
            <a:ext cx="4593879" cy="320669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9" name="Rectangle 19"/>
          <p:cNvSpPr/>
          <p:nvPr/>
        </p:nvSpPr>
        <p:spPr>
          <a:xfrm>
            <a:off x="204168" y="5210918"/>
            <a:ext cx="11783654" cy="313382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335423" y="1821999"/>
            <a:ext cx="2807370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335423" y="3563826"/>
            <a:ext cx="2807370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3616766" y="2368601"/>
            <a:ext cx="1691716" cy="262366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3" name="Rectangle 23"/>
          <p:cNvSpPr/>
          <p:nvPr/>
        </p:nvSpPr>
        <p:spPr>
          <a:xfrm>
            <a:off x="5600157" y="2368601"/>
            <a:ext cx="1531296" cy="262366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4" name="Rectangle 24"/>
          <p:cNvSpPr/>
          <p:nvPr/>
        </p:nvSpPr>
        <p:spPr>
          <a:xfrm>
            <a:off x="7488746" y="1479461"/>
            <a:ext cx="4426163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5" name="Rectangle 25"/>
          <p:cNvSpPr/>
          <p:nvPr/>
        </p:nvSpPr>
        <p:spPr>
          <a:xfrm>
            <a:off x="7488746" y="2674696"/>
            <a:ext cx="4426163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6" name="Rectangle 26"/>
          <p:cNvSpPr/>
          <p:nvPr/>
        </p:nvSpPr>
        <p:spPr>
          <a:xfrm>
            <a:off x="7488746" y="4088559"/>
            <a:ext cx="4426163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7" name="Rectangle 27"/>
          <p:cNvSpPr/>
          <p:nvPr/>
        </p:nvSpPr>
        <p:spPr>
          <a:xfrm>
            <a:off x="342719" y="5589889"/>
            <a:ext cx="3675097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8" name="Rectangle 28"/>
          <p:cNvSpPr/>
          <p:nvPr/>
        </p:nvSpPr>
        <p:spPr>
          <a:xfrm>
            <a:off x="4338657" y="5589889"/>
            <a:ext cx="3529260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29" name="Rectangle 29"/>
          <p:cNvSpPr/>
          <p:nvPr/>
        </p:nvSpPr>
        <p:spPr>
          <a:xfrm>
            <a:off x="8174184" y="5589889"/>
            <a:ext cx="3675097" cy="255080"/>
          </a:xfrm>
          <a:prstGeom prst="rect">
            <a:avLst/>
          </a:prstGeom>
          <a:solidFill>
            <a:srgbClr val="E1F0FD"/>
          </a:solidFill>
          <a:ln>
            <a:noFill/>
          </a:ln>
        </p:spPr>
      </p:sp>
      <p:sp>
        <p:nvSpPr>
          <p:cNvPr id="30" name="Rectangle 30"/>
          <p:cNvSpPr/>
          <p:nvPr/>
        </p:nvSpPr>
        <p:spPr>
          <a:xfrm>
            <a:off x="7488746" y="1479461"/>
            <a:ext cx="408346" cy="255080"/>
          </a:xfrm>
          <a:prstGeom prst="rect">
            <a:avLst/>
          </a:prstGeom>
          <a:solidFill>
            <a:srgbClr val="0076DF"/>
          </a:solidFill>
          <a:ln>
            <a:noFill/>
          </a:ln>
        </p:spPr>
      </p:sp>
      <p:sp>
        <p:nvSpPr>
          <p:cNvPr id="31" name="Rectangle 31"/>
          <p:cNvSpPr/>
          <p:nvPr/>
        </p:nvSpPr>
        <p:spPr>
          <a:xfrm>
            <a:off x="7488746" y="2674696"/>
            <a:ext cx="408346" cy="255080"/>
          </a:xfrm>
          <a:prstGeom prst="rect">
            <a:avLst/>
          </a:prstGeom>
          <a:solidFill>
            <a:srgbClr val="0076DF"/>
          </a:solidFill>
          <a:ln>
            <a:noFill/>
          </a:ln>
        </p:spPr>
      </p:sp>
      <p:sp>
        <p:nvSpPr>
          <p:cNvPr id="32" name="Rectangle 32"/>
          <p:cNvSpPr/>
          <p:nvPr/>
        </p:nvSpPr>
        <p:spPr>
          <a:xfrm>
            <a:off x="7488746" y="4088559"/>
            <a:ext cx="408346" cy="255080"/>
          </a:xfrm>
          <a:prstGeom prst="rect">
            <a:avLst/>
          </a:prstGeom>
          <a:solidFill>
            <a:srgbClr val="0076DF"/>
          </a:solidFill>
          <a:ln>
            <a:noFill/>
          </a:ln>
        </p:spPr>
      </p:sp>
      <p:sp>
        <p:nvSpPr>
          <p:cNvPr id="33" name="Rectangle 33"/>
          <p:cNvSpPr/>
          <p:nvPr/>
        </p:nvSpPr>
        <p:spPr>
          <a:xfrm>
            <a:off x="342719" y="5589889"/>
            <a:ext cx="408346" cy="255080"/>
          </a:xfrm>
          <a:prstGeom prst="rect">
            <a:avLst/>
          </a:prstGeom>
          <a:solidFill>
            <a:srgbClr val="0076DF"/>
          </a:solidFill>
          <a:ln>
            <a:noFill/>
          </a:ln>
        </p:spPr>
      </p:sp>
      <p:sp>
        <p:nvSpPr>
          <p:cNvPr id="34" name="Rectangle 34"/>
          <p:cNvSpPr/>
          <p:nvPr/>
        </p:nvSpPr>
        <p:spPr>
          <a:xfrm>
            <a:off x="4338657" y="5589889"/>
            <a:ext cx="408346" cy="255080"/>
          </a:xfrm>
          <a:prstGeom prst="rect">
            <a:avLst/>
          </a:prstGeom>
          <a:solidFill>
            <a:srgbClr val="0076DF"/>
          </a:solidFill>
          <a:ln>
            <a:noFill/>
          </a:ln>
        </p:spPr>
      </p:sp>
      <p:sp>
        <p:nvSpPr>
          <p:cNvPr id="35" name="Rectangle 35"/>
          <p:cNvSpPr/>
          <p:nvPr/>
        </p:nvSpPr>
        <p:spPr>
          <a:xfrm>
            <a:off x="8174184" y="5589889"/>
            <a:ext cx="408346" cy="255080"/>
          </a:xfrm>
          <a:prstGeom prst="rect">
            <a:avLst/>
          </a:prstGeom>
          <a:solidFill>
            <a:srgbClr val="0076DF"/>
          </a:solidFill>
          <a:ln>
            <a:noFill/>
          </a:ln>
        </p:spPr>
      </p:sp>
      <p:sp>
        <p:nvSpPr>
          <p:cNvPr id="36" name="Rectangle 36"/>
          <p:cNvSpPr/>
          <p:nvPr/>
        </p:nvSpPr>
        <p:spPr>
          <a:xfrm>
            <a:off x="3755307" y="3192142"/>
            <a:ext cx="546887" cy="495586"/>
          </a:xfrm>
          <a:prstGeom prst="roundRect">
            <a:avLst>
              <a:gd name="adj" fmla="val 5881"/>
            </a:avLst>
          </a:prstGeom>
          <a:solidFill>
            <a:srgbClr val="4DA0F8"/>
          </a:solidFill>
          <a:ln>
            <a:noFill/>
          </a:ln>
        </p:spPr>
      </p:sp>
      <p:sp>
        <p:nvSpPr>
          <p:cNvPr id="37" name="Rectangle 37"/>
          <p:cNvSpPr/>
          <p:nvPr/>
        </p:nvSpPr>
        <p:spPr>
          <a:xfrm>
            <a:off x="4630331" y="3192142"/>
            <a:ext cx="532305" cy="495586"/>
          </a:xfrm>
          <a:prstGeom prst="roundRect">
            <a:avLst>
              <a:gd name="adj" fmla="val 5881"/>
            </a:avLst>
          </a:prstGeom>
          <a:solidFill>
            <a:srgbClr val="F07395"/>
          </a:solidFill>
          <a:ln>
            <a:noFill/>
          </a:ln>
        </p:spPr>
      </p:sp>
      <p:sp>
        <p:nvSpPr>
          <p:cNvPr id="38" name="Rectangle 38"/>
          <p:cNvSpPr/>
          <p:nvPr/>
        </p:nvSpPr>
        <p:spPr>
          <a:xfrm>
            <a:off x="3755307" y="3760603"/>
            <a:ext cx="1407328" cy="313382"/>
          </a:xfrm>
          <a:prstGeom prst="roundRect">
            <a:avLst>
              <a:gd name="adj" fmla="val 9301"/>
            </a:avLst>
          </a:prstGeom>
          <a:solidFill>
            <a:srgbClr val="DEDEDE"/>
          </a:solidFill>
          <a:ln>
            <a:noFill/>
          </a:ln>
        </p:spPr>
      </p:sp>
      <p:sp>
        <p:nvSpPr>
          <p:cNvPr id="39" name="Line 39"/>
          <p:cNvSpPr/>
          <p:nvPr/>
        </p:nvSpPr>
        <p:spPr>
          <a:xfrm>
            <a:off x="3171958" y="2543508"/>
            <a:ext cx="189595" cy="9525"/>
          </a:xfrm>
          <a:custGeom>
            <a:avLst/>
            <a:gdLst/>
            <a:ahLst/>
            <a:cxnLst/>
            <a:rect l="l" t="t" r="r" b="b"/>
            <a:pathLst>
              <a:path w="189595" h="9525">
                <a:moveTo>
                  <a:pt x="0" y="0"/>
                </a:moveTo>
                <a:lnTo>
                  <a:pt x="189595" y="0"/>
                </a:lnTo>
              </a:path>
            </a:pathLst>
          </a:custGeom>
          <a:noFill/>
          <a:ln w="14583">
            <a:solidFill>
              <a:srgbClr val="008BFF"/>
            </a:solidFill>
          </a:ln>
        </p:spPr>
      </p:sp>
      <p:sp>
        <p:nvSpPr>
          <p:cNvPr id="40" name="Line 40"/>
          <p:cNvSpPr/>
          <p:nvPr/>
        </p:nvSpPr>
        <p:spPr>
          <a:xfrm>
            <a:off x="3361553" y="2543508"/>
            <a:ext cx="9525" cy="612191"/>
          </a:xfrm>
          <a:custGeom>
            <a:avLst/>
            <a:gdLst/>
            <a:ahLst/>
            <a:cxnLst/>
            <a:rect l="l" t="t" r="r" b="b"/>
            <a:pathLst>
              <a:path w="9525" h="612191">
                <a:moveTo>
                  <a:pt x="0" y="0"/>
                </a:moveTo>
                <a:lnTo>
                  <a:pt x="0" y="612191"/>
                </a:lnTo>
              </a:path>
            </a:pathLst>
          </a:custGeom>
          <a:noFill/>
          <a:ln w="14583">
            <a:solidFill>
              <a:srgbClr val="008BFF"/>
            </a:solidFill>
          </a:ln>
        </p:spPr>
      </p:sp>
      <p:sp>
        <p:nvSpPr>
          <p:cNvPr id="41" name="Line 41"/>
          <p:cNvSpPr/>
          <p:nvPr/>
        </p:nvSpPr>
        <p:spPr>
          <a:xfrm>
            <a:off x="3361553" y="3155699"/>
            <a:ext cx="109376" cy="9525"/>
          </a:xfrm>
          <a:custGeom>
            <a:avLst/>
            <a:gdLst/>
            <a:ahLst/>
            <a:cxnLst/>
            <a:rect l="l" t="t" r="r" b="b"/>
            <a:pathLst>
              <a:path w="109376" h="9525">
                <a:moveTo>
                  <a:pt x="0" y="0"/>
                </a:moveTo>
                <a:lnTo>
                  <a:pt x="109376" y="0"/>
                </a:lnTo>
              </a:path>
            </a:pathLst>
          </a:custGeom>
          <a:noFill/>
          <a:ln w="14583">
            <a:solidFill>
              <a:srgbClr val="008BFF"/>
            </a:solidFill>
          </a:ln>
        </p:spPr>
      </p:sp>
      <p:sp>
        <p:nvSpPr>
          <p:cNvPr id="42" name="Line 42"/>
          <p:cNvSpPr/>
          <p:nvPr/>
        </p:nvSpPr>
        <p:spPr>
          <a:xfrm>
            <a:off x="3171958" y="4329065"/>
            <a:ext cx="189595" cy="9525"/>
          </a:xfrm>
          <a:custGeom>
            <a:avLst/>
            <a:gdLst/>
            <a:ahLst/>
            <a:cxnLst/>
            <a:rect l="l" t="t" r="r" b="b"/>
            <a:pathLst>
              <a:path w="189595" h="9525">
                <a:moveTo>
                  <a:pt x="0" y="0"/>
                </a:moveTo>
                <a:lnTo>
                  <a:pt x="189595" y="0"/>
                </a:lnTo>
              </a:path>
            </a:pathLst>
          </a:custGeom>
          <a:noFill/>
          <a:ln w="14583">
            <a:solidFill>
              <a:srgbClr val="008BFF"/>
            </a:solidFill>
          </a:ln>
        </p:spPr>
      </p:sp>
      <p:sp>
        <p:nvSpPr>
          <p:cNvPr id="43" name="Line 43"/>
          <p:cNvSpPr/>
          <p:nvPr/>
        </p:nvSpPr>
        <p:spPr>
          <a:xfrm>
            <a:off x="3361553" y="3716874"/>
            <a:ext cx="9525" cy="612191"/>
          </a:xfrm>
          <a:custGeom>
            <a:avLst/>
            <a:gdLst/>
            <a:ahLst/>
            <a:cxnLst/>
            <a:rect l="l" t="t" r="r" b="b"/>
            <a:pathLst>
              <a:path w="9525" h="612191">
                <a:moveTo>
                  <a:pt x="0" y="612191"/>
                </a:moveTo>
                <a:lnTo>
                  <a:pt x="0" y="0"/>
                </a:lnTo>
              </a:path>
            </a:pathLst>
          </a:custGeom>
          <a:noFill/>
          <a:ln w="14583">
            <a:solidFill>
              <a:srgbClr val="008BFF"/>
            </a:solidFill>
          </a:ln>
        </p:spPr>
      </p:sp>
      <p:sp>
        <p:nvSpPr>
          <p:cNvPr id="44" name="Line 44"/>
          <p:cNvSpPr/>
          <p:nvPr/>
        </p:nvSpPr>
        <p:spPr>
          <a:xfrm>
            <a:off x="3361553" y="3716874"/>
            <a:ext cx="109376" cy="9525"/>
          </a:xfrm>
          <a:custGeom>
            <a:avLst/>
            <a:gdLst/>
            <a:ahLst/>
            <a:cxnLst/>
            <a:rect l="l" t="t" r="r" b="b"/>
            <a:pathLst>
              <a:path w="109376" h="9525">
                <a:moveTo>
                  <a:pt x="0" y="0"/>
                </a:moveTo>
                <a:lnTo>
                  <a:pt x="109376" y="0"/>
                </a:lnTo>
              </a:path>
            </a:pathLst>
          </a:custGeom>
          <a:noFill/>
          <a:ln w="14583">
            <a:solidFill>
              <a:srgbClr val="008BFF"/>
            </a:solidFill>
          </a:ln>
        </p:spPr>
      </p:sp>
      <p:sp>
        <p:nvSpPr>
          <p:cNvPr id="45" name="Polygon 45"/>
          <p:cNvSpPr/>
          <p:nvPr/>
        </p:nvSpPr>
        <p:spPr>
          <a:xfrm>
            <a:off x="5323046" y="3432620"/>
            <a:ext cx="218789" cy="160401"/>
          </a:xfrm>
          <a:custGeom>
            <a:avLst/>
            <a:gdLst/>
            <a:ahLst/>
            <a:cxnLst/>
            <a:rect l="l" t="t" r="r" b="b"/>
            <a:pathLst>
              <a:path w="218789" h="160401">
                <a:moveTo>
                  <a:pt x="0" y="7334"/>
                </a:moveTo>
                <a:lnTo>
                  <a:pt x="109347" y="7334"/>
                </a:lnTo>
                <a:lnTo>
                  <a:pt x="109347" y="0"/>
                </a:lnTo>
                <a:lnTo>
                  <a:pt x="218789" y="80201"/>
                </a:lnTo>
                <a:lnTo>
                  <a:pt x="109347" y="160401"/>
                </a:lnTo>
                <a:lnTo>
                  <a:pt x="109347" y="153067"/>
                </a:lnTo>
                <a:lnTo>
                  <a:pt x="0" y="153067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46" name="Line 46"/>
          <p:cNvSpPr/>
          <p:nvPr/>
        </p:nvSpPr>
        <p:spPr>
          <a:xfrm>
            <a:off x="4156367" y="5611749"/>
            <a:ext cx="9525" cy="852697"/>
          </a:xfrm>
          <a:custGeom>
            <a:avLst/>
            <a:gdLst/>
            <a:ahLst/>
            <a:cxnLst/>
            <a:rect l="l" t="t" r="r" b="b"/>
            <a:pathLst>
              <a:path w="9525" h="852697">
                <a:moveTo>
                  <a:pt x="0" y="0"/>
                </a:moveTo>
                <a:lnTo>
                  <a:pt x="0" y="852697"/>
                </a:lnTo>
              </a:path>
            </a:pathLst>
          </a:custGeom>
          <a:noFill/>
          <a:ln w="7296">
            <a:solidFill>
              <a:srgbClr val="93BDD9"/>
            </a:solidFill>
          </a:ln>
        </p:spPr>
      </p:sp>
      <p:sp>
        <p:nvSpPr>
          <p:cNvPr id="47" name="Line 47"/>
          <p:cNvSpPr/>
          <p:nvPr/>
        </p:nvSpPr>
        <p:spPr>
          <a:xfrm>
            <a:off x="7999181" y="5611749"/>
            <a:ext cx="9525" cy="852697"/>
          </a:xfrm>
          <a:custGeom>
            <a:avLst/>
            <a:gdLst/>
            <a:ahLst/>
            <a:cxnLst/>
            <a:rect l="l" t="t" r="r" b="b"/>
            <a:pathLst>
              <a:path w="9525" h="852697">
                <a:moveTo>
                  <a:pt x="0" y="0"/>
                </a:moveTo>
                <a:lnTo>
                  <a:pt x="0" y="852697"/>
                </a:lnTo>
              </a:path>
            </a:pathLst>
          </a:custGeom>
          <a:noFill/>
          <a:ln w="7296">
            <a:solidFill>
              <a:srgbClr val="93BDD9"/>
            </a:solidFill>
          </a:ln>
        </p:spPr>
      </p:sp>
      <p:pic>
        <p:nvPicPr>
          <p:cNvPr id="48" name="Image 4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974" y="2463336"/>
            <a:ext cx="2501113" cy="699649"/>
          </a:xfrm>
          <a:prstGeom prst="rect">
            <a:avLst/>
          </a:prstGeom>
        </p:spPr>
      </p:pic>
      <p:pic>
        <p:nvPicPr>
          <p:cNvPr id="49" name="Image 4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633" y="4212460"/>
            <a:ext cx="452095" cy="663207"/>
          </a:xfrm>
          <a:prstGeom prst="rect">
            <a:avLst/>
          </a:prstGeom>
        </p:spPr>
      </p:pic>
      <p:pic>
        <p:nvPicPr>
          <p:cNvPr id="50" name="Image 5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56305" y="4197887"/>
            <a:ext cx="1013565" cy="510159"/>
          </a:xfrm>
          <a:prstGeom prst="rect">
            <a:avLst/>
          </a:prstGeom>
        </p:spPr>
      </p:pic>
      <p:pic>
        <p:nvPicPr>
          <p:cNvPr id="51" name="Image 5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02204" y="3345190"/>
            <a:ext cx="335423" cy="204064"/>
          </a:xfrm>
          <a:prstGeom prst="rect">
            <a:avLst/>
          </a:prstGeom>
        </p:spPr>
      </p:pic>
      <p:pic>
        <p:nvPicPr>
          <p:cNvPr id="52" name="Image 5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665784" y="3104683"/>
            <a:ext cx="1392746" cy="1034891"/>
          </a:xfrm>
          <a:prstGeom prst="rect">
            <a:avLst/>
          </a:prstGeom>
        </p:spPr>
      </p:pic>
      <p:pic>
        <p:nvPicPr>
          <p:cNvPr id="53" name="Image 5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68956" y="1800130"/>
            <a:ext cx="2654237" cy="670493"/>
          </a:xfrm>
          <a:prstGeom prst="rect">
            <a:avLst/>
          </a:prstGeom>
        </p:spPr>
      </p:pic>
      <p:pic>
        <p:nvPicPr>
          <p:cNvPr id="54" name="Image 5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54373" y="2980792"/>
            <a:ext cx="2683402" cy="838114"/>
          </a:xfrm>
          <a:prstGeom prst="rect">
            <a:avLst/>
          </a:prstGeom>
        </p:spPr>
      </p:pic>
      <p:pic>
        <p:nvPicPr>
          <p:cNvPr id="55" name="Image 5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47077" y="4525842"/>
            <a:ext cx="503139" cy="400841"/>
          </a:xfrm>
          <a:prstGeom prst="rect">
            <a:avLst/>
          </a:prstGeom>
        </p:spPr>
      </p:pic>
      <p:pic>
        <p:nvPicPr>
          <p:cNvPr id="56" name="Image 5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7302" y="5888698"/>
            <a:ext cx="510435" cy="524732"/>
          </a:xfrm>
          <a:prstGeom prst="rect">
            <a:avLst/>
          </a:prstGeom>
        </p:spPr>
      </p:pic>
      <p:pic>
        <p:nvPicPr>
          <p:cNvPr id="57" name="Image 5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55328" y="5910558"/>
            <a:ext cx="473974" cy="510159"/>
          </a:xfrm>
          <a:prstGeom prst="rect">
            <a:avLst/>
          </a:prstGeom>
        </p:spPr>
      </p:pic>
      <p:pic>
        <p:nvPicPr>
          <p:cNvPr id="58" name="Image 5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1470" y="5910558"/>
            <a:ext cx="605228" cy="502872"/>
          </a:xfrm>
          <a:prstGeom prst="rect">
            <a:avLst/>
          </a:prstGeom>
        </p:spPr>
      </p:pic>
      <p:sp>
        <p:nvSpPr>
          <p:cNvPr id="59" name="Rectangle 59"/>
          <p:cNvSpPr/>
          <p:nvPr/>
        </p:nvSpPr>
        <p:spPr>
          <a:xfrm>
            <a:off x="7576252" y="3002651"/>
            <a:ext cx="721890" cy="357111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60" name="Line 60"/>
          <p:cNvSpPr/>
          <p:nvPr/>
        </p:nvSpPr>
        <p:spPr>
          <a:xfrm>
            <a:off x="9749228" y="3104683"/>
            <a:ext cx="94793" cy="9525"/>
          </a:xfrm>
          <a:custGeom>
            <a:avLst/>
            <a:gdLst/>
            <a:ahLst/>
            <a:cxnLst/>
            <a:rect l="l" t="t" r="r" b="b"/>
            <a:pathLst>
              <a:path w="94793" h="9525">
                <a:moveTo>
                  <a:pt x="0" y="0"/>
                </a:moveTo>
                <a:lnTo>
                  <a:pt x="94793" y="0"/>
                </a:lnTo>
              </a:path>
            </a:pathLst>
          </a:custGeom>
          <a:noFill/>
          <a:ln w="14583">
            <a:solidFill>
              <a:srgbClr val="EA2434"/>
            </a:solidFill>
          </a:ln>
        </p:spPr>
      </p:sp>
      <p:sp>
        <p:nvSpPr>
          <p:cNvPr id="61" name="Line 61"/>
          <p:cNvSpPr/>
          <p:nvPr/>
        </p:nvSpPr>
        <p:spPr>
          <a:xfrm>
            <a:off x="9749228" y="3228584"/>
            <a:ext cx="94793" cy="9525"/>
          </a:xfrm>
          <a:custGeom>
            <a:avLst/>
            <a:gdLst/>
            <a:ahLst/>
            <a:cxnLst/>
            <a:rect l="l" t="t" r="r" b="b"/>
            <a:pathLst>
              <a:path w="94793" h="9525">
                <a:moveTo>
                  <a:pt x="0" y="0"/>
                </a:moveTo>
                <a:lnTo>
                  <a:pt x="94793" y="0"/>
                </a:lnTo>
              </a:path>
            </a:pathLst>
          </a:custGeom>
          <a:noFill/>
          <a:ln w="14583">
            <a:solidFill>
              <a:srgbClr val="1976D2"/>
            </a:solidFill>
          </a:ln>
        </p:spPr>
      </p:sp>
      <p:sp>
        <p:nvSpPr>
          <p:cNvPr id="62" name="TextBox 62"/>
          <p:cNvSpPr txBox="1"/>
          <p:nvPr/>
        </p:nvSpPr>
        <p:spPr>
          <a:xfrm>
            <a:off x="109376" y="85525"/>
            <a:ext cx="6518929" cy="3828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284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02  事件文本：补充常规时序难以解释的异常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3791769" y="695639"/>
            <a:ext cx="4688672" cy="2776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56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文本的价值在于提前描述</a:t>
            </a:r>
            <a:r>
              <a:rPr lang="zh-CN" sz="1656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事件、地点和影响时段。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357302" y="1144219"/>
            <a:ext cx="2377145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3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综述概念示意，非论文原图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7561669" y="1147858"/>
            <a:ext cx="1742761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5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代表工作与证据边界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350006" y="1497682"/>
            <a:ext cx="633663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0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将事件文本与交通时序进行跨模态融合，用文本补充常规时序难以解释的异常。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7590834" y="1494987"/>
            <a:ext cx="357302" cy="224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36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68" name="TextBox 68"/>
          <p:cNvSpPr txBox="1"/>
          <p:nvPr/>
        </p:nvSpPr>
        <p:spPr>
          <a:xfrm>
            <a:off x="8028346" y="1490396"/>
            <a:ext cx="1808378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85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Event Traffic Forecasting</a:t>
            </a:r>
          </a:p>
        </p:txBody>
      </p:sp>
      <p:sp>
        <p:nvSpPr>
          <p:cNvPr id="69" name="TextBox 69"/>
          <p:cNvSpPr txBox="1"/>
          <p:nvPr/>
        </p:nvSpPr>
        <p:spPr>
          <a:xfrm>
            <a:off x="896903" y="1840220"/>
            <a:ext cx="1662541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88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历史交通→时空编码</a:t>
            </a:r>
          </a:p>
        </p:txBody>
      </p:sp>
      <p:sp>
        <p:nvSpPr>
          <p:cNvPr id="70" name="TextBox 70"/>
          <p:cNvSpPr txBox="1"/>
          <p:nvPr/>
        </p:nvSpPr>
        <p:spPr>
          <a:xfrm>
            <a:off x="10347160" y="1774622"/>
            <a:ext cx="1144819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32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ACM MM 2024:</a:t>
            </a:r>
          </a:p>
        </p:txBody>
      </p:sp>
      <p:sp>
        <p:nvSpPr>
          <p:cNvPr id="71" name="TextBox 71"/>
          <p:cNvSpPr txBox="1"/>
          <p:nvPr/>
        </p:nvSpPr>
        <p:spPr>
          <a:xfrm>
            <a:off x="10339864" y="1942252"/>
            <a:ext cx="1363580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027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面向事件相关交通预测</a:t>
            </a:r>
          </a:p>
        </p:txBody>
      </p:sp>
      <p:sp>
        <p:nvSpPr>
          <p:cNvPr id="72" name="TextBox 72"/>
          <p:cNvSpPr txBox="1"/>
          <p:nvPr/>
        </p:nvSpPr>
        <p:spPr>
          <a:xfrm>
            <a:off x="8830447" y="2029701"/>
            <a:ext cx="473974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预测模型</a:t>
            </a:r>
          </a:p>
        </p:txBody>
      </p:sp>
      <p:sp>
        <p:nvSpPr>
          <p:cNvPr id="73" name="TextBox 73"/>
          <p:cNvSpPr txBox="1"/>
          <p:nvPr/>
        </p:nvSpPr>
        <p:spPr>
          <a:xfrm>
            <a:off x="918772" y="2117160"/>
            <a:ext cx="1662541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4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交通时序数据(如速度、流量）</a:t>
            </a:r>
          </a:p>
        </p:txBody>
      </p:sp>
      <p:sp>
        <p:nvSpPr>
          <p:cNvPr id="74" name="TextBox 74"/>
          <p:cNvSpPr txBox="1"/>
          <p:nvPr/>
        </p:nvSpPr>
        <p:spPr>
          <a:xfrm>
            <a:off x="1159402" y="2270208"/>
            <a:ext cx="1137533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4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进行时空建模与编码</a:t>
            </a:r>
          </a:p>
        </p:txBody>
      </p:sp>
      <p:sp>
        <p:nvSpPr>
          <p:cNvPr id="75" name="TextBox 75"/>
          <p:cNvSpPr txBox="1"/>
          <p:nvPr/>
        </p:nvSpPr>
        <p:spPr>
          <a:xfrm>
            <a:off x="7561669" y="2233765"/>
            <a:ext cx="472516" cy="174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事件文本</a:t>
            </a:r>
          </a:p>
        </p:txBody>
      </p:sp>
      <p:sp>
        <p:nvSpPr>
          <p:cNvPr id="76" name="TextBox 76"/>
          <p:cNvSpPr txBox="1"/>
          <p:nvPr/>
        </p:nvSpPr>
        <p:spPr>
          <a:xfrm>
            <a:off x="8079391" y="2241061"/>
            <a:ext cx="481260" cy="167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3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交通时序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0354447" y="2233765"/>
            <a:ext cx="1560462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0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利用事件文本辅助交通预测，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4061565" y="2379526"/>
            <a:ext cx="867728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跨模态融合</a:t>
            </a:r>
          </a:p>
        </p:txBody>
      </p:sp>
      <p:sp>
        <p:nvSpPr>
          <p:cNvPr id="79" name="TextBox 79"/>
          <p:cNvSpPr txBox="1"/>
          <p:nvPr/>
        </p:nvSpPr>
        <p:spPr>
          <a:xfrm>
            <a:off x="6023077" y="2386813"/>
            <a:ext cx="736483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未来交通</a:t>
            </a:r>
          </a:p>
        </p:txBody>
      </p:sp>
      <p:sp>
        <p:nvSpPr>
          <p:cNvPr id="80" name="TextBox 80"/>
          <p:cNvSpPr txBox="1"/>
          <p:nvPr/>
        </p:nvSpPr>
        <p:spPr>
          <a:xfrm>
            <a:off x="10354447" y="2394109"/>
            <a:ext cx="1363580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5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检验事件场景下的鲁棒性。</a:t>
            </a:r>
          </a:p>
        </p:txBody>
      </p:sp>
      <p:sp>
        <p:nvSpPr>
          <p:cNvPr id="81" name="TextBox 81"/>
          <p:cNvSpPr txBox="1"/>
          <p:nvPr/>
        </p:nvSpPr>
        <p:spPr>
          <a:xfrm>
            <a:off x="3813648" y="2678335"/>
            <a:ext cx="1370867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3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对齐时空表示与文本表示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5840787" y="2678335"/>
            <a:ext cx="1130236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3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预测未来一段时间的</a:t>
            </a:r>
          </a:p>
        </p:txBody>
      </p:sp>
      <p:sp>
        <p:nvSpPr>
          <p:cNvPr id="83" name="TextBox 83"/>
          <p:cNvSpPr txBox="1"/>
          <p:nvPr/>
        </p:nvSpPr>
        <p:spPr>
          <a:xfrm>
            <a:off x="7598121" y="2690222"/>
            <a:ext cx="364598" cy="224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36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84" name="TextBox 84"/>
          <p:cNvSpPr txBox="1"/>
          <p:nvPr/>
        </p:nvSpPr>
        <p:spPr>
          <a:xfrm>
            <a:off x="8021050" y="2692918"/>
            <a:ext cx="488556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4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BjTT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4119905" y="2831382"/>
            <a:ext cx="780231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3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进行联合建模</a:t>
            </a:r>
          </a:p>
        </p:txBody>
      </p:sp>
      <p:sp>
        <p:nvSpPr>
          <p:cNvPr id="86" name="TextBox 86"/>
          <p:cNvSpPr txBox="1"/>
          <p:nvPr/>
        </p:nvSpPr>
        <p:spPr>
          <a:xfrm>
            <a:off x="5680367" y="2831382"/>
            <a:ext cx="1402956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0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交通状态(如速度、拥堵)</a:t>
            </a:r>
          </a:p>
        </p:txBody>
      </p:sp>
      <p:sp>
        <p:nvSpPr>
          <p:cNvPr id="87" name="TextBox 87"/>
          <p:cNvSpPr txBox="1"/>
          <p:nvPr/>
        </p:nvSpPr>
        <p:spPr>
          <a:xfrm>
            <a:off x="7663748" y="2999013"/>
            <a:ext cx="64168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明日8:00起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9902352" y="3013586"/>
            <a:ext cx="277092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89" name="TextBox 89"/>
          <p:cNvSpPr txBox="1"/>
          <p:nvPr/>
        </p:nvSpPr>
        <p:spPr>
          <a:xfrm>
            <a:off x="10347160" y="2977144"/>
            <a:ext cx="1312535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87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交通时序与文本配对，</a:t>
            </a:r>
          </a:p>
        </p:txBody>
      </p:sp>
      <p:sp>
        <p:nvSpPr>
          <p:cNvPr id="90" name="TextBox 90"/>
          <p:cNvSpPr txBox="1"/>
          <p:nvPr/>
        </p:nvSpPr>
        <p:spPr>
          <a:xfrm>
            <a:off x="2172976" y="3130191"/>
            <a:ext cx="809396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3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时空编码表示</a:t>
            </a:r>
          </a:p>
        </p:txBody>
      </p:sp>
      <p:sp>
        <p:nvSpPr>
          <p:cNvPr id="91" name="TextBox 91"/>
          <p:cNvSpPr txBox="1"/>
          <p:nvPr/>
        </p:nvSpPr>
        <p:spPr>
          <a:xfrm>
            <a:off x="7649166" y="3152061"/>
            <a:ext cx="576053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某路段施工</a:t>
            </a:r>
          </a:p>
        </p:txBody>
      </p:sp>
      <p:sp>
        <p:nvSpPr>
          <p:cNvPr id="92" name="TextBox 92"/>
          <p:cNvSpPr txBox="1"/>
          <p:nvPr/>
        </p:nvSpPr>
        <p:spPr>
          <a:xfrm>
            <a:off x="9902352" y="3144764"/>
            <a:ext cx="279035" cy="174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2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真实</a:t>
            </a:r>
          </a:p>
        </p:txBody>
      </p:sp>
      <p:sp>
        <p:nvSpPr>
          <p:cNvPr id="93" name="TextBox 93"/>
          <p:cNvSpPr txBox="1"/>
          <p:nvPr/>
        </p:nvSpPr>
        <p:spPr>
          <a:xfrm>
            <a:off x="10354447" y="3144764"/>
            <a:ext cx="998982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054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关注速度与拥堵</a:t>
            </a:r>
          </a:p>
        </p:txBody>
      </p:sp>
      <p:sp>
        <p:nvSpPr>
          <p:cNvPr id="94" name="TextBox 94"/>
          <p:cNvSpPr txBox="1"/>
          <p:nvPr/>
        </p:nvSpPr>
        <p:spPr>
          <a:xfrm>
            <a:off x="3893858" y="3268666"/>
            <a:ext cx="342719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37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时空</a:t>
            </a:r>
          </a:p>
        </p:txBody>
      </p:sp>
      <p:sp>
        <p:nvSpPr>
          <p:cNvPr id="95" name="TextBox 95"/>
          <p:cNvSpPr txBox="1"/>
          <p:nvPr/>
        </p:nvSpPr>
        <p:spPr>
          <a:xfrm>
            <a:off x="4768882" y="3268666"/>
            <a:ext cx="350006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48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96" name="TextBox 96"/>
          <p:cNvSpPr txBox="1"/>
          <p:nvPr/>
        </p:nvSpPr>
        <p:spPr>
          <a:xfrm>
            <a:off x="8465858" y="3232223"/>
            <a:ext cx="475012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2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配对数据</a:t>
            </a:r>
          </a:p>
        </p:txBody>
      </p:sp>
      <p:sp>
        <p:nvSpPr>
          <p:cNvPr id="97" name="TextBox 97"/>
          <p:cNvSpPr txBox="1"/>
          <p:nvPr/>
        </p:nvSpPr>
        <p:spPr>
          <a:xfrm>
            <a:off x="7802299" y="3326968"/>
            <a:ext cx="313553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2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文本</a:t>
            </a:r>
          </a:p>
        </p:txBody>
      </p:sp>
      <p:sp>
        <p:nvSpPr>
          <p:cNvPr id="98" name="TextBox 98"/>
          <p:cNvSpPr txBox="1"/>
          <p:nvPr/>
        </p:nvSpPr>
        <p:spPr>
          <a:xfrm>
            <a:off x="3893858" y="3407140"/>
            <a:ext cx="350006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20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表示</a:t>
            </a:r>
          </a:p>
        </p:txBody>
      </p:sp>
      <p:sp>
        <p:nvSpPr>
          <p:cNvPr id="99" name="TextBox 99"/>
          <p:cNvSpPr txBox="1"/>
          <p:nvPr/>
        </p:nvSpPr>
        <p:spPr>
          <a:xfrm>
            <a:off x="4761586" y="3407140"/>
            <a:ext cx="364598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05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表示</a:t>
            </a:r>
          </a:p>
        </p:txBody>
      </p:sp>
      <p:sp>
        <p:nvSpPr>
          <p:cNvPr id="100" name="TextBox 100"/>
          <p:cNvSpPr txBox="1"/>
          <p:nvPr/>
        </p:nvSpPr>
        <p:spPr>
          <a:xfrm>
            <a:off x="8961701" y="3356124"/>
            <a:ext cx="473974" cy="196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预测模型</a:t>
            </a:r>
          </a:p>
        </p:txBody>
      </p:sp>
      <p:sp>
        <p:nvSpPr>
          <p:cNvPr id="101" name="TextBox 101"/>
          <p:cNvSpPr txBox="1"/>
          <p:nvPr/>
        </p:nvSpPr>
        <p:spPr>
          <a:xfrm>
            <a:off x="10354447" y="3392557"/>
            <a:ext cx="1516704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5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构建事件文本与交通时序的</a:t>
            </a:r>
          </a:p>
        </p:txBody>
      </p:sp>
      <p:sp>
        <p:nvSpPr>
          <p:cNvPr id="102" name="TextBox 102"/>
          <p:cNvSpPr txBox="1"/>
          <p:nvPr/>
        </p:nvSpPr>
        <p:spPr>
          <a:xfrm>
            <a:off x="918772" y="3582048"/>
            <a:ext cx="1691716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88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事件描述→文本表示</a:t>
            </a:r>
          </a:p>
        </p:txBody>
      </p:sp>
      <p:sp>
        <p:nvSpPr>
          <p:cNvPr id="103" name="TextBox 103"/>
          <p:cNvSpPr txBox="1"/>
          <p:nvPr/>
        </p:nvSpPr>
        <p:spPr>
          <a:xfrm>
            <a:off x="10347160" y="3567474"/>
            <a:ext cx="1378163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2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配对数据集，关注速度与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7722089" y="3749669"/>
            <a:ext cx="481260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2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交通时序</a:t>
            </a:r>
          </a:p>
        </p:txBody>
      </p:sp>
      <p:sp>
        <p:nvSpPr>
          <p:cNvPr id="105" name="TextBox 105"/>
          <p:cNvSpPr txBox="1"/>
          <p:nvPr/>
        </p:nvSpPr>
        <p:spPr>
          <a:xfrm>
            <a:off x="10354447" y="3720522"/>
            <a:ext cx="962530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9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拥堵的预测效果。</a:t>
            </a:r>
          </a:p>
        </p:txBody>
      </p:sp>
      <p:sp>
        <p:nvSpPr>
          <p:cNvPr id="106" name="TextBox 106"/>
          <p:cNvSpPr txBox="1"/>
          <p:nvPr/>
        </p:nvSpPr>
        <p:spPr>
          <a:xfrm>
            <a:off x="751065" y="3858987"/>
            <a:ext cx="2027139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1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事件文本（如交通管制、活动、事故）</a:t>
            </a:r>
          </a:p>
        </p:txBody>
      </p:sp>
      <p:sp>
        <p:nvSpPr>
          <p:cNvPr id="107" name="TextBox 107"/>
          <p:cNvSpPr txBox="1"/>
          <p:nvPr/>
        </p:nvSpPr>
        <p:spPr>
          <a:xfrm>
            <a:off x="4046982" y="3815267"/>
            <a:ext cx="918772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6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跨模态融合模型</a:t>
            </a:r>
          </a:p>
        </p:txBody>
      </p:sp>
      <p:sp>
        <p:nvSpPr>
          <p:cNvPr id="108" name="TextBox 108"/>
          <p:cNvSpPr txBox="1"/>
          <p:nvPr/>
        </p:nvSpPr>
        <p:spPr>
          <a:xfrm>
            <a:off x="1217743" y="4026618"/>
            <a:ext cx="1129789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3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进行语义理解与表示</a:t>
            </a:r>
          </a:p>
        </p:txBody>
      </p:sp>
      <p:sp>
        <p:nvSpPr>
          <p:cNvPr id="109" name="TextBox 109"/>
          <p:cNvSpPr txBox="1"/>
          <p:nvPr/>
        </p:nvSpPr>
        <p:spPr>
          <a:xfrm>
            <a:off x="7583538" y="4099493"/>
            <a:ext cx="393764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15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10" name="TextBox 110"/>
          <p:cNvSpPr txBox="1"/>
          <p:nvPr/>
        </p:nvSpPr>
        <p:spPr>
          <a:xfrm>
            <a:off x="5884535" y="4179665"/>
            <a:ext cx="102815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3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未来交通预测结果</a:t>
            </a:r>
          </a:p>
        </p:txBody>
      </p:sp>
      <p:sp>
        <p:nvSpPr>
          <p:cNvPr id="111" name="TextBox 111"/>
          <p:cNvSpPr txBox="1"/>
          <p:nvPr/>
        </p:nvSpPr>
        <p:spPr>
          <a:xfrm>
            <a:off x="8028346" y="4114067"/>
            <a:ext cx="627097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006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阅读边界</a:t>
            </a:r>
          </a:p>
        </p:txBody>
      </p:sp>
      <p:sp>
        <p:nvSpPr>
          <p:cNvPr id="112" name="TextBox 112"/>
          <p:cNvSpPr txBox="1"/>
          <p:nvPr/>
        </p:nvSpPr>
        <p:spPr>
          <a:xfrm>
            <a:off x="977113" y="4296270"/>
            <a:ext cx="368970" cy="174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示例：</a:t>
            </a:r>
          </a:p>
        </p:txBody>
      </p:sp>
      <p:sp>
        <p:nvSpPr>
          <p:cNvPr id="113" name="TextBox 113"/>
          <p:cNvSpPr txBox="1"/>
          <p:nvPr/>
        </p:nvSpPr>
        <p:spPr>
          <a:xfrm>
            <a:off x="969816" y="4427458"/>
            <a:ext cx="1300867" cy="19677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明日某路段举行大型活动，</a:t>
            </a:r>
          </a:p>
        </p:txBody>
      </p:sp>
      <p:sp>
        <p:nvSpPr>
          <p:cNvPr id="114" name="TextBox 114"/>
          <p:cNvSpPr txBox="1"/>
          <p:nvPr/>
        </p:nvSpPr>
        <p:spPr>
          <a:xfrm>
            <a:off x="10354447" y="4369156"/>
            <a:ext cx="1108367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18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不把不同预测目标、</a:t>
            </a:r>
          </a:p>
        </p:txBody>
      </p:sp>
      <p:sp>
        <p:nvSpPr>
          <p:cNvPr id="115" name="TextBox 115"/>
          <p:cNvSpPr txBox="1"/>
          <p:nvPr/>
        </p:nvSpPr>
        <p:spPr>
          <a:xfrm>
            <a:off x="8320021" y="4456605"/>
            <a:ext cx="1618793" cy="1676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7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目标：速度、流量、拥堵</a:t>
            </a:r>
          </a:p>
        </p:txBody>
      </p:sp>
      <p:sp>
        <p:nvSpPr>
          <p:cNvPr id="116" name="TextBox 116"/>
          <p:cNvSpPr txBox="1"/>
          <p:nvPr/>
        </p:nvSpPr>
        <p:spPr>
          <a:xfrm>
            <a:off x="969816" y="4580506"/>
            <a:ext cx="1421911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08:00–18:00 交通管制，</a:t>
            </a:r>
          </a:p>
        </p:txBody>
      </p:sp>
      <p:sp>
        <p:nvSpPr>
          <p:cNvPr id="117" name="TextBox 117"/>
          <p:cNvSpPr txBox="1"/>
          <p:nvPr/>
        </p:nvSpPr>
        <p:spPr>
          <a:xfrm>
            <a:off x="10347160" y="4529490"/>
            <a:ext cx="125420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4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数据和指标直接排名。</a:t>
            </a:r>
          </a:p>
        </p:txBody>
      </p:sp>
      <p:sp>
        <p:nvSpPr>
          <p:cNvPr id="118" name="TextBox 118"/>
          <p:cNvSpPr txBox="1"/>
          <p:nvPr/>
        </p:nvSpPr>
        <p:spPr>
          <a:xfrm>
            <a:off x="2522982" y="4704398"/>
            <a:ext cx="568766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3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文本表示</a:t>
            </a:r>
          </a:p>
        </p:txBody>
      </p:sp>
      <p:sp>
        <p:nvSpPr>
          <p:cNvPr id="119" name="TextBox 119"/>
          <p:cNvSpPr txBox="1"/>
          <p:nvPr/>
        </p:nvSpPr>
        <p:spPr>
          <a:xfrm>
            <a:off x="8312725" y="4638808"/>
            <a:ext cx="1713586" cy="1603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7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范围：城市、路网、粒度</a:t>
            </a:r>
          </a:p>
        </p:txBody>
      </p:sp>
      <p:sp>
        <p:nvSpPr>
          <p:cNvPr id="120" name="TextBox 120"/>
          <p:cNvSpPr txBox="1"/>
          <p:nvPr/>
        </p:nvSpPr>
        <p:spPr>
          <a:xfrm>
            <a:off x="977113" y="4733554"/>
            <a:ext cx="1013565" cy="1603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2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周边道路可能拥堵。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0347160" y="4704398"/>
            <a:ext cx="1567748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1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设定、数据与指标各异。</a:t>
            </a:r>
          </a:p>
        </p:txBody>
      </p:sp>
      <p:sp>
        <p:nvSpPr>
          <p:cNvPr id="122" name="TextBox 122"/>
          <p:cNvSpPr txBox="1"/>
          <p:nvPr/>
        </p:nvSpPr>
        <p:spPr>
          <a:xfrm>
            <a:off x="8298142" y="4813716"/>
            <a:ext cx="1801092" cy="16033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9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指标：MAE、RMSE、MAPE</a:t>
            </a:r>
          </a:p>
        </p:txBody>
      </p:sp>
      <p:sp>
        <p:nvSpPr>
          <p:cNvPr id="123" name="TextBox 123"/>
          <p:cNvSpPr txBox="1"/>
          <p:nvPr/>
        </p:nvSpPr>
        <p:spPr>
          <a:xfrm>
            <a:off x="10347160" y="4842872"/>
            <a:ext cx="1575044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2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需在同一评测条件下比较。</a:t>
            </a:r>
          </a:p>
        </p:txBody>
      </p:sp>
      <p:sp>
        <p:nvSpPr>
          <p:cNvPr id="124" name="TextBox 124"/>
          <p:cNvSpPr txBox="1"/>
          <p:nvPr/>
        </p:nvSpPr>
        <p:spPr>
          <a:xfrm>
            <a:off x="350006" y="5252190"/>
            <a:ext cx="1801092" cy="2454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64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必须回答的三个问题</a:t>
            </a:r>
          </a:p>
        </p:txBody>
      </p:sp>
      <p:sp>
        <p:nvSpPr>
          <p:cNvPr id="125" name="TextBox 125"/>
          <p:cNvSpPr txBox="1"/>
          <p:nvPr/>
        </p:nvSpPr>
        <p:spPr>
          <a:xfrm>
            <a:off x="437512" y="5609053"/>
            <a:ext cx="364598" cy="224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36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126" name="TextBox 126"/>
          <p:cNvSpPr txBox="1"/>
          <p:nvPr/>
        </p:nvSpPr>
        <p:spPr>
          <a:xfrm>
            <a:off x="882320" y="5615397"/>
            <a:ext cx="1341701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22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事件提前多久发布？</a:t>
            </a:r>
          </a:p>
        </p:txBody>
      </p:sp>
      <p:sp>
        <p:nvSpPr>
          <p:cNvPr id="127" name="TextBox 127"/>
          <p:cNvSpPr txBox="1"/>
          <p:nvPr/>
        </p:nvSpPr>
        <p:spPr>
          <a:xfrm>
            <a:off x="4433459" y="5612702"/>
            <a:ext cx="371885" cy="224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36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128" name="TextBox 128"/>
          <p:cNvSpPr txBox="1"/>
          <p:nvPr/>
        </p:nvSpPr>
        <p:spPr>
          <a:xfrm>
            <a:off x="4892840" y="5615397"/>
            <a:ext cx="1348997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29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是否包含未来信息？</a:t>
            </a:r>
          </a:p>
        </p:txBody>
      </p:sp>
      <p:sp>
        <p:nvSpPr>
          <p:cNvPr id="129" name="TextBox 129"/>
          <p:cNvSpPr txBox="1"/>
          <p:nvPr/>
        </p:nvSpPr>
        <p:spPr>
          <a:xfrm>
            <a:off x="8261680" y="5609053"/>
            <a:ext cx="371885" cy="224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36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130" name="TextBox 130"/>
          <p:cNvSpPr txBox="1"/>
          <p:nvPr/>
        </p:nvSpPr>
        <p:spPr>
          <a:xfrm>
            <a:off x="8728367" y="5627818"/>
            <a:ext cx="1613440" cy="1865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13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无事件时是否仍有增益？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969816" y="5899633"/>
            <a:ext cx="2092766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7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·分析事件文本在预测时的平均提前时间。</a:t>
            </a:r>
          </a:p>
        </p:txBody>
      </p:sp>
      <p:sp>
        <p:nvSpPr>
          <p:cNvPr id="132" name="TextBox 132"/>
          <p:cNvSpPr txBox="1"/>
          <p:nvPr/>
        </p:nvSpPr>
        <p:spPr>
          <a:xfrm>
            <a:off x="5155349" y="5899633"/>
            <a:ext cx="2420903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8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检查文本中是否包含未来交通状态的直接描述。</a:t>
            </a:r>
          </a:p>
        </p:txBody>
      </p:sp>
      <p:sp>
        <p:nvSpPr>
          <p:cNvPr id="133" name="TextBox 133"/>
          <p:cNvSpPr txBox="1"/>
          <p:nvPr/>
        </p:nvSpPr>
        <p:spPr>
          <a:xfrm>
            <a:off x="8983580" y="5899633"/>
            <a:ext cx="2078184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83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在无事件或低事件频率时评估模型性能。</a:t>
            </a:r>
          </a:p>
        </p:txBody>
      </p:sp>
      <p:sp>
        <p:nvSpPr>
          <p:cNvPr id="134" name="TextBox 134"/>
          <p:cNvSpPr txBox="1"/>
          <p:nvPr/>
        </p:nvSpPr>
        <p:spPr>
          <a:xfrm>
            <a:off x="962530" y="6089113"/>
            <a:ext cx="1669837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6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·探讨提前量与预测效果的关系。</a:t>
            </a:r>
          </a:p>
        </p:txBody>
      </p:sp>
      <p:sp>
        <p:nvSpPr>
          <p:cNvPr id="135" name="TextBox 135"/>
          <p:cNvSpPr txBox="1"/>
          <p:nvPr/>
        </p:nvSpPr>
        <p:spPr>
          <a:xfrm>
            <a:off x="5169932" y="6089113"/>
            <a:ext cx="2522982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6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采用严格的时间切分与信息过滤，避免数据泄漏。</a:t>
            </a:r>
          </a:p>
        </p:txBody>
      </p:sp>
      <p:sp>
        <p:nvSpPr>
          <p:cNvPr id="136" name="TextBox 136"/>
          <p:cNvSpPr txBox="1"/>
          <p:nvPr/>
        </p:nvSpPr>
        <p:spPr>
          <a:xfrm>
            <a:off x="8961701" y="6089113"/>
            <a:ext cx="1888598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8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·与仅使用交通时序的基线进行对比。</a:t>
            </a:r>
          </a:p>
        </p:txBody>
      </p:sp>
      <p:sp>
        <p:nvSpPr>
          <p:cNvPr id="137" name="TextBox 137"/>
          <p:cNvSpPr txBox="1"/>
          <p:nvPr/>
        </p:nvSpPr>
        <p:spPr>
          <a:xfrm>
            <a:off x="962530" y="6264031"/>
            <a:ext cx="3084462" cy="17490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7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·关注不同事件类型（如施工、活动、事故）的提前发布规律。</a:t>
            </a:r>
          </a:p>
        </p:txBody>
      </p:sp>
      <p:sp>
        <p:nvSpPr>
          <p:cNvPr id="138" name="TextBox 138"/>
          <p:cNvSpPr txBox="1"/>
          <p:nvPr/>
        </p:nvSpPr>
        <p:spPr>
          <a:xfrm>
            <a:off x="5060556" y="6278604"/>
            <a:ext cx="2078184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6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·仅使用在预测时刻可获得的文本信息。</a:t>
            </a:r>
          </a:p>
        </p:txBody>
      </p:sp>
      <p:sp>
        <p:nvSpPr>
          <p:cNvPr id="139" name="TextBox 139"/>
          <p:cNvSpPr txBox="1"/>
          <p:nvPr/>
        </p:nvSpPr>
        <p:spPr>
          <a:xfrm>
            <a:off x="8947118" y="6278604"/>
            <a:ext cx="2530278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7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·分析文本建模是否带来泛化能力与鲁棒性提升。</a:t>
            </a:r>
          </a:p>
        </p:txBody>
      </p:sp>
      <p:sp>
        <p:nvSpPr>
          <p:cNvPr id="140" name="TextBox 140"/>
          <p:cNvSpPr txBox="1"/>
          <p:nvPr/>
        </p:nvSpPr>
        <p:spPr>
          <a:xfrm>
            <a:off x="218761" y="6606569"/>
            <a:ext cx="5323065" cy="18220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87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来源：EventTrafficForecasting作者仓库；BjTT作者项目页。未获得可核验完整结果的工作不列性能数字。</a:t>
            </a:r>
          </a:p>
        </p:txBody>
      </p:sp>
      <p:sp>
        <p:nvSpPr>
          <p:cNvPr id="141" name="TextBox 141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575748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328136" y="670493"/>
            <a:ext cx="11535728" cy="4008396"/>
          </a:xfrm>
          <a:prstGeom prst="roundRect">
            <a:avLst>
              <a:gd name="adj" fmla="val 18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28136" y="4766348"/>
            <a:ext cx="3791769" cy="1180652"/>
          </a:xfrm>
          <a:prstGeom prst="roundRect">
            <a:avLst>
              <a:gd name="adj" fmla="val 62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265743" y="4766348"/>
            <a:ext cx="3711559" cy="1180652"/>
          </a:xfrm>
          <a:prstGeom prst="roundRect">
            <a:avLst>
              <a:gd name="adj" fmla="val 62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130435" y="4766348"/>
            <a:ext cx="3733438" cy="1180652"/>
          </a:xfrm>
          <a:prstGeom prst="roundRect">
            <a:avLst>
              <a:gd name="adj" fmla="val 62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28136" y="6041746"/>
            <a:ext cx="11535728" cy="444570"/>
          </a:xfrm>
          <a:prstGeom prst="roundRect">
            <a:avLst>
              <a:gd name="adj" fmla="val 1650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328136" y="670493"/>
            <a:ext cx="11535728" cy="41541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328136" y="4766348"/>
            <a:ext cx="3791769" cy="30609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4265743" y="4766348"/>
            <a:ext cx="3711559" cy="30609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8130435" y="4766348"/>
            <a:ext cx="3733438" cy="30609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5" name="Rectangle 15"/>
          <p:cNvSpPr/>
          <p:nvPr/>
        </p:nvSpPr>
        <p:spPr>
          <a:xfrm>
            <a:off x="576053" y="6100048"/>
            <a:ext cx="1093784" cy="313382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16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3160" y="1122350"/>
            <a:ext cx="9749228" cy="3301460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313553" y="78953"/>
            <a:ext cx="6642887" cy="41784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49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02  KGCM：将文本知识注入区域需求预测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46887" y="739731"/>
            <a:ext cx="4360535" cy="27693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8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论文原图丨局部知识与全局知识的两阶段融合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4448042" y="4442031"/>
            <a:ext cx="3412598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038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Figure 2: Zhang et al., arXiv:2509.06976 (2025 preprint)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539601" y="4799143"/>
            <a:ext cx="823979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6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文本来源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477207" y="4799143"/>
            <a:ext cx="845858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64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交互机制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8356483" y="4799143"/>
            <a:ext cx="875024" cy="2696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94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输出目标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02110" y="5178114"/>
            <a:ext cx="1925050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7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LLM辅助生成，人工修订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710541" y="5185410"/>
            <a:ext cx="2158394" cy="2040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1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局部跨注意力与全局知识融合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589816" y="5185410"/>
            <a:ext cx="1545879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8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区域订单或出行需求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16693" y="5433193"/>
            <a:ext cx="2121932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包括区域历史、功能、事件、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695958" y="5433193"/>
            <a:ext cx="2741743" cy="2113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4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基于时序与文本提示向量的门控机制，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82530" y="5433193"/>
            <a:ext cx="2289105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面向区域/时间的需求预测任务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809396" y="5629970"/>
            <a:ext cx="1524000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语义描述等文本信息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4695958" y="5629970"/>
            <a:ext cx="1538583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结合图结构动态优化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36483" y="6140129"/>
            <a:ext cx="831275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6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复现重点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764630" y="6123127"/>
            <a:ext cx="3799065" cy="2526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07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知识构造时间、数据划分与私有数据可得性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8874204" y="6161999"/>
            <a:ext cx="2851118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246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2025</a:t>
            </a:r>
            <a:r>
              <a:rPr lang="zh-CN" sz="124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 xml:space="preserve"> </a:t>
            </a:r>
            <a:r>
              <a:rPr lang="zh-CN" sz="1246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预印本丨作者报告，尚未独立复现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328136" y="6526397"/>
            <a:ext cx="2574026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081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Zhang et al. · arXiv:2509.06976 · Fig. 2.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772525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298971" y="925573"/>
            <a:ext cx="6664766" cy="4496695"/>
          </a:xfrm>
          <a:prstGeom prst="roundRect">
            <a:avLst>
              <a:gd name="adj" fmla="val 16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7124157" y="925573"/>
            <a:ext cx="4798047" cy="4496695"/>
          </a:xfrm>
          <a:prstGeom prst="roundRect">
            <a:avLst>
              <a:gd name="adj" fmla="val 16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7277281" y="3461795"/>
            <a:ext cx="4491790" cy="663207"/>
          </a:xfrm>
          <a:prstGeom prst="roundRect">
            <a:avLst>
              <a:gd name="adj" fmla="val 1106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7277281" y="4212460"/>
            <a:ext cx="4491790" cy="1049474"/>
          </a:xfrm>
          <a:prstGeom prst="roundRect">
            <a:avLst>
              <a:gd name="adj" fmla="val 69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298971" y="5589889"/>
            <a:ext cx="11615947" cy="736082"/>
          </a:xfrm>
          <a:prstGeom prst="roundRect">
            <a:avLst>
              <a:gd name="adj" fmla="val 996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298971" y="925573"/>
            <a:ext cx="6664766" cy="466430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7124157" y="925573"/>
            <a:ext cx="4798047" cy="466430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3" name="Rectangle 13"/>
          <p:cNvSpPr/>
          <p:nvPr/>
        </p:nvSpPr>
        <p:spPr>
          <a:xfrm>
            <a:off x="298971" y="5589889"/>
            <a:ext cx="1560462" cy="736082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7342908" y="1545050"/>
            <a:ext cx="2457355" cy="481003"/>
          </a:xfrm>
          <a:prstGeom prst="rect">
            <a:avLst/>
          </a:prstGeom>
          <a:solidFill>
            <a:srgbClr val="E5EFF8"/>
          </a:solidFill>
          <a:ln w="7144">
            <a:solidFill>
              <a:srgbClr val="75868C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9800272" y="1545050"/>
            <a:ext cx="1910467" cy="481003"/>
          </a:xfrm>
          <a:prstGeom prst="rect">
            <a:avLst/>
          </a:prstGeom>
          <a:solidFill>
            <a:srgbClr val="E5EFF8"/>
          </a:solidFill>
          <a:ln w="7144">
            <a:solidFill>
              <a:srgbClr val="75868C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7342908" y="2026063"/>
            <a:ext cx="2457355" cy="422700"/>
          </a:xfrm>
          <a:prstGeom prst="rect">
            <a:avLst/>
          </a:prstGeom>
          <a:solidFill>
            <a:srgbClr val="FFFFFF"/>
          </a:solidFill>
          <a:ln w="7144">
            <a:solidFill>
              <a:srgbClr val="75868C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9800272" y="2026063"/>
            <a:ext cx="1910467" cy="422700"/>
          </a:xfrm>
          <a:prstGeom prst="rect">
            <a:avLst/>
          </a:prstGeom>
          <a:solidFill>
            <a:srgbClr val="FFFFFF"/>
          </a:solidFill>
          <a:ln w="7144">
            <a:solidFill>
              <a:srgbClr val="75868C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7342908" y="2448763"/>
            <a:ext cx="2457355" cy="422700"/>
          </a:xfrm>
          <a:prstGeom prst="rect">
            <a:avLst/>
          </a:prstGeom>
          <a:solidFill>
            <a:srgbClr val="FFFFFF"/>
          </a:solidFill>
          <a:ln w="7144">
            <a:solidFill>
              <a:srgbClr val="75868C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9800272" y="2448763"/>
            <a:ext cx="1910467" cy="422700"/>
          </a:xfrm>
          <a:prstGeom prst="rect">
            <a:avLst/>
          </a:prstGeom>
          <a:solidFill>
            <a:srgbClr val="FFFFFF"/>
          </a:solidFill>
          <a:ln w="7144">
            <a:solidFill>
              <a:srgbClr val="75868C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7342908" y="2871473"/>
            <a:ext cx="2457355" cy="415414"/>
          </a:xfrm>
          <a:prstGeom prst="rect">
            <a:avLst/>
          </a:prstGeom>
          <a:solidFill>
            <a:srgbClr val="FFFFFF"/>
          </a:solidFill>
          <a:ln w="7144">
            <a:solidFill>
              <a:srgbClr val="75868C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9800272" y="2871473"/>
            <a:ext cx="1910467" cy="415414"/>
          </a:xfrm>
          <a:prstGeom prst="rect">
            <a:avLst/>
          </a:prstGeom>
          <a:solidFill>
            <a:srgbClr val="FFFFFF"/>
          </a:solidFill>
          <a:ln w="7144">
            <a:solidFill>
              <a:srgbClr val="75868C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7277281" y="3461795"/>
            <a:ext cx="4491790" cy="663207"/>
          </a:xfrm>
          <a:prstGeom prst="rect">
            <a:avLst/>
          </a:prstGeom>
          <a:solidFill>
            <a:srgbClr val="FFF1F1"/>
          </a:solidFill>
          <a:ln w="7144">
            <a:solidFill>
              <a:srgbClr val="F6DCDD"/>
            </a:solidFill>
          </a:ln>
        </p:spPr>
      </p:sp>
      <p:pic>
        <p:nvPicPr>
          <p:cNvPr id="23" name="Image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435" y="1508617"/>
            <a:ext cx="6271003" cy="3775177"/>
          </a:xfrm>
          <a:prstGeom prst="rect">
            <a:avLst/>
          </a:prstGeom>
        </p:spPr>
      </p:pic>
      <p:sp>
        <p:nvSpPr>
          <p:cNvPr id="24" name="TextBox 24"/>
          <p:cNvSpPr txBox="1"/>
          <p:nvPr/>
        </p:nvSpPr>
        <p:spPr>
          <a:xfrm>
            <a:off x="379181" y="174765"/>
            <a:ext cx="7415832" cy="51045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304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02  增量证据：外部模态的贡献要单独检验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510435" y="997934"/>
            <a:ext cx="2537565" cy="3435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原始结果表丨TaxiBJ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7321029" y="1003316"/>
            <a:ext cx="2460146" cy="340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29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同一配置的直接对照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7634583" y="1601610"/>
            <a:ext cx="853145" cy="3387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21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Model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10237784" y="1607048"/>
            <a:ext cx="1028157" cy="33515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99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RMSE ↓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20000" y="2067649"/>
            <a:ext cx="580806" cy="3395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25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L12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10245071" y="2073754"/>
            <a:ext cx="743769" cy="3346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96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17.00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627296" y="2493778"/>
            <a:ext cx="816712" cy="3253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41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L12-E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0245071" y="2492807"/>
            <a:ext cx="743769" cy="33461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96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16.89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7649166" y="2898143"/>
            <a:ext cx="1225029" cy="3329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86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L12-E-BN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0223192" y="2889685"/>
            <a:ext cx="765648" cy="3352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96" b="1" dirty="0">
                <a:solidFill>
                  <a:srgbClr val="182437"/>
                </a:solidFill>
                <a:latin typeface="Times New Roman"/>
                <a:ea typeface="SimSun"/>
                <a:cs typeface="Times New Roman"/>
              </a:rPr>
              <a:t>16.69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7430414" y="3600717"/>
            <a:ext cx="4273029" cy="3926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342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加入外部因素：约下降0.65%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7525207" y="4369156"/>
            <a:ext cx="3434467" cy="349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45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 xml:space="preserve">17.00 → 16.89 </a:t>
            </a:r>
            <a:r>
              <a:rPr lang="zh-CN" sz="1845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：外部因素增益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7517911" y="4748127"/>
            <a:ext cx="3908441" cy="3425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52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16.89→16.69：</a:t>
            </a:r>
            <a:r>
              <a:rPr lang="zh-CN" sz="1952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另含批归一化作用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17722" y="5783056"/>
            <a:ext cx="1195864" cy="35703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3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研究启示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187559" y="5793572"/>
            <a:ext cx="6839769" cy="3578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35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报告消融对照，</a:t>
            </a:r>
            <a:r>
              <a:rPr lang="zh-CN" sz="2135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避免把多项改动的收益都归因于多模态。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306257" y="6431651"/>
            <a:ext cx="10398204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148" dirty="0">
                <a:solidFill>
                  <a:srgbClr val="526575"/>
                </a:solidFill>
                <a:latin typeface="Microsoft YaHei"/>
                <a:ea typeface="Microsoft YaHei"/>
                <a:cs typeface="Microsoft YaHei"/>
              </a:rPr>
              <a:t>Zhang et al. · AAAI 2017 · Table 2；0.65% 为据原表计算的相对变化。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55920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277092" y="874557"/>
            <a:ext cx="11652399" cy="830828"/>
          </a:xfrm>
          <a:prstGeom prst="roundRect">
            <a:avLst>
              <a:gd name="adj" fmla="val 883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284378" y="5444128"/>
            <a:ext cx="11637816" cy="626764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284378" y="1836572"/>
            <a:ext cx="1852136" cy="597618"/>
          </a:xfrm>
          <a:prstGeom prst="rect">
            <a:avLst/>
          </a:prstGeom>
          <a:solidFill>
            <a:srgbClr val="0872C5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2136515" y="1836572"/>
            <a:ext cx="3594887" cy="597618"/>
          </a:xfrm>
          <a:prstGeom prst="rect">
            <a:avLst/>
          </a:prstGeom>
          <a:solidFill>
            <a:srgbClr val="0872C5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731402" y="1836572"/>
            <a:ext cx="3120923" cy="597618"/>
          </a:xfrm>
          <a:prstGeom prst="rect">
            <a:avLst/>
          </a:prstGeom>
          <a:solidFill>
            <a:srgbClr val="0872C5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8852325" y="1836572"/>
            <a:ext cx="3069879" cy="597618"/>
          </a:xfrm>
          <a:prstGeom prst="rect">
            <a:avLst/>
          </a:prstGeom>
          <a:solidFill>
            <a:srgbClr val="0872C5"/>
          </a:solidFill>
          <a:ln w="7144">
            <a:solidFill>
              <a:srgbClr val="B8D8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284378" y="2434190"/>
            <a:ext cx="1852136" cy="670493"/>
          </a:xfrm>
          <a:prstGeom prst="rect">
            <a:avLst/>
          </a:prstGeom>
          <a:solidFill>
            <a:srgbClr val="E4F1FC"/>
          </a:solidFill>
          <a:ln w="7144">
            <a:solidFill>
              <a:srgbClr val="B8D8ED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2136515" y="2434190"/>
            <a:ext cx="3594887" cy="670493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5731402" y="2434190"/>
            <a:ext cx="3120923" cy="670493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852325" y="2434190"/>
            <a:ext cx="3069879" cy="670493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284378" y="3104683"/>
            <a:ext cx="1852136" cy="699649"/>
          </a:xfrm>
          <a:prstGeom prst="rect">
            <a:avLst/>
          </a:prstGeom>
          <a:solidFill>
            <a:srgbClr val="E4F1FC"/>
          </a:solidFill>
          <a:ln w="7144">
            <a:solidFill>
              <a:srgbClr val="B8D8E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2136515" y="3104683"/>
            <a:ext cx="3594887" cy="699649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5731402" y="3104683"/>
            <a:ext cx="3120923" cy="699649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8852325" y="3104683"/>
            <a:ext cx="3069879" cy="699649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0" name="Rectangle 20"/>
          <p:cNvSpPr/>
          <p:nvPr/>
        </p:nvSpPr>
        <p:spPr>
          <a:xfrm>
            <a:off x="284378" y="3804333"/>
            <a:ext cx="1852136" cy="692363"/>
          </a:xfrm>
          <a:prstGeom prst="rect">
            <a:avLst/>
          </a:prstGeom>
          <a:solidFill>
            <a:srgbClr val="E4F1FC"/>
          </a:solidFill>
          <a:ln w="7144">
            <a:solidFill>
              <a:srgbClr val="B8D8ED"/>
            </a:solidFill>
          </a:ln>
        </p:spPr>
      </p:sp>
      <p:sp>
        <p:nvSpPr>
          <p:cNvPr id="21" name="Rectangle 21"/>
          <p:cNvSpPr/>
          <p:nvPr/>
        </p:nvSpPr>
        <p:spPr>
          <a:xfrm>
            <a:off x="2136515" y="3804333"/>
            <a:ext cx="3594887" cy="692363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2" name="Rectangle 22"/>
          <p:cNvSpPr/>
          <p:nvPr/>
        </p:nvSpPr>
        <p:spPr>
          <a:xfrm>
            <a:off x="5731402" y="3804333"/>
            <a:ext cx="3120923" cy="692363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3" name="Rectangle 23"/>
          <p:cNvSpPr/>
          <p:nvPr/>
        </p:nvSpPr>
        <p:spPr>
          <a:xfrm>
            <a:off x="8852325" y="3804333"/>
            <a:ext cx="3069879" cy="692363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4" name="Rectangle 24"/>
          <p:cNvSpPr/>
          <p:nvPr/>
        </p:nvSpPr>
        <p:spPr>
          <a:xfrm>
            <a:off x="284378" y="4496695"/>
            <a:ext cx="1852136" cy="772525"/>
          </a:xfrm>
          <a:prstGeom prst="rect">
            <a:avLst/>
          </a:prstGeom>
          <a:solidFill>
            <a:srgbClr val="E4F1FC"/>
          </a:solidFill>
          <a:ln w="7144">
            <a:solidFill>
              <a:srgbClr val="B8D8ED"/>
            </a:solidFill>
          </a:ln>
        </p:spPr>
      </p:sp>
      <p:sp>
        <p:nvSpPr>
          <p:cNvPr id="25" name="Rectangle 25"/>
          <p:cNvSpPr/>
          <p:nvPr/>
        </p:nvSpPr>
        <p:spPr>
          <a:xfrm>
            <a:off x="2136515" y="4496695"/>
            <a:ext cx="3594887" cy="772525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6" name="Rectangle 26"/>
          <p:cNvSpPr/>
          <p:nvPr/>
        </p:nvSpPr>
        <p:spPr>
          <a:xfrm>
            <a:off x="5731402" y="4496695"/>
            <a:ext cx="3120923" cy="772525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7" name="Rectangle 27"/>
          <p:cNvSpPr/>
          <p:nvPr/>
        </p:nvSpPr>
        <p:spPr>
          <a:xfrm>
            <a:off x="8852325" y="4496695"/>
            <a:ext cx="3069879" cy="772525"/>
          </a:xfrm>
          <a:prstGeom prst="rect">
            <a:avLst/>
          </a:prstGeom>
          <a:solidFill>
            <a:srgbClr val="FFFFFF"/>
          </a:solidFill>
          <a:ln w="7144">
            <a:solidFill>
              <a:srgbClr val="B8D8ED"/>
            </a:solidFill>
          </a:ln>
        </p:spPr>
      </p:sp>
      <p:sp>
        <p:nvSpPr>
          <p:cNvPr id="28" name="TextBox 28"/>
          <p:cNvSpPr txBox="1"/>
          <p:nvPr/>
        </p:nvSpPr>
        <p:spPr>
          <a:xfrm>
            <a:off x="379181" y="81134"/>
            <a:ext cx="7073113" cy="53008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3162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 xml:space="preserve">03  方法选择应围绕任务与信息可得性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34394" y="1092832"/>
            <a:ext cx="6256420" cy="4088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439" b="1" dirty="0">
                <a:solidFill>
                  <a:srgbClr val="C90012"/>
                </a:solidFill>
                <a:latin typeface="Microsoft YaHei"/>
                <a:ea typeface="Microsoft YaHei"/>
                <a:cs typeface="Microsoft YaHei"/>
              </a:rPr>
              <a:t>融合位置不同，数据要求与失效风险也</a:t>
            </a:r>
            <a:r>
              <a:rPr lang="zh-CN" sz="2439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不同。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911485" y="1949539"/>
            <a:ext cx="648976" cy="38626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71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路线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3295926" y="1974523"/>
            <a:ext cx="1400042" cy="3435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输入与目标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6744976" y="1965465"/>
            <a:ext cx="1137533" cy="347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71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融合机制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9858604" y="1964112"/>
            <a:ext cx="1130656" cy="3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首要核查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19811" y="2599401"/>
            <a:ext cx="1407328" cy="3327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85" b="1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ST-ResNet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2552157" y="2628538"/>
            <a:ext cx="2872997" cy="31095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5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时序+天气日历；区域流量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6300168" y="2633834"/>
            <a:ext cx="2107349" cy="30036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9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分支编码与输出融合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9377343" y="2622461"/>
            <a:ext cx="2113312" cy="3012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9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外部特征的独立贡献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539601" y="3279200"/>
            <a:ext cx="1575044" cy="31417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74" b="1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Event Traffic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537565" y="3288278"/>
            <a:ext cx="2887580" cy="31789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9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时序+活动描述；事件交通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6292882" y="3312395"/>
            <a:ext cx="2121932" cy="306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0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文本与时序嵌入融合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9282541" y="3305108"/>
            <a:ext cx="2347979" cy="306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9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事件稀疏与跨事件泛化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47947" y="3975602"/>
            <a:ext cx="729186" cy="3571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66" b="1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BjTT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428189" y="4004748"/>
            <a:ext cx="3106331" cy="31338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55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交通状态+文本；速度与拥堵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168923" y="4018112"/>
            <a:ext cx="2362562" cy="3012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9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数据基准与多模态任务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370047" y="4021560"/>
            <a:ext cx="2165680" cy="308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43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文本时刻与授权条件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845858" y="4700416"/>
            <a:ext cx="940651" cy="34322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47" b="1" dirty="0">
                <a:solidFill>
                  <a:srgbClr val="0869C0"/>
                </a:solidFill>
                <a:latin typeface="Arial"/>
                <a:ea typeface="Microsoft YaHei"/>
                <a:cs typeface="Arial"/>
              </a:rPr>
              <a:t>KGCM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2522982" y="4732477"/>
            <a:ext cx="2931328" cy="32281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2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时序+先验知识；区域需求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183506" y="4748127"/>
            <a:ext cx="2369858" cy="306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19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局部、全局跨模态交互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9370047" y="4746717"/>
            <a:ext cx="2165680" cy="308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43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知识来源与私有数据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2800074" y="5603681"/>
            <a:ext cx="6715811" cy="3659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83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当前证据支持任务内比较，不支持跨数据集精度排名。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751065" y="6395209"/>
            <a:ext cx="5920997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0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ST-ResNet 2017; Han et al. 2024;BjTT 作者项目；KGCM 2025 预印本。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41347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284378" y="757952"/>
            <a:ext cx="11630530" cy="1975047"/>
          </a:xfrm>
          <a:prstGeom prst="roundRect">
            <a:avLst>
              <a:gd name="adj" fmla="val 258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510435" y="1289971"/>
            <a:ext cx="3171958" cy="728796"/>
          </a:xfrm>
          <a:prstGeom prst="roundRect">
            <a:avLst>
              <a:gd name="adj" fmla="val 700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550121" y="1289971"/>
            <a:ext cx="3091748" cy="728796"/>
          </a:xfrm>
          <a:prstGeom prst="roundRect">
            <a:avLst>
              <a:gd name="adj" fmla="val 700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509606" y="1289971"/>
            <a:ext cx="3179254" cy="728796"/>
          </a:xfrm>
          <a:prstGeom prst="roundRect">
            <a:avLst>
              <a:gd name="adj" fmla="val 700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510435" y="2142668"/>
            <a:ext cx="11178435" cy="488299"/>
          </a:xfrm>
          <a:prstGeom prst="roundRect">
            <a:avLst>
              <a:gd name="adj" fmla="val 1045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291675" y="2871473"/>
            <a:ext cx="5694950" cy="2747572"/>
          </a:xfrm>
          <a:prstGeom prst="roundRect">
            <a:avLst>
              <a:gd name="adj" fmla="val 185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6212672" y="2871473"/>
            <a:ext cx="5702236" cy="2747572"/>
          </a:xfrm>
          <a:prstGeom prst="roundRect">
            <a:avLst>
              <a:gd name="adj" fmla="val 185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444808" y="3330616"/>
            <a:ext cx="5374110" cy="655920"/>
          </a:xfrm>
          <a:prstGeom prst="roundRect">
            <a:avLst>
              <a:gd name="adj" fmla="val 7784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44808" y="4088559"/>
            <a:ext cx="5374110" cy="655920"/>
          </a:xfrm>
          <a:prstGeom prst="roundRect">
            <a:avLst>
              <a:gd name="adj" fmla="val 7784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444808" y="4853807"/>
            <a:ext cx="5374110" cy="670493"/>
          </a:xfrm>
          <a:prstGeom prst="roundRect">
            <a:avLst>
              <a:gd name="adj" fmla="val 7614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6373092" y="3337903"/>
            <a:ext cx="5374110" cy="648633"/>
          </a:xfrm>
          <a:prstGeom prst="roundRect">
            <a:avLst>
              <a:gd name="adj" fmla="val 787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7" name="Rectangle 17"/>
          <p:cNvSpPr/>
          <p:nvPr/>
        </p:nvSpPr>
        <p:spPr>
          <a:xfrm>
            <a:off x="6373092" y="4095855"/>
            <a:ext cx="5374110" cy="648633"/>
          </a:xfrm>
          <a:prstGeom prst="roundRect">
            <a:avLst>
              <a:gd name="adj" fmla="val 7871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8" name="Rectangle 18"/>
          <p:cNvSpPr/>
          <p:nvPr/>
        </p:nvSpPr>
        <p:spPr>
          <a:xfrm>
            <a:off x="6373092" y="4861093"/>
            <a:ext cx="5374110" cy="663207"/>
          </a:xfrm>
          <a:prstGeom prst="roundRect">
            <a:avLst>
              <a:gd name="adj" fmla="val 7698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9" name="Rectangle 19"/>
          <p:cNvSpPr/>
          <p:nvPr/>
        </p:nvSpPr>
        <p:spPr>
          <a:xfrm>
            <a:off x="284378" y="757952"/>
            <a:ext cx="11630530" cy="386267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20" name="Rectangle 20"/>
          <p:cNvSpPr/>
          <p:nvPr/>
        </p:nvSpPr>
        <p:spPr>
          <a:xfrm>
            <a:off x="291675" y="2871473"/>
            <a:ext cx="5694950" cy="378971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21" name="Rectangle 21"/>
          <p:cNvSpPr/>
          <p:nvPr/>
        </p:nvSpPr>
        <p:spPr>
          <a:xfrm>
            <a:off x="6212672" y="2871473"/>
            <a:ext cx="5702236" cy="378971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22" name="Rectangle 22"/>
          <p:cNvSpPr/>
          <p:nvPr/>
        </p:nvSpPr>
        <p:spPr>
          <a:xfrm>
            <a:off x="291675" y="5735650"/>
            <a:ext cx="11615947" cy="663207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sp>
        <p:nvSpPr>
          <p:cNvPr id="23" name="Polygon 23"/>
          <p:cNvSpPr/>
          <p:nvPr/>
        </p:nvSpPr>
        <p:spPr>
          <a:xfrm>
            <a:off x="3806380" y="1464850"/>
            <a:ext cx="641699" cy="379000"/>
          </a:xfrm>
          <a:custGeom>
            <a:avLst/>
            <a:gdLst/>
            <a:ahLst/>
            <a:cxnLst/>
            <a:rect l="l" t="t" r="r" b="b"/>
            <a:pathLst>
              <a:path w="641699" h="379000">
                <a:moveTo>
                  <a:pt x="0" y="116681"/>
                </a:moveTo>
                <a:lnTo>
                  <a:pt x="481203" y="116681"/>
                </a:lnTo>
                <a:lnTo>
                  <a:pt x="481203" y="0"/>
                </a:lnTo>
                <a:lnTo>
                  <a:pt x="641699" y="189548"/>
                </a:lnTo>
                <a:lnTo>
                  <a:pt x="481203" y="379000"/>
                </a:lnTo>
                <a:lnTo>
                  <a:pt x="481203" y="262414"/>
                </a:lnTo>
                <a:lnTo>
                  <a:pt x="0" y="262414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7765828" y="1464850"/>
            <a:ext cx="641699" cy="379000"/>
          </a:xfrm>
          <a:custGeom>
            <a:avLst/>
            <a:gdLst/>
            <a:ahLst/>
            <a:cxnLst/>
            <a:rect l="l" t="t" r="r" b="b"/>
            <a:pathLst>
              <a:path w="641699" h="379000">
                <a:moveTo>
                  <a:pt x="0" y="116681"/>
                </a:moveTo>
                <a:lnTo>
                  <a:pt x="481298" y="116681"/>
                </a:lnTo>
                <a:lnTo>
                  <a:pt x="481298" y="0"/>
                </a:lnTo>
                <a:lnTo>
                  <a:pt x="641699" y="189548"/>
                </a:lnTo>
                <a:lnTo>
                  <a:pt x="481298" y="379000"/>
                </a:lnTo>
                <a:lnTo>
                  <a:pt x="481298" y="262414"/>
                </a:lnTo>
                <a:lnTo>
                  <a:pt x="0" y="262414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5" name="Line 25"/>
          <p:cNvSpPr/>
          <p:nvPr/>
        </p:nvSpPr>
        <p:spPr>
          <a:xfrm>
            <a:off x="1691716" y="3432648"/>
            <a:ext cx="9525" cy="437274"/>
          </a:xfrm>
          <a:custGeom>
            <a:avLst/>
            <a:gdLst/>
            <a:ahLst/>
            <a:cxnLst/>
            <a:rect l="l" t="t" r="r" b="b"/>
            <a:pathLst>
              <a:path w="9525" h="437274">
                <a:moveTo>
                  <a:pt x="0" y="0"/>
                </a:moveTo>
                <a:lnTo>
                  <a:pt x="0" y="437274"/>
                </a:lnTo>
              </a:path>
            </a:pathLst>
          </a:custGeom>
          <a:noFill/>
          <a:ln w="7296">
            <a:solidFill>
              <a:srgbClr val="49A8ED"/>
            </a:solidFill>
          </a:ln>
        </p:spPr>
      </p:sp>
      <p:sp>
        <p:nvSpPr>
          <p:cNvPr id="26" name="Line 26"/>
          <p:cNvSpPr/>
          <p:nvPr/>
        </p:nvSpPr>
        <p:spPr>
          <a:xfrm>
            <a:off x="1691716" y="4197887"/>
            <a:ext cx="9525" cy="437274"/>
          </a:xfrm>
          <a:custGeom>
            <a:avLst/>
            <a:gdLst/>
            <a:ahLst/>
            <a:cxnLst/>
            <a:rect l="l" t="t" r="r" b="b"/>
            <a:pathLst>
              <a:path w="9525" h="437274">
                <a:moveTo>
                  <a:pt x="0" y="0"/>
                </a:moveTo>
                <a:lnTo>
                  <a:pt x="0" y="437274"/>
                </a:lnTo>
              </a:path>
            </a:pathLst>
          </a:custGeom>
          <a:noFill/>
          <a:ln w="7296">
            <a:solidFill>
              <a:srgbClr val="49A8ED"/>
            </a:solidFill>
          </a:ln>
        </p:spPr>
      </p:sp>
      <p:sp>
        <p:nvSpPr>
          <p:cNvPr id="27" name="Line 27"/>
          <p:cNvSpPr/>
          <p:nvPr/>
        </p:nvSpPr>
        <p:spPr>
          <a:xfrm>
            <a:off x="1691716" y="4963125"/>
            <a:ext cx="9525" cy="437274"/>
          </a:xfrm>
          <a:custGeom>
            <a:avLst/>
            <a:gdLst/>
            <a:ahLst/>
            <a:cxnLst/>
            <a:rect l="l" t="t" r="r" b="b"/>
            <a:pathLst>
              <a:path w="9525" h="437274">
                <a:moveTo>
                  <a:pt x="0" y="0"/>
                </a:moveTo>
                <a:lnTo>
                  <a:pt x="0" y="437274"/>
                </a:lnTo>
              </a:path>
            </a:pathLst>
          </a:custGeom>
          <a:noFill/>
          <a:ln w="7296">
            <a:solidFill>
              <a:srgbClr val="49A8ED"/>
            </a:solidFill>
          </a:ln>
        </p:spPr>
      </p:sp>
      <p:sp>
        <p:nvSpPr>
          <p:cNvPr id="28" name="Line 28"/>
          <p:cNvSpPr/>
          <p:nvPr/>
        </p:nvSpPr>
        <p:spPr>
          <a:xfrm>
            <a:off x="7598121" y="3432648"/>
            <a:ext cx="9525" cy="437274"/>
          </a:xfrm>
          <a:custGeom>
            <a:avLst/>
            <a:gdLst/>
            <a:ahLst/>
            <a:cxnLst/>
            <a:rect l="l" t="t" r="r" b="b"/>
            <a:pathLst>
              <a:path w="9525" h="437274">
                <a:moveTo>
                  <a:pt x="0" y="0"/>
                </a:moveTo>
                <a:lnTo>
                  <a:pt x="0" y="437274"/>
                </a:lnTo>
              </a:path>
            </a:pathLst>
          </a:custGeom>
          <a:noFill/>
          <a:ln w="7296">
            <a:solidFill>
              <a:srgbClr val="49A8ED"/>
            </a:solidFill>
          </a:ln>
        </p:spPr>
      </p:sp>
      <p:sp>
        <p:nvSpPr>
          <p:cNvPr id="29" name="Line 29"/>
          <p:cNvSpPr/>
          <p:nvPr/>
        </p:nvSpPr>
        <p:spPr>
          <a:xfrm>
            <a:off x="7598121" y="4197887"/>
            <a:ext cx="9525" cy="437274"/>
          </a:xfrm>
          <a:custGeom>
            <a:avLst/>
            <a:gdLst/>
            <a:ahLst/>
            <a:cxnLst/>
            <a:rect l="l" t="t" r="r" b="b"/>
            <a:pathLst>
              <a:path w="9525" h="437274">
                <a:moveTo>
                  <a:pt x="0" y="0"/>
                </a:moveTo>
                <a:lnTo>
                  <a:pt x="0" y="437274"/>
                </a:lnTo>
              </a:path>
            </a:pathLst>
          </a:custGeom>
          <a:noFill/>
          <a:ln w="7296">
            <a:solidFill>
              <a:srgbClr val="49A8ED"/>
            </a:solidFill>
          </a:ln>
        </p:spPr>
      </p:sp>
      <p:sp>
        <p:nvSpPr>
          <p:cNvPr id="30" name="Line 30"/>
          <p:cNvSpPr/>
          <p:nvPr/>
        </p:nvSpPr>
        <p:spPr>
          <a:xfrm>
            <a:off x="7598121" y="4963125"/>
            <a:ext cx="9525" cy="437274"/>
          </a:xfrm>
          <a:custGeom>
            <a:avLst/>
            <a:gdLst/>
            <a:ahLst/>
            <a:cxnLst/>
            <a:rect l="l" t="t" r="r" b="b"/>
            <a:pathLst>
              <a:path w="9525" h="437274">
                <a:moveTo>
                  <a:pt x="0" y="0"/>
                </a:moveTo>
                <a:lnTo>
                  <a:pt x="0" y="437274"/>
                </a:lnTo>
              </a:path>
            </a:pathLst>
          </a:custGeom>
          <a:noFill/>
          <a:ln w="7296">
            <a:solidFill>
              <a:srgbClr val="49A8ED"/>
            </a:solidFill>
          </a:ln>
        </p:spPr>
      </p:sp>
      <p:pic>
        <p:nvPicPr>
          <p:cNvPr id="31" name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37533" y="1384716"/>
            <a:ext cx="473974" cy="539315"/>
          </a:xfrm>
          <a:prstGeom prst="rect">
            <a:avLst/>
          </a:prstGeom>
        </p:spPr>
      </p:pic>
      <p:pic>
        <p:nvPicPr>
          <p:cNvPr id="32" name="Imag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9097" y="1384716"/>
            <a:ext cx="481260" cy="546602"/>
          </a:xfrm>
          <a:prstGeom prst="rect">
            <a:avLst/>
          </a:prstGeom>
        </p:spPr>
      </p:pic>
      <p:pic>
        <p:nvPicPr>
          <p:cNvPr id="33" name="Imag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7958" y="1377429"/>
            <a:ext cx="554184" cy="568462"/>
          </a:xfrm>
          <a:prstGeom prst="rect">
            <a:avLst/>
          </a:prstGeom>
        </p:spPr>
      </p:pic>
      <p:pic>
        <p:nvPicPr>
          <p:cNvPr id="34" name="Imag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1065" y="3432648"/>
            <a:ext cx="648976" cy="466430"/>
          </a:xfrm>
          <a:prstGeom prst="rect">
            <a:avLst/>
          </a:prstGeom>
        </p:spPr>
      </p:pic>
      <p:pic>
        <p:nvPicPr>
          <p:cNvPr id="35" name="Imag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8352" y="4139575"/>
            <a:ext cx="612515" cy="546602"/>
          </a:xfrm>
          <a:prstGeom prst="rect">
            <a:avLst/>
          </a:prstGeom>
        </p:spPr>
      </p:pic>
      <p:pic>
        <p:nvPicPr>
          <p:cNvPr id="36" name="Imag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814" y="4897526"/>
            <a:ext cx="619811" cy="575748"/>
          </a:xfrm>
          <a:prstGeom prst="rect">
            <a:avLst/>
          </a:prstGeom>
        </p:spPr>
      </p:pic>
      <p:pic>
        <p:nvPicPr>
          <p:cNvPr id="37" name="Imag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774142" y="3388919"/>
            <a:ext cx="481260" cy="539315"/>
          </a:xfrm>
          <a:prstGeom prst="rect">
            <a:avLst/>
          </a:prstGeom>
        </p:spPr>
      </p:pic>
      <p:pic>
        <p:nvPicPr>
          <p:cNvPr id="38" name="Image 3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5811" y="4117715"/>
            <a:ext cx="568766" cy="597618"/>
          </a:xfrm>
          <a:prstGeom prst="rect">
            <a:avLst/>
          </a:prstGeom>
        </p:spPr>
      </p:pic>
      <p:pic>
        <p:nvPicPr>
          <p:cNvPr id="39" name="Image 39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93932" y="4890240"/>
            <a:ext cx="597932" cy="575748"/>
          </a:xfrm>
          <a:prstGeom prst="rect">
            <a:avLst/>
          </a:prstGeom>
        </p:spPr>
      </p:pic>
      <p:pic>
        <p:nvPicPr>
          <p:cNvPr id="40" name="Image 40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391728" y="5815813"/>
            <a:ext cx="503139" cy="502872"/>
          </a:xfrm>
          <a:prstGeom prst="rect">
            <a:avLst/>
          </a:prstGeom>
        </p:spPr>
      </p:pic>
      <p:sp>
        <p:nvSpPr>
          <p:cNvPr id="41" name="TextBox 41"/>
          <p:cNvSpPr txBox="1"/>
          <p:nvPr/>
        </p:nvSpPr>
        <p:spPr>
          <a:xfrm>
            <a:off x="444808" y="100917"/>
            <a:ext cx="7182488" cy="46137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752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03可信评估：按时间、事件与模态分别检验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437512" y="824760"/>
            <a:ext cx="2369858" cy="2818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8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》评估框架与数据划分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2114645" y="1483109"/>
            <a:ext cx="838562" cy="3425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32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训练期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6096000" y="1483109"/>
            <a:ext cx="838562" cy="3425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13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验证期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10142982" y="1497682"/>
            <a:ext cx="838562" cy="3425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32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测试期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4309491" y="2245595"/>
            <a:ext cx="3645932" cy="3043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815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预测时刻之后的信息不得进入输入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422929" y="2924442"/>
            <a:ext cx="1502121" cy="28761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16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》消融与基线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6365796" y="2929547"/>
            <a:ext cx="1706299" cy="2846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8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》稳健性与成本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903181" y="3385214"/>
            <a:ext cx="1451077" cy="262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66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历史序列强基线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7816882" y="3389747"/>
            <a:ext cx="2034435" cy="2607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55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事件留出与跨城市测试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1888598" y="3669506"/>
            <a:ext cx="1940824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4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统计模型与时空深度模型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7816882" y="3684079"/>
            <a:ext cx="1939633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4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检验异常事件和空间泛化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1903181" y="4157729"/>
            <a:ext cx="1640672" cy="255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22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逐步加入外部模态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7809586" y="4157729"/>
            <a:ext cx="2049018" cy="25523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22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缺失模态、延迟与噪声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888598" y="4420172"/>
            <a:ext cx="2851118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4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历史序列→加日历→加天气或文本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7809586" y="4434745"/>
            <a:ext cx="1757343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0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检验部署条件下的退化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1910467" y="4937550"/>
            <a:ext cx="1451077" cy="262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66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去除或打乱文本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7816882" y="4930330"/>
            <a:ext cx="2041722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6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误差、推理时延与成本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1895885" y="5221843"/>
            <a:ext cx="1939633" cy="22592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33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检验文字内容的独立贡献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7802299" y="5214556"/>
            <a:ext cx="2734447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47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同时报告MAE、RMSE和计算开销</a:t>
            </a:r>
          </a:p>
        </p:txBody>
      </p:sp>
      <p:sp>
        <p:nvSpPr>
          <p:cNvPr id="61" name="TextBox 61"/>
          <p:cNvSpPr txBox="1"/>
          <p:nvPr/>
        </p:nvSpPr>
        <p:spPr>
          <a:xfrm>
            <a:off x="3573018" y="5909320"/>
            <a:ext cx="6176210" cy="3668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88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同时报告常态与异常期表现，检验收益能否落地。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306257" y="6504537"/>
            <a:ext cx="2450068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982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综述建议|评估方案示意，尚未运行实验。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641347"/>
          </a:xfrm>
          <a:prstGeom prst="rect">
            <a:avLst/>
          </a:prstGeom>
          <a:gradFill>
            <a:gsLst>
              <a:gs pos="0">
                <a:srgbClr val="006CCB"/>
              </a:gs>
              <a:gs pos="100000">
                <a:srgbClr val="2E8FE3"/>
              </a:gs>
            </a:gsLst>
            <a:lin ang="2700000" scaled="1"/>
          </a:gra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6467" y="0"/>
            <a:ext cx="4185533" cy="539315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551905"/>
            <a:ext cx="12192000" cy="306095"/>
          </a:xfrm>
          <a:prstGeom prst="rect">
            <a:avLst/>
          </a:prstGeom>
        </p:spPr>
      </p:pic>
      <p:sp>
        <p:nvSpPr>
          <p:cNvPr id="6" name="Rectangle 6"/>
          <p:cNvSpPr/>
          <p:nvPr/>
        </p:nvSpPr>
        <p:spPr>
          <a:xfrm>
            <a:off x="320840" y="838114"/>
            <a:ext cx="11557606" cy="546602"/>
          </a:xfrm>
          <a:prstGeom prst="roundRect">
            <a:avLst>
              <a:gd name="adj" fmla="val 9340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7" name="Rectangle 7"/>
          <p:cNvSpPr/>
          <p:nvPr/>
        </p:nvSpPr>
        <p:spPr>
          <a:xfrm>
            <a:off x="320840" y="1574206"/>
            <a:ext cx="3777186" cy="1115063"/>
          </a:xfrm>
          <a:prstGeom prst="roundRect">
            <a:avLst>
              <a:gd name="adj" fmla="val 457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8" name="Rectangle 8"/>
          <p:cNvSpPr/>
          <p:nvPr/>
        </p:nvSpPr>
        <p:spPr>
          <a:xfrm>
            <a:off x="4214698" y="1574206"/>
            <a:ext cx="3777186" cy="1115063"/>
          </a:xfrm>
          <a:prstGeom prst="roundRect">
            <a:avLst>
              <a:gd name="adj" fmla="val 457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8101260" y="1574206"/>
            <a:ext cx="3777186" cy="1115063"/>
          </a:xfrm>
          <a:prstGeom prst="roundRect">
            <a:avLst>
              <a:gd name="adj" fmla="val 4579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20840" y="2937062"/>
            <a:ext cx="3536556" cy="954729"/>
          </a:xfrm>
          <a:prstGeom prst="roundRect">
            <a:avLst>
              <a:gd name="adj" fmla="val 5347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Rectangle 11"/>
          <p:cNvSpPr/>
          <p:nvPr/>
        </p:nvSpPr>
        <p:spPr>
          <a:xfrm>
            <a:off x="4338657" y="2937062"/>
            <a:ext cx="3551139" cy="954729"/>
          </a:xfrm>
          <a:prstGeom prst="roundRect">
            <a:avLst>
              <a:gd name="adj" fmla="val 5347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2" name="Rectangle 12"/>
          <p:cNvSpPr/>
          <p:nvPr/>
        </p:nvSpPr>
        <p:spPr>
          <a:xfrm>
            <a:off x="8378352" y="2937062"/>
            <a:ext cx="3500095" cy="954729"/>
          </a:xfrm>
          <a:prstGeom prst="roundRect">
            <a:avLst>
              <a:gd name="adj" fmla="val 5347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3" name="Rectangle 13"/>
          <p:cNvSpPr/>
          <p:nvPr/>
        </p:nvSpPr>
        <p:spPr>
          <a:xfrm>
            <a:off x="320840" y="4154157"/>
            <a:ext cx="3777186" cy="1217095"/>
          </a:xfrm>
          <a:prstGeom prst="roundRect">
            <a:avLst>
              <a:gd name="adj" fmla="val 419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4" name="Rectangle 14"/>
          <p:cNvSpPr/>
          <p:nvPr/>
        </p:nvSpPr>
        <p:spPr>
          <a:xfrm>
            <a:off x="4214698" y="4154157"/>
            <a:ext cx="3777186" cy="1217095"/>
          </a:xfrm>
          <a:prstGeom prst="roundRect">
            <a:avLst>
              <a:gd name="adj" fmla="val 419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5" name="Rectangle 15"/>
          <p:cNvSpPr/>
          <p:nvPr/>
        </p:nvSpPr>
        <p:spPr>
          <a:xfrm>
            <a:off x="8101260" y="4154157"/>
            <a:ext cx="3777186" cy="1217095"/>
          </a:xfrm>
          <a:prstGeom prst="roundRect">
            <a:avLst>
              <a:gd name="adj" fmla="val 419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6" name="Rectangle 16"/>
          <p:cNvSpPr/>
          <p:nvPr/>
        </p:nvSpPr>
        <p:spPr>
          <a:xfrm>
            <a:off x="320840" y="5553446"/>
            <a:ext cx="11557606" cy="794395"/>
          </a:xfrm>
          <a:prstGeom prst="roundRect">
            <a:avLst>
              <a:gd name="adj" fmla="val 6427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7" name="Polygon 17"/>
          <p:cNvSpPr/>
          <p:nvPr/>
        </p:nvSpPr>
        <p:spPr>
          <a:xfrm>
            <a:off x="2045398" y="2725674"/>
            <a:ext cx="262509" cy="189547"/>
          </a:xfrm>
          <a:custGeom>
            <a:avLst/>
            <a:gdLst/>
            <a:ahLst/>
            <a:cxnLst/>
            <a:rect l="l" t="t" r="r" b="b"/>
            <a:pathLst>
              <a:path w="262509" h="189547">
                <a:moveTo>
                  <a:pt x="65627" y="0"/>
                </a:moveTo>
                <a:lnTo>
                  <a:pt x="196882" y="0"/>
                </a:lnTo>
                <a:lnTo>
                  <a:pt x="196882" y="94774"/>
                </a:lnTo>
                <a:lnTo>
                  <a:pt x="262509" y="94774"/>
                </a:lnTo>
                <a:lnTo>
                  <a:pt x="131254" y="189547"/>
                </a:lnTo>
                <a:lnTo>
                  <a:pt x="0" y="94774"/>
                </a:lnTo>
                <a:lnTo>
                  <a:pt x="65627" y="94774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18" name="Polygon 18"/>
          <p:cNvSpPr/>
          <p:nvPr/>
        </p:nvSpPr>
        <p:spPr>
          <a:xfrm>
            <a:off x="2045398" y="3899059"/>
            <a:ext cx="262509" cy="225933"/>
          </a:xfrm>
          <a:custGeom>
            <a:avLst/>
            <a:gdLst/>
            <a:ahLst/>
            <a:cxnLst/>
            <a:rect l="l" t="t" r="r" b="b"/>
            <a:pathLst>
              <a:path w="262509" h="225933">
                <a:moveTo>
                  <a:pt x="65627" y="0"/>
                </a:moveTo>
                <a:lnTo>
                  <a:pt x="196882" y="0"/>
                </a:lnTo>
                <a:lnTo>
                  <a:pt x="196882" y="112966"/>
                </a:lnTo>
                <a:lnTo>
                  <a:pt x="262509" y="112966"/>
                </a:lnTo>
                <a:lnTo>
                  <a:pt x="131254" y="225933"/>
                </a:lnTo>
                <a:lnTo>
                  <a:pt x="0" y="112966"/>
                </a:lnTo>
                <a:lnTo>
                  <a:pt x="65627" y="112966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19" name="Polygon 19"/>
          <p:cNvSpPr/>
          <p:nvPr/>
        </p:nvSpPr>
        <p:spPr>
          <a:xfrm>
            <a:off x="5975699" y="2725674"/>
            <a:ext cx="262509" cy="189547"/>
          </a:xfrm>
          <a:custGeom>
            <a:avLst/>
            <a:gdLst/>
            <a:ahLst/>
            <a:cxnLst/>
            <a:rect l="l" t="t" r="r" b="b"/>
            <a:pathLst>
              <a:path w="262509" h="189547">
                <a:moveTo>
                  <a:pt x="65627" y="0"/>
                </a:moveTo>
                <a:lnTo>
                  <a:pt x="196882" y="0"/>
                </a:lnTo>
                <a:lnTo>
                  <a:pt x="196882" y="94774"/>
                </a:lnTo>
                <a:lnTo>
                  <a:pt x="262509" y="94774"/>
                </a:lnTo>
                <a:lnTo>
                  <a:pt x="131254" y="189547"/>
                </a:lnTo>
                <a:lnTo>
                  <a:pt x="0" y="94774"/>
                </a:lnTo>
                <a:lnTo>
                  <a:pt x="65627" y="94774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0" name="Polygon 20"/>
          <p:cNvSpPr/>
          <p:nvPr/>
        </p:nvSpPr>
        <p:spPr>
          <a:xfrm>
            <a:off x="5975699" y="3899059"/>
            <a:ext cx="262509" cy="225933"/>
          </a:xfrm>
          <a:custGeom>
            <a:avLst/>
            <a:gdLst/>
            <a:ahLst/>
            <a:cxnLst/>
            <a:rect l="l" t="t" r="r" b="b"/>
            <a:pathLst>
              <a:path w="262509" h="225933">
                <a:moveTo>
                  <a:pt x="65627" y="0"/>
                </a:moveTo>
                <a:lnTo>
                  <a:pt x="196882" y="0"/>
                </a:lnTo>
                <a:lnTo>
                  <a:pt x="196882" y="112966"/>
                </a:lnTo>
                <a:lnTo>
                  <a:pt x="262509" y="112966"/>
                </a:lnTo>
                <a:lnTo>
                  <a:pt x="131254" y="225933"/>
                </a:lnTo>
                <a:lnTo>
                  <a:pt x="0" y="112966"/>
                </a:lnTo>
                <a:lnTo>
                  <a:pt x="65627" y="112966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1" name="Polygon 21"/>
          <p:cNvSpPr/>
          <p:nvPr/>
        </p:nvSpPr>
        <p:spPr>
          <a:xfrm>
            <a:off x="10059162" y="2725674"/>
            <a:ext cx="262509" cy="189547"/>
          </a:xfrm>
          <a:custGeom>
            <a:avLst/>
            <a:gdLst/>
            <a:ahLst/>
            <a:cxnLst/>
            <a:rect l="l" t="t" r="r" b="b"/>
            <a:pathLst>
              <a:path w="262509" h="189547">
                <a:moveTo>
                  <a:pt x="65627" y="0"/>
                </a:moveTo>
                <a:lnTo>
                  <a:pt x="196882" y="0"/>
                </a:lnTo>
                <a:lnTo>
                  <a:pt x="196882" y="94774"/>
                </a:lnTo>
                <a:lnTo>
                  <a:pt x="262509" y="94774"/>
                </a:lnTo>
                <a:lnTo>
                  <a:pt x="131254" y="189547"/>
                </a:lnTo>
                <a:lnTo>
                  <a:pt x="0" y="94774"/>
                </a:lnTo>
                <a:lnTo>
                  <a:pt x="65627" y="94774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2" name="Polygon 22"/>
          <p:cNvSpPr/>
          <p:nvPr/>
        </p:nvSpPr>
        <p:spPr>
          <a:xfrm>
            <a:off x="10059162" y="3899059"/>
            <a:ext cx="262509" cy="225933"/>
          </a:xfrm>
          <a:custGeom>
            <a:avLst/>
            <a:gdLst/>
            <a:ahLst/>
            <a:cxnLst/>
            <a:rect l="l" t="t" r="r" b="b"/>
            <a:pathLst>
              <a:path w="262509" h="225933">
                <a:moveTo>
                  <a:pt x="65627" y="0"/>
                </a:moveTo>
                <a:lnTo>
                  <a:pt x="196882" y="0"/>
                </a:lnTo>
                <a:lnTo>
                  <a:pt x="196882" y="112966"/>
                </a:lnTo>
                <a:lnTo>
                  <a:pt x="262509" y="112966"/>
                </a:lnTo>
                <a:lnTo>
                  <a:pt x="131254" y="225933"/>
                </a:lnTo>
                <a:lnTo>
                  <a:pt x="0" y="112966"/>
                </a:lnTo>
                <a:lnTo>
                  <a:pt x="65627" y="112966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3" name="Polygon 23"/>
          <p:cNvSpPr/>
          <p:nvPr/>
        </p:nvSpPr>
        <p:spPr>
          <a:xfrm>
            <a:off x="3923062" y="3264979"/>
            <a:ext cx="349949" cy="306134"/>
          </a:xfrm>
          <a:custGeom>
            <a:avLst/>
            <a:gdLst/>
            <a:ahLst/>
            <a:cxnLst/>
            <a:rect l="l" t="t" r="r" b="b"/>
            <a:pathLst>
              <a:path w="349949" h="306134">
                <a:moveTo>
                  <a:pt x="0" y="80201"/>
                </a:moveTo>
                <a:lnTo>
                  <a:pt x="189547" y="80201"/>
                </a:lnTo>
                <a:lnTo>
                  <a:pt x="189547" y="0"/>
                </a:lnTo>
                <a:lnTo>
                  <a:pt x="349949" y="153067"/>
                </a:lnTo>
                <a:lnTo>
                  <a:pt x="189547" y="306134"/>
                </a:lnTo>
                <a:lnTo>
                  <a:pt x="189547" y="225933"/>
                </a:lnTo>
                <a:lnTo>
                  <a:pt x="0" y="225933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4" name="Polygon 24"/>
          <p:cNvSpPr/>
          <p:nvPr/>
        </p:nvSpPr>
        <p:spPr>
          <a:xfrm>
            <a:off x="7970044" y="3264979"/>
            <a:ext cx="342710" cy="306134"/>
          </a:xfrm>
          <a:custGeom>
            <a:avLst/>
            <a:gdLst/>
            <a:ahLst/>
            <a:cxnLst/>
            <a:rect l="l" t="t" r="r" b="b"/>
            <a:pathLst>
              <a:path w="342710" h="306134">
                <a:moveTo>
                  <a:pt x="0" y="80201"/>
                </a:moveTo>
                <a:lnTo>
                  <a:pt x="182308" y="80201"/>
                </a:lnTo>
                <a:lnTo>
                  <a:pt x="182308" y="0"/>
                </a:lnTo>
                <a:lnTo>
                  <a:pt x="342710" y="153067"/>
                </a:lnTo>
                <a:lnTo>
                  <a:pt x="182308" y="306134"/>
                </a:lnTo>
                <a:lnTo>
                  <a:pt x="182308" y="225933"/>
                </a:lnTo>
                <a:lnTo>
                  <a:pt x="0" y="225933"/>
                </a:lnTo>
                <a:close/>
              </a:path>
            </a:pathLst>
          </a:custGeom>
          <a:solidFill>
            <a:srgbClr val="59B4F6"/>
          </a:solidFill>
          <a:ln>
            <a:noFill/>
          </a:ln>
        </p:spPr>
      </p:sp>
      <p:sp>
        <p:nvSpPr>
          <p:cNvPr id="25" name="Ellipse 25"/>
          <p:cNvSpPr/>
          <p:nvPr/>
        </p:nvSpPr>
        <p:spPr>
          <a:xfrm>
            <a:off x="503139" y="4277884"/>
            <a:ext cx="627100" cy="627100"/>
          </a:xfrm>
          <a:prstGeom prst="ellipse">
            <a:avLst/>
          </a:prstGeom>
          <a:solidFill>
            <a:srgbClr val="68ADE8"/>
          </a:solidFill>
          <a:ln>
            <a:noFill/>
          </a:ln>
        </p:spPr>
      </p:sp>
      <p:sp>
        <p:nvSpPr>
          <p:cNvPr id="26" name="TextBox 26"/>
          <p:cNvSpPr txBox="1"/>
          <p:nvPr/>
        </p:nvSpPr>
        <p:spPr>
          <a:xfrm>
            <a:off x="678142" y="4249150"/>
            <a:ext cx="459391" cy="677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40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27" name="Ellipse 27"/>
          <p:cNvSpPr/>
          <p:nvPr/>
        </p:nvSpPr>
        <p:spPr>
          <a:xfrm>
            <a:off x="4484498" y="4277884"/>
            <a:ext cx="627100" cy="627100"/>
          </a:xfrm>
          <a:prstGeom prst="ellipse">
            <a:avLst/>
          </a:prstGeom>
          <a:solidFill>
            <a:srgbClr val="68ADE8"/>
          </a:solidFill>
          <a:ln>
            <a:noFill/>
          </a:ln>
        </p:spPr>
      </p:sp>
      <p:sp>
        <p:nvSpPr>
          <p:cNvPr id="28" name="TextBox 28"/>
          <p:cNvSpPr txBox="1"/>
          <p:nvPr/>
        </p:nvSpPr>
        <p:spPr>
          <a:xfrm>
            <a:off x="4659506" y="4249150"/>
            <a:ext cx="459391" cy="677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40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sp>
        <p:nvSpPr>
          <p:cNvPr id="29" name="Ellipse 29"/>
          <p:cNvSpPr/>
          <p:nvPr/>
        </p:nvSpPr>
        <p:spPr>
          <a:xfrm>
            <a:off x="8356478" y="4277884"/>
            <a:ext cx="627100" cy="627100"/>
          </a:xfrm>
          <a:prstGeom prst="ellipse">
            <a:avLst/>
          </a:prstGeom>
          <a:solidFill>
            <a:srgbClr val="68ADE8"/>
          </a:solidFill>
          <a:ln>
            <a:noFill/>
          </a:ln>
        </p:spPr>
      </p:sp>
      <p:sp>
        <p:nvSpPr>
          <p:cNvPr id="30" name="TextBox 30"/>
          <p:cNvSpPr txBox="1"/>
          <p:nvPr/>
        </p:nvSpPr>
        <p:spPr>
          <a:xfrm>
            <a:off x="8531485" y="4249150"/>
            <a:ext cx="459391" cy="67727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4040" b="1" dirty="0">
                <a:solidFill>
                  <a:srgbClr val="FFFFFF"/>
                </a:solidFill>
                <a:latin typeface="Arial"/>
                <a:ea typeface="Microsoft YaHei"/>
                <a:cs typeface="Arial"/>
              </a:rPr>
              <a:t>?</a:t>
            </a:r>
          </a:p>
        </p:txBody>
      </p:sp>
      <p:pic>
        <p:nvPicPr>
          <p:cNvPr id="31" name="Image 3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6" y="1661665"/>
            <a:ext cx="933355" cy="932859"/>
          </a:xfrm>
          <a:prstGeom prst="rect">
            <a:avLst/>
          </a:prstGeom>
        </p:spPr>
      </p:pic>
      <p:pic>
        <p:nvPicPr>
          <p:cNvPr id="32" name="Image 3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9296" y="1661665"/>
            <a:ext cx="933355" cy="932859"/>
          </a:xfrm>
          <a:prstGeom prst="rect">
            <a:avLst/>
          </a:prstGeom>
        </p:spPr>
      </p:pic>
      <p:pic>
        <p:nvPicPr>
          <p:cNvPr id="33" name="Image 3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33565" y="1661665"/>
            <a:ext cx="933355" cy="932859"/>
          </a:xfrm>
          <a:prstGeom prst="rect">
            <a:avLst/>
          </a:prstGeom>
        </p:spPr>
      </p:pic>
      <p:pic>
        <p:nvPicPr>
          <p:cNvPr id="34" name="Image 3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855" y="3024521"/>
            <a:ext cx="765648" cy="772525"/>
          </a:xfrm>
          <a:prstGeom prst="rect">
            <a:avLst/>
          </a:prstGeom>
        </p:spPr>
      </p:pic>
      <p:pic>
        <p:nvPicPr>
          <p:cNvPr id="35" name="Image 3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01166" y="3024521"/>
            <a:ext cx="772935" cy="772525"/>
          </a:xfrm>
          <a:prstGeom prst="rect">
            <a:avLst/>
          </a:prstGeom>
        </p:spPr>
      </p:pic>
      <p:pic>
        <p:nvPicPr>
          <p:cNvPr id="36" name="Image 3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86698" y="3024521"/>
            <a:ext cx="772935" cy="772525"/>
          </a:xfrm>
          <a:prstGeom prst="rect">
            <a:avLst/>
          </a:prstGeom>
        </p:spPr>
      </p:pic>
      <p:pic>
        <p:nvPicPr>
          <p:cNvPr id="37" name="Image 3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35506" y="5640905"/>
            <a:ext cx="641680" cy="634051"/>
          </a:xfrm>
          <a:prstGeom prst="rect">
            <a:avLst/>
          </a:prstGeom>
        </p:spPr>
      </p:pic>
      <p:sp>
        <p:nvSpPr>
          <p:cNvPr id="38" name="TextBox 38"/>
          <p:cNvSpPr txBox="1"/>
          <p:nvPr/>
        </p:nvSpPr>
        <p:spPr>
          <a:xfrm>
            <a:off x="313553" y="109033"/>
            <a:ext cx="6788725" cy="42329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525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03研究机会：建立可追溯的事件感知预测链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2967790" y="924468"/>
            <a:ext cx="6241837" cy="38846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317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从“加入更多模态”转向“证明新增信息有效”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1874006" y="1781918"/>
            <a:ext cx="1093784" cy="34253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32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交通观测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5811622" y="1789205"/>
            <a:ext cx="1341701" cy="33525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52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事件与天气</a:t>
            </a:r>
          </a:p>
        </p:txBody>
      </p:sp>
      <p:sp>
        <p:nvSpPr>
          <p:cNvPr id="42" name="TextBox 42"/>
          <p:cNvSpPr txBox="1"/>
          <p:nvPr/>
        </p:nvSpPr>
        <p:spPr>
          <a:xfrm>
            <a:off x="9909648" y="1794853"/>
            <a:ext cx="1071134" cy="3239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932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路网空间</a:t>
            </a:r>
          </a:p>
        </p:txBody>
      </p:sp>
      <p:sp>
        <p:nvSpPr>
          <p:cNvPr id="43" name="TextBox 43"/>
          <p:cNvSpPr txBox="1"/>
          <p:nvPr/>
        </p:nvSpPr>
        <p:spPr>
          <a:xfrm>
            <a:off x="1881302" y="2160889"/>
            <a:ext cx="947947" cy="298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8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时序信号</a:t>
            </a:r>
          </a:p>
        </p:txBody>
      </p:sp>
      <p:sp>
        <p:nvSpPr>
          <p:cNvPr id="44" name="TextBox 44"/>
          <p:cNvSpPr txBox="1"/>
          <p:nvPr/>
        </p:nvSpPr>
        <p:spPr>
          <a:xfrm>
            <a:off x="5833491" y="2160403"/>
            <a:ext cx="1954216" cy="27791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58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发布时刻与影响范围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9924231" y="2168176"/>
            <a:ext cx="1327118" cy="2915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6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统一空间索引</a:t>
            </a:r>
          </a:p>
        </p:txBody>
      </p:sp>
      <p:sp>
        <p:nvSpPr>
          <p:cNvPr id="46" name="TextBox 46"/>
          <p:cNvSpPr txBox="1"/>
          <p:nvPr/>
        </p:nvSpPr>
        <p:spPr>
          <a:xfrm>
            <a:off x="1626089" y="3275733"/>
            <a:ext cx="2019843" cy="2846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8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可靠对齐与缺失标记</a:t>
            </a:r>
          </a:p>
        </p:txBody>
      </p:sp>
      <p:sp>
        <p:nvSpPr>
          <p:cNvPr id="47" name="TextBox 47"/>
          <p:cNvSpPr txBox="1"/>
          <p:nvPr/>
        </p:nvSpPr>
        <p:spPr>
          <a:xfrm>
            <a:off x="5534530" y="3272085"/>
            <a:ext cx="2224021" cy="28467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98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时空编码与跨模态交互</a:t>
            </a:r>
          </a:p>
        </p:txBody>
      </p:sp>
      <p:sp>
        <p:nvSpPr>
          <p:cNvPr id="48" name="TextBox 48"/>
          <p:cNvSpPr txBox="1"/>
          <p:nvPr/>
        </p:nvSpPr>
        <p:spPr>
          <a:xfrm>
            <a:off x="9880483" y="3281753"/>
            <a:ext cx="1647958" cy="29449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757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流量与需求预测</a:t>
            </a:r>
          </a:p>
        </p:txBody>
      </p:sp>
      <p:sp>
        <p:nvSpPr>
          <p:cNvPr id="49" name="TextBox 49"/>
          <p:cNvSpPr txBox="1"/>
          <p:nvPr/>
        </p:nvSpPr>
        <p:spPr>
          <a:xfrm>
            <a:off x="1348997" y="4303557"/>
            <a:ext cx="736483" cy="32795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4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问题一</a:t>
            </a:r>
          </a:p>
        </p:txBody>
      </p:sp>
      <p:sp>
        <p:nvSpPr>
          <p:cNvPr id="50" name="TextBox 50"/>
          <p:cNvSpPr txBox="1"/>
          <p:nvPr/>
        </p:nvSpPr>
        <p:spPr>
          <a:xfrm>
            <a:off x="5359517" y="4303557"/>
            <a:ext cx="729186" cy="32066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4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问题二</a:t>
            </a:r>
          </a:p>
        </p:txBody>
      </p:sp>
      <p:sp>
        <p:nvSpPr>
          <p:cNvPr id="51" name="TextBox 51"/>
          <p:cNvSpPr txBox="1"/>
          <p:nvPr/>
        </p:nvSpPr>
        <p:spPr>
          <a:xfrm>
            <a:off x="9289837" y="4318140"/>
            <a:ext cx="721890" cy="2988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640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问题三</a:t>
            </a:r>
          </a:p>
        </p:txBody>
      </p:sp>
      <p:sp>
        <p:nvSpPr>
          <p:cNvPr id="52" name="TextBox 52"/>
          <p:cNvSpPr txBox="1"/>
          <p:nvPr/>
        </p:nvSpPr>
        <p:spPr>
          <a:xfrm>
            <a:off x="1370867" y="4660668"/>
            <a:ext cx="1932346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75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哪类事件最需要文本？</a:t>
            </a:r>
          </a:p>
        </p:txBody>
      </p:sp>
      <p:sp>
        <p:nvSpPr>
          <p:cNvPr id="53" name="TextBox 53"/>
          <p:cNvSpPr txBox="1"/>
          <p:nvPr/>
        </p:nvSpPr>
        <p:spPr>
          <a:xfrm>
            <a:off x="5388693" y="4653382"/>
            <a:ext cx="2136515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87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新信息能提前多久获得？</a:t>
            </a:r>
          </a:p>
        </p:txBody>
      </p:sp>
      <p:sp>
        <p:nvSpPr>
          <p:cNvPr id="54" name="TextBox 54"/>
          <p:cNvSpPr txBox="1"/>
          <p:nvPr/>
        </p:nvSpPr>
        <p:spPr>
          <a:xfrm>
            <a:off x="9311716" y="4660668"/>
            <a:ext cx="2347979" cy="2550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502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模态缺失时能否稳定退化？</a:t>
            </a:r>
          </a:p>
        </p:txBody>
      </p:sp>
      <p:sp>
        <p:nvSpPr>
          <p:cNvPr id="55" name="TextBox 55"/>
          <p:cNvSpPr txBox="1"/>
          <p:nvPr/>
        </p:nvSpPr>
        <p:spPr>
          <a:xfrm>
            <a:off x="1378163" y="4966764"/>
            <a:ext cx="2420903" cy="2405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3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按事件类型分组检验新增信息</a:t>
            </a:r>
          </a:p>
        </p:txBody>
      </p:sp>
      <p:sp>
        <p:nvSpPr>
          <p:cNvPr id="56" name="TextBox 56"/>
          <p:cNvSpPr txBox="1"/>
          <p:nvPr/>
        </p:nvSpPr>
        <p:spPr>
          <a:xfrm>
            <a:off x="5395979" y="4965964"/>
            <a:ext cx="2260483" cy="24210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44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按发布时刻评估可用提前量</a:t>
            </a:r>
          </a:p>
        </p:txBody>
      </p:sp>
      <p:sp>
        <p:nvSpPr>
          <p:cNvPr id="57" name="TextBox 57"/>
          <p:cNvSpPr txBox="1"/>
          <p:nvPr/>
        </p:nvSpPr>
        <p:spPr>
          <a:xfrm>
            <a:off x="9311716" y="4966325"/>
            <a:ext cx="2070887" cy="24138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440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在缺失模态下检验稳健性</a:t>
            </a:r>
          </a:p>
        </p:txBody>
      </p:sp>
      <p:sp>
        <p:nvSpPr>
          <p:cNvPr id="58" name="TextBox 58"/>
          <p:cNvSpPr txBox="1"/>
          <p:nvPr/>
        </p:nvSpPr>
        <p:spPr>
          <a:xfrm>
            <a:off x="4134488" y="5766064"/>
            <a:ext cx="5097018" cy="39103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333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可复现数据、可解释增益、可承受成本</a:t>
            </a:r>
          </a:p>
        </p:txBody>
      </p:sp>
      <p:sp>
        <p:nvSpPr>
          <p:cNvPr id="59" name="TextBox 59"/>
          <p:cNvSpPr txBox="1"/>
          <p:nvPr/>
        </p:nvSpPr>
        <p:spPr>
          <a:xfrm>
            <a:off x="328136" y="6489954"/>
            <a:ext cx="3099044" cy="1894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08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本综述提出的研究框架|概念示意，尚待实证验证</a:t>
            </a:r>
          </a:p>
        </p:txBody>
      </p:sp>
      <p:sp>
        <p:nvSpPr>
          <p:cNvPr id="60" name="TextBox 60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9FD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0" y="0"/>
            <a:ext cx="12192000" cy="4139575"/>
          </a:xfrm>
          <a:prstGeom prst="rect">
            <a:avLst/>
          </a:prstGeom>
          <a:solidFill>
            <a:srgbClr val="0668CB"/>
          </a:solidFill>
          <a:ln>
            <a:noFill/>
          </a:ln>
        </p:spPr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867" y="1588780"/>
            <a:ext cx="3201133" cy="2543508"/>
          </a:xfrm>
          <a:prstGeom prst="rect">
            <a:avLst/>
          </a:prstGeom>
        </p:spPr>
      </p:pic>
      <p:pic>
        <p:nvPicPr>
          <p:cNvPr id="5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63336"/>
            <a:ext cx="3186541" cy="1668951"/>
          </a:xfrm>
          <a:prstGeom prst="rect">
            <a:avLst/>
          </a:prstGeom>
        </p:spPr>
      </p:pic>
      <p:pic>
        <p:nvPicPr>
          <p:cNvPr id="6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4746" y="4875667"/>
            <a:ext cx="6227254" cy="1224382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0" y="4139575"/>
            <a:ext cx="12192000" cy="750665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8" name="Rectangle 8"/>
          <p:cNvSpPr/>
          <p:nvPr/>
        </p:nvSpPr>
        <p:spPr>
          <a:xfrm>
            <a:off x="3521974" y="1858442"/>
            <a:ext cx="5432441" cy="539315"/>
          </a:xfrm>
          <a:prstGeom prst="roundRect">
            <a:avLst>
              <a:gd name="adj" fmla="val 4867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9" name="Rectangle 9"/>
          <p:cNvSpPr/>
          <p:nvPr/>
        </p:nvSpPr>
        <p:spPr>
          <a:xfrm>
            <a:off x="3521974" y="2587238"/>
            <a:ext cx="5432441" cy="539315"/>
          </a:xfrm>
          <a:prstGeom prst="roundRect">
            <a:avLst>
              <a:gd name="adj" fmla="val 4867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0" name="Rectangle 10"/>
          <p:cNvSpPr/>
          <p:nvPr/>
        </p:nvSpPr>
        <p:spPr>
          <a:xfrm>
            <a:off x="3521974" y="3316034"/>
            <a:ext cx="5432441" cy="539315"/>
          </a:xfrm>
          <a:prstGeom prst="roundRect">
            <a:avLst>
              <a:gd name="adj" fmla="val 48675"/>
            </a:avLst>
          </a:prstGeom>
          <a:solidFill>
            <a:srgbClr val="FDFEFF"/>
          </a:solidFill>
          <a:ln w="7144">
            <a:solidFill>
              <a:srgbClr val="B8D8ED"/>
            </a:solidFill>
          </a:ln>
        </p:spPr>
      </p:sp>
      <p:sp>
        <p:nvSpPr>
          <p:cNvPr id="11" name="Ellipse 11"/>
          <p:cNvSpPr/>
          <p:nvPr/>
        </p:nvSpPr>
        <p:spPr>
          <a:xfrm>
            <a:off x="3244880" y="1807255"/>
            <a:ext cx="627100" cy="627100"/>
          </a:xfrm>
          <a:prstGeom prst="ellipse">
            <a:avLst/>
          </a:prstGeom>
          <a:solidFill>
            <a:srgbClr val="E5F3FE"/>
          </a:solidFill>
          <a:ln w="9525">
            <a:solidFill>
              <a:srgbClr val="B4D9F5"/>
            </a:solidFill>
          </a:ln>
        </p:spPr>
      </p:sp>
      <p:sp>
        <p:nvSpPr>
          <p:cNvPr id="12" name="TextBox 12"/>
          <p:cNvSpPr txBox="1"/>
          <p:nvPr/>
        </p:nvSpPr>
        <p:spPr>
          <a:xfrm>
            <a:off x="3434467" y="1868348"/>
            <a:ext cx="401050" cy="5194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3099" b="1" dirty="0">
                <a:solidFill>
                  <a:srgbClr val="046CD0"/>
                </a:solidFill>
                <a:latin typeface="Arial"/>
                <a:ea typeface="Microsoft YaHei"/>
                <a:cs typeface="Arial"/>
              </a:rPr>
              <a:t>1</a:t>
            </a:r>
          </a:p>
        </p:txBody>
      </p:sp>
      <p:sp>
        <p:nvSpPr>
          <p:cNvPr id="13" name="Ellipse 13"/>
          <p:cNvSpPr/>
          <p:nvPr/>
        </p:nvSpPr>
        <p:spPr>
          <a:xfrm>
            <a:off x="3244880" y="2536054"/>
            <a:ext cx="627100" cy="627100"/>
          </a:xfrm>
          <a:prstGeom prst="ellipse">
            <a:avLst/>
          </a:prstGeom>
          <a:solidFill>
            <a:srgbClr val="E5F3FE"/>
          </a:solidFill>
          <a:ln w="9525">
            <a:solidFill>
              <a:srgbClr val="B4D9F5"/>
            </a:solidFill>
          </a:ln>
        </p:spPr>
      </p:sp>
      <p:sp>
        <p:nvSpPr>
          <p:cNvPr id="14" name="TextBox 14"/>
          <p:cNvSpPr txBox="1"/>
          <p:nvPr/>
        </p:nvSpPr>
        <p:spPr>
          <a:xfrm>
            <a:off x="3434467" y="2597153"/>
            <a:ext cx="401050" cy="5194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3099" b="1" dirty="0">
                <a:solidFill>
                  <a:srgbClr val="046CD0"/>
                </a:solidFill>
                <a:latin typeface="Arial"/>
                <a:ea typeface="Microsoft YaHei"/>
                <a:cs typeface="Arial"/>
              </a:rPr>
              <a:t>2</a:t>
            </a:r>
          </a:p>
        </p:txBody>
      </p:sp>
      <p:sp>
        <p:nvSpPr>
          <p:cNvPr id="15" name="Ellipse 15"/>
          <p:cNvSpPr/>
          <p:nvPr/>
        </p:nvSpPr>
        <p:spPr>
          <a:xfrm>
            <a:off x="3244880" y="3264854"/>
            <a:ext cx="627100" cy="627100"/>
          </a:xfrm>
          <a:prstGeom prst="ellipse">
            <a:avLst/>
          </a:prstGeom>
          <a:solidFill>
            <a:srgbClr val="E5F3FE"/>
          </a:solidFill>
          <a:ln w="9525">
            <a:solidFill>
              <a:srgbClr val="B4D9F5"/>
            </a:solidFill>
          </a:ln>
        </p:spPr>
      </p:sp>
      <p:sp>
        <p:nvSpPr>
          <p:cNvPr id="16" name="TextBox 16"/>
          <p:cNvSpPr txBox="1"/>
          <p:nvPr/>
        </p:nvSpPr>
        <p:spPr>
          <a:xfrm>
            <a:off x="3434467" y="3325949"/>
            <a:ext cx="401050" cy="51948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3099" b="1" dirty="0">
                <a:solidFill>
                  <a:srgbClr val="046CD0"/>
                </a:solidFill>
                <a:latin typeface="Arial"/>
                <a:ea typeface="Microsoft YaHei"/>
                <a:cs typeface="Arial"/>
              </a:rPr>
              <a:t>3</a:t>
            </a:r>
          </a:p>
        </p:txBody>
      </p:sp>
      <p:sp>
        <p:nvSpPr>
          <p:cNvPr id="17" name="Rectangle 17"/>
          <p:cNvSpPr/>
          <p:nvPr/>
        </p:nvSpPr>
        <p:spPr>
          <a:xfrm>
            <a:off x="568766" y="4387367"/>
            <a:ext cx="94793" cy="422700"/>
          </a:xfrm>
          <a:prstGeom prst="rect">
            <a:avLst/>
          </a:prstGeom>
          <a:solidFill>
            <a:srgbClr val="006BC9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4112609" y="354682"/>
            <a:ext cx="4032399" cy="34010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29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多模态城市交通预测·研究综述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44819" y="865337"/>
            <a:ext cx="10004441" cy="82012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4892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结论：让新增信息产生可验证的价值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4170950" y="1964712"/>
            <a:ext cx="2632367" cy="3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67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统一目标与时空口径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4185533" y="2693508"/>
            <a:ext cx="4017816" cy="3632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167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保留原始证据，区分事实与归纳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185533" y="3432648"/>
            <a:ext cx="4287622" cy="349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087" b="1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用消融和异常场景验证多模态增益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867728" y="4375471"/>
            <a:ext cx="3441763" cy="431921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2576" b="1" dirty="0">
                <a:solidFill>
                  <a:srgbClr val="0869C0"/>
                </a:solidFill>
                <a:latin typeface="Microsoft YaHei"/>
                <a:ea typeface="Microsoft YaHei"/>
                <a:cs typeface="Microsoft YaHei"/>
              </a:rPr>
              <a:t>主要参考文献与数据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82320" y="4930330"/>
            <a:ext cx="3835517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75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[1] Zhang, Zheng &amp; Qi. ST-ResNet. AAAI, 2017.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882320" y="5183534"/>
            <a:ext cx="4448042" cy="22967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70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[2] Han et al. Event Traffic Forecasting. ACM MM, 2024.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882320" y="5440489"/>
            <a:ext cx="3171958" cy="2332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57" dirty="0">
                <a:solidFill>
                  <a:srgbClr val="182437"/>
                </a:solidFill>
                <a:latin typeface="Arial"/>
                <a:ea typeface="Microsoft YaHei"/>
                <a:cs typeface="Arial"/>
              </a:rPr>
              <a:t>[3] Zhang et al. BjTT. IEEE T-ITS, 2024.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867728" y="5673700"/>
            <a:ext cx="4739716" cy="2623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52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[4] Zhang et al. KGCM. arXiv:2509.06976, 2025（预印本）.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60441" y="6103696"/>
            <a:ext cx="3529260" cy="24779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l"/>
            <a:r>
              <a:rPr lang="zh-CN" sz="1316" dirty="0">
                <a:solidFill>
                  <a:srgbClr val="182437"/>
                </a:solidFill>
                <a:latin typeface="Microsoft YaHei"/>
                <a:ea typeface="Microsoft YaHei"/>
                <a:cs typeface="Microsoft YaHei"/>
              </a:rPr>
              <a:t>数据：NYC TLC｜完整链接见随附文献说明。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11220450" y="6610350"/>
            <a:ext cx="666750" cy="2095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ctr" anchorCtr="0">
            <a:noAutofit/>
          </a:bodyPr>
          <a:lstStyle/>
          <a:p>
            <a:pPr algn="r"/>
            <a:r>
              <a:rPr lang="zh-CN" sz="1088" dirty="0">
                <a:solidFill>
                  <a:srgbClr val="526575"/>
                </a:solidFill>
                <a:latin typeface="Arial"/>
                <a:ea typeface="Microsoft YaHei"/>
                <a:cs typeface="Arial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