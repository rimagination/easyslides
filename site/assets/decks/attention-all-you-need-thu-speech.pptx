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01_cover.svg</a:t>
            </a:r>
          </a:p>
          <a:p>
            <a:endParaRPr lang="zh-CN" dirty="0"/>
          </a:p>
          <a:p>
            <a:r>
              <a:rPr lang="zh-CN" dirty="0"/>
              <a:t>介绍论文及其核心问题。</a:t>
            </a:r>
          </a:p>
          <a:p>
            <a:endParaRPr lang="zh-CN" dirty="0"/>
          </a:p>
          <a:p>
            <a:r>
              <a:rPr lang="zh-CN" dirty="0"/>
              <a:t>Source: paper metadata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02_toc.svg</a:t>
            </a:r>
          </a:p>
          <a:p>
            <a:endParaRPr lang="zh-CN" dirty="0"/>
          </a:p>
          <a:p>
            <a:r>
              <a:rPr lang="zh-CN" dirty="0"/>
              <a:t>预览论文精读的四个部分。</a:t>
            </a:r>
          </a:p>
          <a:p>
            <a:endParaRPr lang="zh-CN" dirty="0"/>
          </a:p>
          <a:p>
            <a:r>
              <a:rPr lang="zh-CN" dirty="0"/>
              <a:t>Source: paper metadata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03_transition_problem.svg</a:t>
            </a:r>
          </a:p>
          <a:p>
            <a:endParaRPr lang="zh-CN" dirty="0"/>
          </a:p>
          <a:p>
            <a:r>
              <a:rPr lang="zh-CN" dirty="0"/>
              <a:t>从序列递推的训练瓶颈出发，说明论文为什么要重新设计序列建模。</a:t>
            </a:r>
          </a:p>
          <a:p>
            <a:endParaRPr lang="zh-CN" dirty="0"/>
          </a:p>
          <a:p>
            <a:r>
              <a:rPr lang="zh-CN" dirty="0"/>
              <a:t>Source: 论文第 1、3、5-6 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04_content_cards_callout.svg</a:t>
            </a:r>
          </a:p>
          <a:p>
            <a:endParaRPr lang="zh-CN" dirty="0"/>
          </a:p>
          <a:p>
            <a:r>
              <a:rPr lang="zh-CN" dirty="0"/>
              <a:t>问题：递推限制并行</a:t>
            </a:r>
          </a:p>
          <a:p>
            <a:endParaRPr lang="zh-CN" dirty="0"/>
          </a:p>
          <a:p>
            <a:r>
              <a:rPr lang="zh-CN" dirty="0"/>
              <a:t>Source: 论文第 1-2 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05_content_two_panel.svg</a:t>
            </a:r>
          </a:p>
          <a:p>
            <a:endParaRPr lang="zh-CN" dirty="0"/>
          </a:p>
          <a:p>
            <a:r>
              <a:rPr lang="zh-CN" dirty="0"/>
              <a:t>结构：编码器与解码器</a:t>
            </a:r>
          </a:p>
          <a:p>
            <a:endParaRPr lang="zh-CN" dirty="0"/>
          </a:p>
          <a:p>
            <a:r>
              <a:rPr lang="zh-CN" dirty="0"/>
              <a:t>Source: Figure 1；论文第 3 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06_transition_mechanism.svg</a:t>
            </a:r>
          </a:p>
          <a:p>
            <a:endParaRPr lang="zh-CN" dirty="0"/>
          </a:p>
          <a:p>
            <a:r>
              <a:rPr lang="zh-CN" dirty="0"/>
              <a:t>进入 scaled dot-product attention、多头注意力和位置编码。</a:t>
            </a:r>
          </a:p>
          <a:p>
            <a:endParaRPr lang="zh-CN" dirty="0"/>
          </a:p>
          <a:p>
            <a:r>
              <a:rPr lang="zh-CN" dirty="0"/>
              <a:t>Source: 论文第 1、3、5-6 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07_content_dual_panels.svg</a:t>
            </a:r>
          </a:p>
          <a:p>
            <a:endParaRPr lang="zh-CN" dirty="0"/>
          </a:p>
          <a:p>
            <a:r>
              <a:rPr lang="zh-CN" dirty="0"/>
              <a:t>机制：attention 核心</a:t>
            </a:r>
          </a:p>
          <a:p>
            <a:endParaRPr lang="zh-CN" dirty="0"/>
          </a:p>
          <a:p>
            <a:r>
              <a:rPr lang="zh-CN" dirty="0"/>
              <a:t>Source: Figure 2；论文第 3.2 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08_content_source_20.svg</a:t>
            </a:r>
          </a:p>
          <a:p>
            <a:endParaRPr lang="zh-CN" dirty="0"/>
          </a:p>
          <a:p>
            <a:r>
              <a:rPr lang="zh-CN" dirty="0"/>
              <a:t>机制：三种 attention</a:t>
            </a:r>
          </a:p>
          <a:p>
            <a:endParaRPr lang="zh-CN" dirty="0"/>
          </a:p>
          <a:p>
            <a:r>
              <a:rPr lang="zh-CN" dirty="0"/>
              <a:t>Source: 论文第 3.2.3 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09_content_source_15.svg</a:t>
            </a:r>
          </a:p>
          <a:p>
            <a:endParaRPr lang="zh-CN" dirty="0"/>
          </a:p>
          <a:p>
            <a:r>
              <a:rPr lang="zh-CN" dirty="0"/>
              <a:t>机制：位置编码与 FFN</a:t>
            </a:r>
          </a:p>
          <a:p>
            <a:endParaRPr lang="zh-CN" dirty="0"/>
          </a:p>
          <a:p>
            <a:r>
              <a:rPr lang="zh-CN" dirty="0"/>
              <a:t>Source: 论文第 3.3-3.5 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10_content_metrics.svg</a:t>
            </a:r>
          </a:p>
          <a:p>
            <a:endParaRPr lang="zh-CN" dirty="0"/>
          </a:p>
          <a:p>
            <a:r>
              <a:rPr lang="zh-CN" dirty="0"/>
              <a:t>复杂度：全局依赖一步可达</a:t>
            </a:r>
          </a:p>
          <a:p>
            <a:endParaRPr lang="zh-CN" dirty="0"/>
          </a:p>
          <a:p>
            <a:r>
              <a:rPr lang="zh-CN" dirty="0"/>
              <a:t>Source: Table 1；论文第 4 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11_transition_results.svg</a:t>
            </a:r>
          </a:p>
          <a:p>
            <a:endParaRPr lang="zh-CN" dirty="0"/>
          </a:p>
          <a:p>
            <a:r>
              <a:rPr lang="zh-CN" dirty="0"/>
              <a:t>从训练设置、翻译结果和消融实验回到论文贡献。</a:t>
            </a:r>
          </a:p>
          <a:p>
            <a:endParaRPr lang="zh-CN" dirty="0"/>
          </a:p>
          <a:p>
            <a:r>
              <a:rPr lang="zh-CN" dirty="0"/>
              <a:t>Source: 论文第 1、3、5-6 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12_content_source_16.svg</a:t>
            </a:r>
          </a:p>
          <a:p>
            <a:endParaRPr lang="zh-CN" dirty="0"/>
          </a:p>
          <a:p>
            <a:r>
              <a:rPr lang="zh-CN" dirty="0"/>
              <a:t>训练：并行翻译设置</a:t>
            </a:r>
          </a:p>
          <a:p>
            <a:endParaRPr lang="zh-CN" dirty="0"/>
          </a:p>
          <a:p>
            <a:r>
              <a:rPr lang="zh-CN" dirty="0"/>
              <a:t>Source: 论文第 5 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13_content_source_17.svg</a:t>
            </a:r>
          </a:p>
          <a:p>
            <a:endParaRPr lang="zh-CN" dirty="0"/>
          </a:p>
          <a:p>
            <a:r>
              <a:rPr lang="zh-CN" dirty="0"/>
              <a:t>结果：质量与成本</a:t>
            </a:r>
          </a:p>
          <a:p>
            <a:endParaRPr lang="zh-CN" dirty="0"/>
          </a:p>
          <a:p>
            <a:r>
              <a:rPr lang="zh-CN" dirty="0"/>
              <a:t>Source: Table 2；论文第 6.1 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14_content_source_20.svg</a:t>
            </a:r>
          </a:p>
          <a:p>
            <a:endParaRPr lang="zh-CN" dirty="0"/>
          </a:p>
          <a:p>
            <a:r>
              <a:rPr lang="zh-CN" dirty="0"/>
              <a:t>消融：容量与正则</a:t>
            </a:r>
          </a:p>
          <a:p>
            <a:endParaRPr lang="zh-CN" dirty="0"/>
          </a:p>
          <a:p>
            <a:r>
              <a:rPr lang="zh-CN" dirty="0"/>
              <a:t>Source: Table 3；论文第 6.2 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15_content_source_25.svg</a:t>
            </a:r>
          </a:p>
          <a:p>
            <a:endParaRPr lang="zh-CN" dirty="0"/>
          </a:p>
          <a:p>
            <a:r>
              <a:rPr lang="zh-CN" dirty="0"/>
              <a:t>贡献：Attention 成为主干</a:t>
            </a:r>
          </a:p>
          <a:p>
            <a:endParaRPr lang="zh-CN" dirty="0"/>
          </a:p>
          <a:p>
            <a:r>
              <a:rPr lang="zh-CN" dirty="0"/>
              <a:t>Source: 论文结论；第 3-6 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16_ending.svg</a:t>
            </a:r>
          </a:p>
          <a:p>
            <a:endParaRPr lang="zh-CN" dirty="0"/>
          </a:p>
          <a:p>
            <a:r>
              <a:rPr lang="zh-CN" dirty="0"/>
              <a:t>讨论论文的架构选择、实验结果与后续影响。</a:t>
            </a:r>
          </a:p>
          <a:p>
            <a:endParaRPr lang="zh-CN" dirty="0"/>
          </a:p>
          <a:p>
            <a:r>
              <a:rPr lang="zh-CN" dirty="0"/>
              <a:t>Source: paper metadata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07263ef1496369a.jpg"/>
  <Relationship Id="rId3" Type="http://schemas.openxmlformats.org/officeDocument/2006/relationships/image" Target="../media/image_a1759e6d969d8789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07263ef1496369a.jp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c909cb5604e5408.jpg"/>
  <Relationship Id="rId3" Type="http://schemas.openxmlformats.org/officeDocument/2006/relationships/image" Target="../media/image_bb981f572458cc88.png"/>
  <Relationship Id="rId4" Type="http://schemas.openxmlformats.org/officeDocument/2006/relationships/image" Target="../media/image_374de7ef262c3a85.png"/>
  <Relationship Id="rId5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c909cb5604e5408.jpg"/>
  <Relationship Id="rId3" Type="http://schemas.openxmlformats.org/officeDocument/2006/relationships/image" Target="../media/image_00588bfe9a65de62.jpg"/>
  <Relationship Id="rId4" Type="http://schemas.openxmlformats.org/officeDocument/2006/relationships/image" Target="../media/image_67ff6e0688b1769e.png"/>
  <Relationship Id="rId5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3dada8197eb04a.jpg"/>
  <Relationship Id="rId3" Type="http://schemas.openxmlformats.org/officeDocument/2006/relationships/image" Target="../media/image_00588bfe9a65de62.jpg"/>
  <Relationship Id="rId4" Type="http://schemas.openxmlformats.org/officeDocument/2006/relationships/image" Target="../media/image_67ff6e0688b1769e.png"/>
  <Relationship Id="rId5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c909cb5604e5408.jpg"/>
  <Relationship Id="rId3" Type="http://schemas.openxmlformats.org/officeDocument/2006/relationships/image" Target="../media/image_bb981f572458cc88.png"/>
  <Relationship Id="rId4" Type="http://schemas.openxmlformats.org/officeDocument/2006/relationships/image" Target="../media/image_1e187c66e8df8f09.png"/>
  <Relationship Id="rId5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3dada8197eb04a.jpg"/>
  <Relationship Id="rId3" Type="http://schemas.openxmlformats.org/officeDocument/2006/relationships/image" Target="../media/image_cc5c382afcd46a86.jpg"/>
  <Relationship Id="rId4" Type="http://schemas.openxmlformats.org/officeDocument/2006/relationships/image" Target="../media/image_7a3bab22590c1ec5.jpg"/>
  <Relationship Id="rId5" Type="http://schemas.openxmlformats.org/officeDocument/2006/relationships/image" Target="../media/image_67ff6e0688b1769e.png"/>
  <Relationship Id="rId6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3dada8197eb04a.jpg"/>
  <Relationship Id="rId3" Type="http://schemas.openxmlformats.org/officeDocument/2006/relationships/image" Target="../media/image_00588bfe9a65de62.jpg"/>
  <Relationship Id="rId4" Type="http://schemas.openxmlformats.org/officeDocument/2006/relationships/image" Target="../media/image_cc5c382afcd46a86.jpg"/>
  <Relationship Id="rId5" Type="http://schemas.openxmlformats.org/officeDocument/2006/relationships/image" Target="../media/image_7a3bab22590c1ec5.jpg"/>
  <Relationship Id="rId6" Type="http://schemas.openxmlformats.org/officeDocument/2006/relationships/image" Target="../media/image_00588bfe9a65de62.jpg"/>
  <Relationship Id="rId7" Type="http://schemas.openxmlformats.org/officeDocument/2006/relationships/image" Target="../media/image_67ff6e0688b1769e.png"/>
  <Relationship Id="rId8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3dada8197eb04a.jpg"/>
  <Relationship Id="rId3" Type="http://schemas.openxmlformats.org/officeDocument/2006/relationships/image" Target="../media/image_29052daef8100792.jpg"/>
  <Relationship Id="rId4" Type="http://schemas.openxmlformats.org/officeDocument/2006/relationships/image" Target="../media/image_fb2918387f0b2860.jpg"/>
  <Relationship Id="rId5" Type="http://schemas.openxmlformats.org/officeDocument/2006/relationships/image" Target="../media/image_7e069db2f4e67b14.jpg"/>
  <Relationship Id="rId6" Type="http://schemas.openxmlformats.org/officeDocument/2006/relationships/image" Target="../media/image_67ff6e0688b1769e.png"/>
  <Relationship Id="rId7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c909cb5604e5408.jpg"/>
  <Relationship Id="rId3" Type="http://schemas.openxmlformats.org/officeDocument/2006/relationships/image" Target="../media/image_12eac8090f613320.jpg"/>
  <Relationship Id="rId4" Type="http://schemas.openxmlformats.org/officeDocument/2006/relationships/image" Target="../media/image_67ff6e0688b1769e.png"/>
  <Relationship Id="rId5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c909cb5604e5408.jpg"/>
  <Relationship Id="rId3" Type="http://schemas.openxmlformats.org/officeDocument/2006/relationships/image" Target="../media/image_bb981f572458cc88.png"/>
  <Relationship Id="rId4" Type="http://schemas.openxmlformats.org/officeDocument/2006/relationships/image" Target="../media/image_5dce9d55ea5e3d03.png"/>
  <Relationship Id="rId5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3dada8197eb04a.jpg"/>
  <Relationship Id="rId3" Type="http://schemas.openxmlformats.org/officeDocument/2006/relationships/image" Target="../media/image_141158d1a79d02b4.jpg"/>
  <Relationship Id="rId4" Type="http://schemas.openxmlformats.org/officeDocument/2006/relationships/image" Target="../media/image_bb0dc87151977c78.jpg"/>
  <Relationship Id="rId5" Type="http://schemas.openxmlformats.org/officeDocument/2006/relationships/image" Target="../media/image_67ff6e0688b1769e.png"/>
  <Relationship Id="rId6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3dada8197eb04a.jpg"/>
  <Relationship Id="rId3" Type="http://schemas.openxmlformats.org/officeDocument/2006/relationships/image" Target="../media/image_141158d1a79d02b4.jpg"/>
  <Relationship Id="rId4" Type="http://schemas.openxmlformats.org/officeDocument/2006/relationships/image" Target="../media/image_d16c2b85e1d29a85.jpg"/>
  <Relationship Id="rId5" Type="http://schemas.openxmlformats.org/officeDocument/2006/relationships/image" Target="../media/image_00588bfe9a65de62.jpg"/>
  <Relationship Id="rId6" Type="http://schemas.openxmlformats.org/officeDocument/2006/relationships/image" Target="../media/image_bb0dc87151977c78.jpg"/>
  <Relationship Id="rId7" Type="http://schemas.openxmlformats.org/officeDocument/2006/relationships/image" Target="../media/image_67ff6e0688b1769e.png"/>
  <Relationship Id="rId8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3dada8197eb04a.jpg"/>
  <Relationship Id="rId3" Type="http://schemas.openxmlformats.org/officeDocument/2006/relationships/image" Target="../media/image_bb0dc87151977c78.jpg"/>
  <Relationship Id="rId4" Type="http://schemas.openxmlformats.org/officeDocument/2006/relationships/image" Target="../media/image_7a3bab22590c1ec5.jpg"/>
  <Relationship Id="rId5" Type="http://schemas.openxmlformats.org/officeDocument/2006/relationships/image" Target="../media/image_fb2918387f0b2860.jpg"/>
  <Relationship Id="rId6" Type="http://schemas.openxmlformats.org/officeDocument/2006/relationships/image" Target="../media/image_7e069db2f4e67b14.jpg"/>
  <Relationship Id="rId7" Type="http://schemas.openxmlformats.org/officeDocument/2006/relationships/image" Target="../media/image_67ff6e0688b1769e.png"/>
  <Relationship Id="rId8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3dada8197eb04a.jpg"/>
  <Relationship Id="rId3" Type="http://schemas.openxmlformats.org/officeDocument/2006/relationships/image" Target="../media/image_67ff6e0688b1769e.png"/>
  <Relationship Id="rId4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07263ef1496369a.jpg"/>
  <Relationship Id="rId3" Type="http://schemas.openxmlformats.org/officeDocument/2006/relationships/image" Target="../media/image_a1759e6d969d8789.png"/>
  <Relationship Id="rId4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1884" t="17299" r="0" b="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41351"/>
                </a:gs>
                <a:gs pos="62000">
                  <a:srgbClr val="912C8D">
                    <a:alpha val="0"/>
                  </a:srgbClr>
                </a:gs>
              </a:gsLst>
              <a:lin ang="20480754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139916"/>
            <a:ext cx="12192000" cy="2885122"/>
            <a:chOff x="0" y="3139916"/>
            <a:chExt cx="12192000" cy="2885122"/>
          </a:xfrm>
        </p:grpSpPr>
        <p:sp>
          <p:nvSpPr>
            <p:cNvPr id="7" name="Rectangle 7"/>
            <p:cNvSpPr/>
            <p:nvPr/>
          </p:nvSpPr>
          <p:spPr>
            <a:xfrm>
              <a:off x="0" y="3139916"/>
              <a:ext cx="12192000" cy="2885122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67740" y="3573113"/>
            <a:ext cx="6488620" cy="369380"/>
            <a:chOff x="967740" y="3573113"/>
            <a:chExt cx="6488620" cy="369380"/>
          </a:xfrm>
        </p:grpSpPr>
        <p:sp>
          <p:nvSpPr>
            <p:cNvPr id="9" name="Rectangle 9"/>
            <p:cNvSpPr/>
            <p:nvPr/>
          </p:nvSpPr>
          <p:spPr>
            <a:xfrm>
              <a:off x="967740" y="3573113"/>
              <a:ext cx="6488620" cy="3693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7740" y="3573113"/>
              <a:ext cx="6488620" cy="369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441351"/>
                  </a:solidFill>
                  <a:latin typeface="微软雅黑"/>
                  <a:ea typeface="Microsoft YaHei"/>
                  <a:cs typeface="微软雅黑"/>
                </a:rPr>
                <a:t>论文精读｜NeurIPS 2017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0116" y="3987260"/>
            <a:ext cx="6522911" cy="830961"/>
            <a:chOff x="930116" y="3987260"/>
            <a:chExt cx="6522911" cy="830961"/>
          </a:xfrm>
        </p:grpSpPr>
        <p:sp>
          <p:nvSpPr>
            <p:cNvPr id="12" name="Rectangle 12"/>
            <p:cNvSpPr/>
            <p:nvPr/>
          </p:nvSpPr>
          <p:spPr>
            <a:xfrm>
              <a:off x="930116" y="3987260"/>
              <a:ext cx="6522911" cy="83096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0116" y="3987260"/>
              <a:ext cx="6522911" cy="8309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325" b="1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Attention Is All You Need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7740" y="5168741"/>
            <a:ext cx="6718935" cy="418148"/>
            <a:chOff x="967740" y="5168741"/>
            <a:chExt cx="6718935" cy="418148"/>
          </a:xfrm>
        </p:grpSpPr>
        <p:sp>
          <p:nvSpPr>
            <p:cNvPr id="15" name="Rectangle 15"/>
            <p:cNvSpPr/>
            <p:nvPr/>
          </p:nvSpPr>
          <p:spPr>
            <a:xfrm>
              <a:off x="967740" y="5168741"/>
              <a:ext cx="6718935" cy="41814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7740" y="5168741"/>
              <a:ext cx="6718935" cy="4181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Vaswani et al.｜Transformer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0323" y="5032534"/>
            <a:ext cx="6069997" cy="9525"/>
            <a:chOff x="1060323" y="5032534"/>
            <a:chExt cx="6069997" cy="9525"/>
          </a:xfrm>
        </p:grpSpPr>
        <p:sp>
          <p:nvSpPr>
            <p:cNvPr id="18" name="Line 18"/>
            <p:cNvSpPr/>
            <p:nvPr/>
          </p:nvSpPr>
          <p:spPr>
            <a:xfrm>
              <a:off x="1060323" y="5032534"/>
              <a:ext cx="6069997" cy="9525"/>
            </a:xfrm>
            <a:custGeom>
              <a:avLst/>
              <a:gdLst/>
              <a:ahLst/>
              <a:cxnLst/>
              <a:rect l="l" t="t" r="r" b="b"/>
              <a:pathLst>
                <a:path w="6069997" h="9525">
                  <a:moveTo>
                    <a:pt x="6069997" y="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441351">
                  <a:alpha val="79000"/>
                </a:srgb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996868" y="3547015"/>
            <a:ext cx="1840040" cy="711803"/>
            <a:chOff x="9996868" y="3547015"/>
            <a:chExt cx="1840040" cy="711803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l="0" t="20586" r="0" b="27820"/>
            <a:stretch>
              <a:fillRect/>
            </a:stretch>
          </p:blipFill>
          <p:spPr>
            <a:xfrm>
              <a:off x="9996868" y="3547015"/>
              <a:ext cx="1840040" cy="7118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1884" t="17299" r="0" b="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41351"/>
                </a:gs>
                <a:gs pos="62000">
                  <a:srgbClr val="912C8D">
                    <a:alpha val="0"/>
                  </a:srgbClr>
                </a:gs>
              </a:gsLst>
              <a:lin ang="20480754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701040"/>
            <a:ext cx="12192000" cy="5434298"/>
            <a:chOff x="0" y="701040"/>
            <a:chExt cx="12192000" cy="5434298"/>
          </a:xfrm>
        </p:grpSpPr>
        <p:sp>
          <p:nvSpPr>
            <p:cNvPr id="7" name="Rectangle 7"/>
            <p:cNvSpPr/>
            <p:nvPr/>
          </p:nvSpPr>
          <p:spPr>
            <a:xfrm>
              <a:off x="0" y="701040"/>
              <a:ext cx="12192000" cy="5434298"/>
            </a:xfrm>
            <a:prstGeom prst="rect">
              <a:avLst/>
            </a:prstGeom>
            <a:solidFill>
              <a:srgbClr val="FFFFFF">
                <a:alpha val="73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8382" y="1337786"/>
            <a:ext cx="1877473" cy="1108043"/>
            <a:chOff x="768382" y="1337786"/>
            <a:chExt cx="1877473" cy="1108043"/>
          </a:xfrm>
        </p:grpSpPr>
        <p:sp>
          <p:nvSpPr>
            <p:cNvPr id="9" name="Rectangle 9"/>
            <p:cNvSpPr/>
            <p:nvPr/>
          </p:nvSpPr>
          <p:spPr>
            <a:xfrm>
              <a:off x="768382" y="1337786"/>
              <a:ext cx="1877473" cy="11080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8382" y="1337786"/>
              <a:ext cx="1877473" cy="11080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6600" b="1" dirty="0">
                  <a:solidFill>
                    <a:srgbClr val="441351"/>
                  </a:solidFill>
                  <a:latin typeface="微软雅黑"/>
                  <a:ea typeface="Microsoft YaHei"/>
                  <a:cs typeface="微软雅黑"/>
                </a:rPr>
                <a:t>目录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70308" y="1972723"/>
            <a:ext cx="2481167" cy="584740"/>
            <a:chOff x="6270308" y="1972723"/>
            <a:chExt cx="2481167" cy="584740"/>
          </a:xfrm>
        </p:grpSpPr>
        <p:sp>
          <p:nvSpPr>
            <p:cNvPr id="12" name="Rectangle 12"/>
            <p:cNvSpPr/>
            <p:nvPr/>
          </p:nvSpPr>
          <p:spPr>
            <a:xfrm>
              <a:off x="6270308" y="1972723"/>
              <a:ext cx="2481167" cy="58474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308" y="1972723"/>
              <a:ext cx="2481167" cy="584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3200" b="1" dirty="0">
                  <a:solidFill>
                    <a:srgbClr val="441351"/>
                  </a:solidFill>
                  <a:latin typeface="微软雅黑"/>
                  <a:ea typeface="Microsoft YaHei"/>
                  <a:cs typeface="微软雅黑"/>
                </a:rPr>
                <a:t>PAPER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1545" y="2672144"/>
            <a:ext cx="7692866" cy="9525"/>
            <a:chOff x="931545" y="2672144"/>
            <a:chExt cx="7692866" cy="9525"/>
          </a:xfrm>
        </p:grpSpPr>
        <p:sp>
          <p:nvSpPr>
            <p:cNvPr id="15" name="Line 15"/>
            <p:cNvSpPr/>
            <p:nvPr/>
          </p:nvSpPr>
          <p:spPr>
            <a:xfrm>
              <a:off x="931545" y="2672144"/>
              <a:ext cx="7692866" cy="9525"/>
            </a:xfrm>
            <a:custGeom>
              <a:avLst/>
              <a:gdLst/>
              <a:ahLst/>
              <a:cxnLst/>
              <a:rect l="l" t="t" r="r" b="b"/>
              <a:pathLst>
                <a:path w="7692866" h="9525">
                  <a:moveTo>
                    <a:pt x="0" y="0"/>
                  </a:moveTo>
                  <a:lnTo>
                    <a:pt x="7692866" y="0"/>
                  </a:lnTo>
                </a:path>
              </a:pathLst>
            </a:custGeom>
            <a:noFill/>
            <a:ln w="38100">
              <a:solidFill>
                <a:srgbClr val="44135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359503" y="2886551"/>
            <a:ext cx="3217545" cy="2246757"/>
            <a:chOff x="1359503" y="2886551"/>
            <a:chExt cx="3217545" cy="2246757"/>
          </a:xfrm>
        </p:grpSpPr>
        <p:sp>
          <p:nvSpPr>
            <p:cNvPr id="17" name="Rectangle 17"/>
            <p:cNvSpPr/>
            <p:nvPr/>
          </p:nvSpPr>
          <p:spPr>
            <a:xfrm>
              <a:off x="1359503" y="2886551"/>
              <a:ext cx="3217545" cy="224675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59503" y="3362801"/>
              <a:ext cx="3217545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441351"/>
                  </a:solidFill>
                  <a:latin typeface="微软雅黑"/>
                  <a:ea typeface="Microsoft YaHei"/>
                  <a:cs typeface="微软雅黑"/>
                </a:rPr>
                <a:t>研究问题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59503" y="4457700"/>
              <a:ext cx="3217545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441351"/>
                  </a:solidFill>
                  <a:latin typeface="微软雅黑"/>
                  <a:ea typeface="Microsoft YaHei"/>
                  <a:cs typeface="微软雅黑"/>
                </a:rPr>
                <a:t>模型结构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875972" y="2886551"/>
            <a:ext cx="3217545" cy="2246757"/>
            <a:chOff x="5875972" y="2886551"/>
            <a:chExt cx="3217545" cy="2246757"/>
          </a:xfrm>
        </p:grpSpPr>
        <p:sp>
          <p:nvSpPr>
            <p:cNvPr id="21" name="Rectangle 21"/>
            <p:cNvSpPr/>
            <p:nvPr/>
          </p:nvSpPr>
          <p:spPr>
            <a:xfrm>
              <a:off x="5875972" y="2886551"/>
              <a:ext cx="3217545" cy="224675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5972" y="3362801"/>
              <a:ext cx="3217545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441351"/>
                  </a:solidFill>
                  <a:latin typeface="微软雅黑"/>
                  <a:ea typeface="Microsoft YaHei"/>
                  <a:cs typeface="微软雅黑"/>
                </a:rPr>
                <a:t>关键机制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75972" y="4457700"/>
              <a:ext cx="3217545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441351"/>
                  </a:solidFill>
                  <a:latin typeface="微软雅黑"/>
                  <a:ea typeface="Microsoft YaHei"/>
                  <a:cs typeface="微软雅黑"/>
                </a:rPr>
                <a:t>实验与启发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13572" y="3887724"/>
            <a:ext cx="3552254" cy="329279"/>
            <a:chOff x="1913572" y="3887724"/>
            <a:chExt cx="3552254" cy="329279"/>
          </a:xfrm>
        </p:grpSpPr>
        <p:sp>
          <p:nvSpPr>
            <p:cNvPr id="25" name="Rectangle 25"/>
            <p:cNvSpPr/>
            <p:nvPr/>
          </p:nvSpPr>
          <p:spPr>
            <a:xfrm>
              <a:off x="1913572" y="3887724"/>
              <a:ext cx="3552254" cy="32927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13572" y="3887724"/>
              <a:ext cx="3552254" cy="3292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808080"/>
                  </a:solidFill>
                  <a:latin typeface="微软雅黑"/>
                  <a:ea typeface="Microsoft YaHei"/>
                  <a:cs typeface="微软雅黑"/>
                </a:rPr>
                <a:t>为什么摆脱序列递推？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13572" y="4949571"/>
            <a:ext cx="3480340" cy="329279"/>
            <a:chOff x="1913572" y="4949571"/>
            <a:chExt cx="3480340" cy="329279"/>
          </a:xfrm>
        </p:grpSpPr>
        <p:sp>
          <p:nvSpPr>
            <p:cNvPr id="28" name="Rectangle 28"/>
            <p:cNvSpPr/>
            <p:nvPr/>
          </p:nvSpPr>
          <p:spPr>
            <a:xfrm>
              <a:off x="1913572" y="4949571"/>
              <a:ext cx="3480340" cy="32927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13572" y="4949571"/>
              <a:ext cx="3480340" cy="3292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808080"/>
                  </a:solidFill>
                  <a:latin typeface="微软雅黑"/>
                  <a:ea typeface="Microsoft YaHei"/>
                  <a:cs typeface="微软雅黑"/>
                </a:rPr>
                <a:t>编码器、解码器与位置编码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15088" y="3887724"/>
            <a:ext cx="3499485" cy="329279"/>
            <a:chOff x="6415088" y="3887724"/>
            <a:chExt cx="3499485" cy="329279"/>
          </a:xfrm>
        </p:grpSpPr>
        <p:sp>
          <p:nvSpPr>
            <p:cNvPr id="31" name="Rectangle 31"/>
            <p:cNvSpPr/>
            <p:nvPr/>
          </p:nvSpPr>
          <p:spPr>
            <a:xfrm>
              <a:off x="6415088" y="3887724"/>
              <a:ext cx="3499485" cy="32927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5088" y="3887724"/>
              <a:ext cx="3499485" cy="3292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808080"/>
                  </a:solidFill>
                  <a:latin typeface="微软雅黑"/>
                  <a:ea typeface="Microsoft YaHei"/>
                  <a:cs typeface="微软雅黑"/>
                </a:rPr>
                <a:t>注意力、多头与 FFN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15088" y="4949571"/>
            <a:ext cx="3499485" cy="329279"/>
            <a:chOff x="6415088" y="4949571"/>
            <a:chExt cx="3499485" cy="329279"/>
          </a:xfrm>
        </p:grpSpPr>
        <p:sp>
          <p:nvSpPr>
            <p:cNvPr id="34" name="Rectangle 34"/>
            <p:cNvSpPr/>
            <p:nvPr/>
          </p:nvSpPr>
          <p:spPr>
            <a:xfrm>
              <a:off x="6415088" y="4949571"/>
              <a:ext cx="3499485" cy="32927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5088" y="4949571"/>
              <a:ext cx="3499485" cy="3292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808080"/>
                  </a:solidFill>
                  <a:latin typeface="微软雅黑"/>
                  <a:ea typeface="Microsoft YaHei"/>
                  <a:cs typeface="微软雅黑"/>
                </a:rPr>
                <a:t>结果、消融与影响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0" y="0"/>
            <a:ext cx="12192000" cy="6892671"/>
            <a:chOff x="0" y="0"/>
            <a:chExt cx="12192000" cy="6892671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rcRect l="0" t="21851" r="0" b="2656"/>
            <a:stretch>
              <a:fillRect/>
            </a:stretch>
          </p:blipFill>
          <p:spPr>
            <a:xfrm>
              <a:off x="0" y="0"/>
              <a:ext cx="12192000" cy="6892671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0" y="0"/>
              <a:ext cx="12192000" cy="6892671"/>
            </a:xfrm>
            <a:prstGeom prst="rect">
              <a:avLst/>
            </a:prstGeom>
            <a:solidFill>
              <a:srgbClr val="FFFFFF">
                <a:alpha val="74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88454" y="3104293"/>
            <a:ext cx="4267581" cy="830961"/>
            <a:chOff x="588454" y="3104293"/>
            <a:chExt cx="4267581" cy="830961"/>
          </a:xfrm>
        </p:grpSpPr>
        <p:sp>
          <p:nvSpPr>
            <p:cNvPr id="8" name="Rectangle 8"/>
            <p:cNvSpPr/>
            <p:nvPr/>
          </p:nvSpPr>
          <p:spPr>
            <a:xfrm>
              <a:off x="588454" y="3104293"/>
              <a:ext cx="4267581" cy="83096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8454" y="3104293"/>
              <a:ext cx="4267581" cy="8309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800" b="1" dirty="0">
                  <a:solidFill>
                    <a:srgbClr val="581969"/>
                  </a:solidFill>
                  <a:latin typeface="微软雅黑"/>
                  <a:ea typeface="Microsoft YaHei"/>
                  <a:cs typeface="微软雅黑"/>
                </a:rPr>
                <a:t>研究问题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88454" y="4639532"/>
            <a:ext cx="4076128" cy="1023747"/>
            <a:chOff x="588454" y="4639532"/>
            <a:chExt cx="4076128" cy="1023747"/>
          </a:xfrm>
        </p:grpSpPr>
        <p:sp>
          <p:nvSpPr>
            <p:cNvPr id="11" name="Rectangle 11"/>
            <p:cNvSpPr/>
            <p:nvPr/>
          </p:nvSpPr>
          <p:spPr>
            <a:xfrm>
              <a:off x="588454" y="4639532"/>
              <a:ext cx="4076128" cy="10237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8454" y="4639532"/>
              <a:ext cx="4076128" cy="1023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从序列递推的训练瓶颈出发，说明论文为什么要重新设计序列建模。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8454" y="1456563"/>
            <a:ext cx="2203228" cy="1631252"/>
            <a:chOff x="588454" y="1456563"/>
            <a:chExt cx="2203228" cy="1631252"/>
          </a:xfrm>
        </p:grpSpPr>
        <p:sp>
          <p:nvSpPr>
            <p:cNvPr id="14" name="Rectangle 14"/>
            <p:cNvSpPr/>
            <p:nvPr/>
          </p:nvSpPr>
          <p:spPr>
            <a:xfrm>
              <a:off x="588454" y="1456563"/>
              <a:ext cx="2203228" cy="163125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8454" y="1456563"/>
              <a:ext cx="2203228" cy="16312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0000" b="1" dirty="0">
                  <a:solidFill>
                    <a:srgbClr val="581969"/>
                  </a:solidFill>
                  <a:latin typeface="微软雅黑"/>
                  <a:ea typeface="Microsoft YaHei"/>
                  <a:cs typeface="微软雅黑"/>
                </a:rPr>
                <a:t>01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45252" y="0"/>
            <a:ext cx="3061716" cy="1530858"/>
            <a:chOff x="5445252" y="0"/>
            <a:chExt cx="3061716" cy="1530858"/>
          </a:xfrm>
        </p:grpSpPr>
        <p:sp>
          <p:nvSpPr>
            <p:cNvPr id="17" name="Freeform 17"/>
            <p:cNvSpPr/>
            <p:nvPr/>
          </p:nvSpPr>
          <p:spPr>
            <a:xfrm>
              <a:off x="5445252" y="0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1969"/>
            </a:solidFill>
            <a:ln>
              <a:noFill/>
            </a:ln>
          </p:spPr>
        </p:sp>
      </p:grp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5445252" y="0"/>
            <a:ext cx="6746748" cy="6858000"/>
            <a:chOff x="5445252" y="0"/>
            <a:chExt cx="6746748" cy="6858000"/>
          </a:xfrm>
        </p:grpSpPr>
        <p:sp>
          <p:nvSpPr>
            <p:cNvPr id="20" name="Freeform 20"/>
            <p:cNvSpPr/>
            <p:nvPr/>
          </p:nvSpPr>
          <p:spPr>
            <a:xfrm>
              <a:off x="9033510" y="0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079742" y="0"/>
              <a:ext cx="3380994" cy="3325368"/>
            </a:xfrm>
            <a:custGeom>
              <a:avLst/>
              <a:gdLst/>
              <a:ahLst/>
              <a:cxnLst/>
              <a:rect l="l" t="t" r="r" b="b"/>
              <a:pathLst>
                <a:path w="3380994" h="3325368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668000" y="111252"/>
              <a:ext cx="1524000" cy="3047238"/>
            </a:xfrm>
            <a:custGeom>
              <a:avLst/>
              <a:gdLst/>
              <a:ahLst/>
              <a:cxnLst/>
              <a:rect l="l" t="t" r="r" b="b"/>
              <a:pathLst>
                <a:path w="1524000" h="3047238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874252" y="1738884"/>
              <a:ext cx="3317748" cy="3380232"/>
            </a:xfrm>
            <a:custGeom>
              <a:avLst/>
              <a:gdLst/>
              <a:ahLst/>
              <a:cxnLst/>
              <a:rect l="l" t="t" r="r" b="b"/>
              <a:pathLst>
                <a:path w="3317748" h="3380232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0668000" y="3699510"/>
              <a:ext cx="1524000" cy="3047238"/>
            </a:xfrm>
            <a:custGeom>
              <a:avLst/>
              <a:gdLst/>
              <a:ahLst/>
              <a:cxnLst/>
              <a:rect l="l" t="t" r="r" b="b"/>
              <a:pathLst>
                <a:path w="1524000" h="3047238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033510" y="5327142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079742" y="3532632"/>
              <a:ext cx="3380994" cy="3325368"/>
            </a:xfrm>
            <a:custGeom>
              <a:avLst/>
              <a:gdLst/>
              <a:ahLst/>
              <a:cxnLst/>
              <a:rect l="l" t="t" r="r" b="b"/>
              <a:pathLst>
                <a:path w="3380994" h="3325368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80913" y="2233327"/>
              <a:ext cx="2390299" cy="2390394"/>
            </a:xfrm>
            <a:custGeom>
              <a:avLst/>
              <a:gdLst/>
              <a:ahLst/>
              <a:cxnLst/>
              <a:rect l="l" t="t" r="r" b="b"/>
              <a:pathLst>
                <a:path w="2390299" h="2390394">
                  <a:moveTo>
                    <a:pt x="0" y="0"/>
                  </a:moveTo>
                  <a:lnTo>
                    <a:pt x="2390299" y="0"/>
                  </a:lnTo>
                  <a:lnTo>
                    <a:pt x="2390299" y="2390394"/>
                  </a:lnTo>
                  <a:lnTo>
                    <a:pt x="0" y="2390394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445252" y="5327142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707136" y="2221992"/>
            <a:ext cx="5620607" cy="4084796"/>
            <a:chOff x="707136" y="2221992"/>
            <a:chExt cx="5620607" cy="4084796"/>
          </a:xfrm>
        </p:grpSpPr>
        <p:sp>
          <p:nvSpPr>
            <p:cNvPr id="5" name="Rectangle 5"/>
            <p:cNvSpPr/>
            <p:nvPr/>
          </p:nvSpPr>
          <p:spPr>
            <a:xfrm flipH="1">
              <a:off x="707136" y="2221992"/>
              <a:ext cx="5620607" cy="4084796"/>
            </a:xfrm>
            <a:prstGeom prst="roundRect">
              <a:avLst>
                <a:gd name="adj" fmla="val 1856"/>
              </a:avLst>
            </a:prstGeom>
            <a:solidFill>
              <a:srgbClr val="FFFFFF">
                <a:alpha val="83000"/>
              </a:srgbClr>
            </a:solidFill>
            <a:ln>
              <a:noFill/>
            </a:ln>
            <a:effectLst>
              <a:outerShdw blurRad="253936" dist="63446" dir="2700000" algn="tl" rotWithShape="0">
                <a:srgbClr val="912C8D">
                  <a:alpha val="15000"/>
                </a:srgbClr>
              </a:outerShdw>
            </a:effectLst>
          </p:spPr>
        </p:sp>
      </p:grpSp>
      <p:grpSp>
        <p:nvGrpSpPr>
          <p:cNvPr id="9" name="Group 9"/>
          <p:cNvGrpSpPr/>
          <p:nvPr/>
        </p:nvGrpSpPr>
        <p:grpSpPr>
          <a:xfrm>
            <a:off x="707041" y="1274540"/>
            <a:ext cx="5739765" cy="625126"/>
            <a:chOff x="707041" y="1274540"/>
            <a:chExt cx="5739765" cy="625126"/>
          </a:xfrm>
        </p:grpSpPr>
        <p:sp>
          <p:nvSpPr>
            <p:cNvPr id="7" name="Rectangle 7"/>
            <p:cNvSpPr/>
            <p:nvPr/>
          </p:nvSpPr>
          <p:spPr>
            <a:xfrm>
              <a:off x="707041" y="1274540"/>
              <a:ext cx="5739765" cy="62512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7041" y="1274540"/>
              <a:ext cx="5739765" cy="6251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目标：提高并行性，缩短依赖路径，降低训练时间。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98536" y="2501837"/>
            <a:ext cx="3930015" cy="1523524"/>
            <a:chOff x="1998536" y="2501837"/>
            <a:chExt cx="3930015" cy="1523524"/>
          </a:xfrm>
        </p:grpSpPr>
        <p:sp>
          <p:nvSpPr>
            <p:cNvPr id="10" name="Rectangle 10"/>
            <p:cNvSpPr/>
            <p:nvPr/>
          </p:nvSpPr>
          <p:spPr>
            <a:xfrm>
              <a:off x="1998536" y="2501837"/>
              <a:ext cx="3930015" cy="152352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64572" y="2547561"/>
              <a:ext cx="128946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递推限制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72192" y="2928561"/>
              <a:ext cx="310316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RNN 按位置展开，训练难以并行。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8512" y="2632520"/>
            <a:ext cx="768096" cy="757333"/>
            <a:chOff x="1048512" y="2632520"/>
            <a:chExt cx="768096" cy="757333"/>
          </a:xfrm>
        </p:grpSpPr>
        <p:sp>
          <p:nvSpPr>
            <p:cNvPr id="14" name="Polygon 14"/>
            <p:cNvSpPr/>
            <p:nvPr/>
          </p:nvSpPr>
          <p:spPr>
            <a:xfrm>
              <a:off x="1048512" y="2632520"/>
              <a:ext cx="768096" cy="757333"/>
            </a:xfrm>
            <a:custGeom>
              <a:avLst/>
              <a:gdLst/>
              <a:ahLst/>
              <a:cxnLst/>
              <a:rect l="l" t="t" r="r" b="b"/>
              <a:pathLst>
                <a:path w="768096" h="757333">
                  <a:moveTo>
                    <a:pt x="384048" y="0"/>
                  </a:moveTo>
                  <a:lnTo>
                    <a:pt x="768096" y="378619"/>
                  </a:lnTo>
                  <a:lnTo>
                    <a:pt x="384048" y="757333"/>
                  </a:lnTo>
                  <a:lnTo>
                    <a:pt x="0" y="378619"/>
                  </a:ln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8512" y="2632520"/>
              <a:ext cx="768096" cy="757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98536" y="4285488"/>
            <a:ext cx="3994023" cy="1523524"/>
            <a:chOff x="1998536" y="4285488"/>
            <a:chExt cx="3994023" cy="1523524"/>
          </a:xfrm>
        </p:grpSpPr>
        <p:sp>
          <p:nvSpPr>
            <p:cNvPr id="17" name="Rectangle 17"/>
            <p:cNvSpPr/>
            <p:nvPr/>
          </p:nvSpPr>
          <p:spPr>
            <a:xfrm>
              <a:off x="1998536" y="4285488"/>
              <a:ext cx="3994023" cy="152352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64572" y="4331118"/>
              <a:ext cx="128946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论文解法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72192" y="4712118"/>
              <a:ext cx="230149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attention 建立全局依赖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48512" y="4361307"/>
            <a:ext cx="768096" cy="757333"/>
            <a:chOff x="1048512" y="4361307"/>
            <a:chExt cx="768096" cy="757333"/>
          </a:xfrm>
        </p:grpSpPr>
        <p:sp>
          <p:nvSpPr>
            <p:cNvPr id="21" name="Polygon 21"/>
            <p:cNvSpPr/>
            <p:nvPr/>
          </p:nvSpPr>
          <p:spPr>
            <a:xfrm>
              <a:off x="1048512" y="4361307"/>
              <a:ext cx="768096" cy="757333"/>
            </a:xfrm>
            <a:custGeom>
              <a:avLst/>
              <a:gdLst/>
              <a:ahLst/>
              <a:cxnLst/>
              <a:rect l="l" t="t" r="r" b="b"/>
              <a:pathLst>
                <a:path w="768096" h="757333">
                  <a:moveTo>
                    <a:pt x="384048" y="0"/>
                  </a:moveTo>
                  <a:lnTo>
                    <a:pt x="768096" y="378619"/>
                  </a:lnTo>
                  <a:lnTo>
                    <a:pt x="384048" y="757333"/>
                  </a:lnTo>
                  <a:lnTo>
                    <a:pt x="0" y="378619"/>
                  </a:ln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8512" y="4361307"/>
              <a:ext cx="768096" cy="757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65620" y="1207008"/>
            <a:ext cx="4383119" cy="5156549"/>
            <a:chOff x="6865620" y="1207008"/>
            <a:chExt cx="4383119" cy="5156549"/>
          </a:xfrm>
        </p:grpSpPr>
        <p:sp>
          <p:nvSpPr>
            <p:cNvPr id="24" name="Rectangle 24"/>
            <p:cNvSpPr/>
            <p:nvPr/>
          </p:nvSpPr>
          <p:spPr>
            <a:xfrm>
              <a:off x="6865620" y="1207008"/>
              <a:ext cx="4383119" cy="5156549"/>
            </a:xfrm>
            <a:prstGeom prst="roundRect">
              <a:avLst>
                <a:gd name="adj" fmla="val 652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4598" y="1207008"/>
              <a:ext cx="3525163" cy="5156549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6865620" y="5664327"/>
            <a:ext cx="4383119" cy="699230"/>
            <a:chOff x="6865620" y="5664327"/>
            <a:chExt cx="4383119" cy="699230"/>
          </a:xfrm>
        </p:grpSpPr>
        <p:sp>
          <p:nvSpPr>
            <p:cNvPr id="27" name="Rectangle 27"/>
            <p:cNvSpPr/>
            <p:nvPr/>
          </p:nvSpPr>
          <p:spPr>
            <a:xfrm>
              <a:off x="6865620" y="5664327"/>
              <a:ext cx="4383119" cy="699230"/>
            </a:xfrm>
            <a:prstGeom prst="rect">
              <a:avLst/>
            </a:prstGeom>
            <a:solidFill>
              <a:srgbClr val="912C8D">
                <a:alpha val="84000"/>
              </a:srgbClr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579900" y="5823871"/>
            <a:ext cx="2954655" cy="369380"/>
            <a:chOff x="7579900" y="5823871"/>
            <a:chExt cx="2954655" cy="369380"/>
          </a:xfrm>
        </p:grpSpPr>
        <p:sp>
          <p:nvSpPr>
            <p:cNvPr id="29" name="Rectangle 29"/>
            <p:cNvSpPr/>
            <p:nvPr/>
          </p:nvSpPr>
          <p:spPr>
            <a:xfrm>
              <a:off x="7579900" y="5823871"/>
              <a:ext cx="2954655" cy="3693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79900" y="5823871"/>
              <a:ext cx="2954655" cy="369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Figure 1 | Transformer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33" name="Rectangle 33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问题：递推限制并行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4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020604" y="1282541"/>
            <a:ext cx="2655856" cy="987647"/>
            <a:chOff x="1020604" y="1282541"/>
            <a:chExt cx="2655856" cy="987647"/>
          </a:xfrm>
        </p:grpSpPr>
        <p:sp>
          <p:nvSpPr>
            <p:cNvPr id="3" name="Rectangle 3"/>
            <p:cNvSpPr/>
            <p:nvPr/>
          </p:nvSpPr>
          <p:spPr>
            <a:xfrm>
              <a:off x="1020604" y="1282541"/>
              <a:ext cx="2655856" cy="987647"/>
            </a:xfrm>
            <a:prstGeom prst="roundRect">
              <a:avLst>
                <a:gd name="adj" fmla="val 2893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0940" y="1282541"/>
              <a:ext cx="675184" cy="987647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022509" y="1282541"/>
            <a:ext cx="2654046" cy="986790"/>
            <a:chOff x="1022509" y="1282541"/>
            <a:chExt cx="2654046" cy="986790"/>
          </a:xfrm>
        </p:grpSpPr>
        <p:sp>
          <p:nvSpPr>
            <p:cNvPr id="6" name="Freeform 6"/>
            <p:cNvSpPr/>
            <p:nvPr/>
          </p:nvSpPr>
          <p:spPr>
            <a:xfrm>
              <a:off x="1022509" y="1282541"/>
              <a:ext cx="2654046" cy="986790"/>
            </a:xfrm>
            <a:custGeom>
              <a:avLst/>
              <a:gdLst/>
              <a:ahLst/>
              <a:cxnLst/>
              <a:rect l="l" t="t" r="r" b="b"/>
              <a:pathLst>
                <a:path w="2654046" h="986790">
                  <a:moveTo>
                    <a:pt x="0" y="0"/>
                  </a:moveTo>
                  <a:lnTo>
                    <a:pt x="2654046" y="0"/>
                  </a:lnTo>
                  <a:lnTo>
                    <a:pt x="2654046" y="986790"/>
                  </a:lnTo>
                  <a:lnTo>
                    <a:pt x="0" y="986790"/>
                  </a:lnTo>
                  <a:close/>
                </a:path>
              </a:pathLst>
            </a:custGeom>
            <a:solidFill>
              <a:srgbClr val="912C8D">
                <a:alpha val="68000"/>
              </a:srgbClr>
            </a:solidFill>
            <a:ln>
              <a:noFill/>
            </a:ln>
            <a:effectLst>
              <a:outerShdw blurRad="50864" dist="38100" dir="5400000" algn="ctr" rotWithShape="0">
                <a:srgbClr val="7561D6">
                  <a:alpha val="30000"/>
                </a:srgbClr>
              </a:outerShdw>
            </a:effectLst>
          </p:spPr>
        </p:sp>
      </p:grpSp>
      <p:grpSp>
        <p:nvGrpSpPr>
          <p:cNvPr id="9" name="Group 9"/>
          <p:cNvGrpSpPr/>
          <p:nvPr/>
        </p:nvGrpSpPr>
        <p:grpSpPr>
          <a:xfrm>
            <a:off x="1029176" y="2631091"/>
            <a:ext cx="4882039" cy="3418808"/>
            <a:chOff x="1029176" y="2631091"/>
            <a:chExt cx="4882039" cy="3418808"/>
          </a:xfrm>
        </p:grpSpPr>
        <p:sp>
          <p:nvSpPr>
            <p:cNvPr id="8" name="Freeform 8"/>
            <p:cNvSpPr/>
            <p:nvPr/>
          </p:nvSpPr>
          <p:spPr>
            <a:xfrm>
              <a:off x="1029176" y="2631091"/>
              <a:ext cx="4882039" cy="3418808"/>
            </a:xfrm>
            <a:custGeom>
              <a:avLst/>
              <a:gdLst/>
              <a:ahLst/>
              <a:cxnLst/>
              <a:rect l="l" t="t" r="r" b="b"/>
              <a:pathLst>
                <a:path w="4882039" h="3418808">
                  <a:moveTo>
                    <a:pt x="0" y="0"/>
                  </a:moveTo>
                  <a:lnTo>
                    <a:pt x="4882039" y="0"/>
                  </a:lnTo>
                  <a:lnTo>
                    <a:pt x="4882039" y="3418808"/>
                  </a:lnTo>
                  <a:lnTo>
                    <a:pt x="0" y="34188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0864" dist="38100" dir="5400000" algn="ctr" rotWithShape="0">
                <a:srgbClr val="7561D6">
                  <a:alpha val="30000"/>
                </a:srgbClr>
              </a:outerShdw>
            </a:effectLst>
          </p:spPr>
        </p:sp>
      </p:grpSp>
      <p:grpSp>
        <p:nvGrpSpPr>
          <p:cNvPr id="11" name="Group 11"/>
          <p:cNvGrpSpPr/>
          <p:nvPr/>
        </p:nvGrpSpPr>
        <p:grpSpPr>
          <a:xfrm>
            <a:off x="3850862" y="1301306"/>
            <a:ext cx="7250716" cy="964692"/>
            <a:chOff x="3850862" y="1301306"/>
            <a:chExt cx="7250716" cy="964692"/>
          </a:xfrm>
        </p:grpSpPr>
        <p:sp>
          <p:nvSpPr>
            <p:cNvPr id="10" name="Freeform 10"/>
            <p:cNvSpPr/>
            <p:nvPr/>
          </p:nvSpPr>
          <p:spPr>
            <a:xfrm>
              <a:off x="3850862" y="1301306"/>
              <a:ext cx="7250716" cy="964692"/>
            </a:xfrm>
            <a:custGeom>
              <a:avLst/>
              <a:gdLst/>
              <a:ahLst/>
              <a:cxnLst/>
              <a:rect l="l" t="t" r="r" b="b"/>
              <a:pathLst>
                <a:path w="7250716" h="964692">
                  <a:moveTo>
                    <a:pt x="0" y="0"/>
                  </a:moveTo>
                  <a:lnTo>
                    <a:pt x="7250716" y="0"/>
                  </a:lnTo>
                  <a:lnTo>
                    <a:pt x="7250716" y="964692"/>
                  </a:lnTo>
                  <a:lnTo>
                    <a:pt x="0" y="964692"/>
                  </a:lnTo>
                  <a:close/>
                </a:path>
              </a:pathLst>
            </a:custGeom>
            <a:noFill/>
            <a:ln w="12697" cap="flat">
              <a:solidFill>
                <a:srgbClr val="912C8D"/>
              </a:solidFill>
              <a:miter lim="800000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613440" y="1473232"/>
            <a:ext cx="1470279" cy="646366"/>
            <a:chOff x="1613440" y="1473232"/>
            <a:chExt cx="1470279" cy="646366"/>
          </a:xfrm>
        </p:grpSpPr>
        <p:sp>
          <p:nvSpPr>
            <p:cNvPr id="12" name="Rectangle 12"/>
            <p:cNvSpPr/>
            <p:nvPr/>
          </p:nvSpPr>
          <p:spPr>
            <a:xfrm>
              <a:off x="1613440" y="1473232"/>
              <a:ext cx="1470279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13440" y="1473232"/>
              <a:ext cx="1470279" cy="646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N = 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50242" y="1473232"/>
            <a:ext cx="9525" cy="596741"/>
            <a:chOff x="5750242" y="1473232"/>
            <a:chExt cx="9525" cy="596741"/>
          </a:xfrm>
        </p:grpSpPr>
        <p:sp>
          <p:nvSpPr>
            <p:cNvPr id="15" name="Line 15"/>
            <p:cNvSpPr/>
            <p:nvPr/>
          </p:nvSpPr>
          <p:spPr>
            <a:xfrm>
              <a:off x="5750242" y="1473232"/>
              <a:ext cx="9525" cy="596741"/>
            </a:xfrm>
            <a:custGeom>
              <a:avLst/>
              <a:gdLst/>
              <a:ahLst/>
              <a:cxnLst/>
              <a:rect l="l" t="t" r="r" b="b"/>
              <a:pathLst>
                <a:path w="9525" h="596741">
                  <a:moveTo>
                    <a:pt x="0" y="0"/>
                  </a:moveTo>
                  <a:lnTo>
                    <a:pt x="0" y="596741"/>
                  </a:lnTo>
                </a:path>
              </a:pathLst>
            </a:custGeom>
            <a:noFill/>
            <a:ln w="12697">
              <a:solidFill>
                <a:srgbClr val="912C8D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199192" y="1546003"/>
            <a:ext cx="1297114" cy="461677"/>
            <a:chOff x="4199192" y="1546003"/>
            <a:chExt cx="1297114" cy="461677"/>
          </a:xfrm>
        </p:grpSpPr>
        <p:sp>
          <p:nvSpPr>
            <p:cNvPr id="17" name="Rectangle 17"/>
            <p:cNvSpPr/>
            <p:nvPr/>
          </p:nvSpPr>
          <p:spPr>
            <a:xfrm>
              <a:off x="4199192" y="1546003"/>
              <a:ext cx="1297114" cy="46167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99192" y="1546003"/>
              <a:ext cx="1297114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4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Encoder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9246" y="3086862"/>
            <a:ext cx="3776377" cy="567309"/>
            <a:chOff x="1589246" y="3086862"/>
            <a:chExt cx="3776377" cy="567309"/>
          </a:xfrm>
        </p:grpSpPr>
        <p:sp>
          <p:nvSpPr>
            <p:cNvPr id="20" name="Freeform 20"/>
            <p:cNvSpPr/>
            <p:nvPr/>
          </p:nvSpPr>
          <p:spPr>
            <a:xfrm>
              <a:off x="1589246" y="3086862"/>
              <a:ext cx="3776377" cy="567309"/>
            </a:xfrm>
            <a:custGeom>
              <a:avLst/>
              <a:gdLst/>
              <a:ahLst/>
              <a:cxnLst/>
              <a:rect l="l" t="t" r="r" b="b"/>
              <a:pathLst>
                <a:path w="3776377" h="567309">
                  <a:moveTo>
                    <a:pt x="0" y="0"/>
                  </a:moveTo>
                  <a:lnTo>
                    <a:pt x="3776377" y="0"/>
                  </a:lnTo>
                  <a:lnTo>
                    <a:pt x="3776377" y="567309"/>
                  </a:lnTo>
                  <a:lnTo>
                    <a:pt x="0" y="567309"/>
                  </a:lnTo>
                  <a:close/>
                </a:path>
              </a:pathLst>
            </a:custGeom>
            <a:noFill/>
            <a:ln w="12697" cap="flat">
              <a:solidFill>
                <a:srgbClr val="E6E6E6"/>
              </a:solidFill>
              <a:custDash>
                <a:ds d="225056" sp="225056"/>
              </a:custDash>
              <a:miter lim="800000"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634395" y="3164776"/>
            <a:ext cx="3674078" cy="400145"/>
            <a:chOff x="1634395" y="3164776"/>
            <a:chExt cx="3674078" cy="400145"/>
          </a:xfrm>
        </p:grpSpPr>
        <p:sp>
          <p:nvSpPr>
            <p:cNvPr id="22" name="Rectangle 22"/>
            <p:cNvSpPr/>
            <p:nvPr/>
          </p:nvSpPr>
          <p:spPr>
            <a:xfrm>
              <a:off x="1634395" y="3164776"/>
              <a:ext cx="3674078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34395" y="3164776"/>
              <a:ext cx="3674078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编码器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72457" y="5335810"/>
            <a:ext cx="1239107" cy="389763"/>
            <a:chOff x="1372457" y="5335810"/>
            <a:chExt cx="1239107" cy="389763"/>
          </a:xfrm>
        </p:grpSpPr>
        <p:sp>
          <p:nvSpPr>
            <p:cNvPr id="25" name="Rectangle 25"/>
            <p:cNvSpPr/>
            <p:nvPr/>
          </p:nvSpPr>
          <p:spPr>
            <a:xfrm>
              <a:off x="1372457" y="5335810"/>
              <a:ext cx="1239107" cy="389763"/>
            </a:xfrm>
            <a:prstGeom prst="roundRect">
              <a:avLst>
                <a:gd name="adj" fmla="val 50000"/>
              </a:avLst>
            </a:prstGeom>
            <a:solidFill>
              <a:srgbClr val="912C8D"/>
            </a:solidFill>
            <a:ln>
              <a:noFill/>
            </a:ln>
            <a:effectLst>
              <a:outerShdw blurRad="50864" dist="38100" dir="5400000" algn="ctr" rotWithShape="0">
                <a:srgbClr val="7561D6">
                  <a:alpha val="300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1372457" y="5335810"/>
              <a:ext cx="1239107" cy="3897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d=512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95988" y="1546003"/>
            <a:ext cx="1297114" cy="461677"/>
            <a:chOff x="5995988" y="1546003"/>
            <a:chExt cx="1297114" cy="461677"/>
          </a:xfrm>
        </p:grpSpPr>
        <p:sp>
          <p:nvSpPr>
            <p:cNvPr id="28" name="Rectangle 28"/>
            <p:cNvSpPr/>
            <p:nvPr/>
          </p:nvSpPr>
          <p:spPr>
            <a:xfrm>
              <a:off x="5995988" y="1546003"/>
              <a:ext cx="1297114" cy="46167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95988" y="1546003"/>
              <a:ext cx="1297114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4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Decoder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856833" y="5335810"/>
            <a:ext cx="1239107" cy="389763"/>
            <a:chOff x="2856833" y="5335810"/>
            <a:chExt cx="1239107" cy="389763"/>
          </a:xfrm>
        </p:grpSpPr>
        <p:sp>
          <p:nvSpPr>
            <p:cNvPr id="31" name="Rectangle 31"/>
            <p:cNvSpPr/>
            <p:nvPr/>
          </p:nvSpPr>
          <p:spPr>
            <a:xfrm>
              <a:off x="2856833" y="5335810"/>
              <a:ext cx="1239107" cy="389763"/>
            </a:xfrm>
            <a:prstGeom prst="roundRect">
              <a:avLst>
                <a:gd name="adj" fmla="val 50000"/>
              </a:avLst>
            </a:prstGeom>
            <a:solidFill>
              <a:srgbClr val="912C8D"/>
            </a:solidFill>
            <a:ln>
              <a:noFill/>
            </a:ln>
            <a:effectLst>
              <a:outerShdw blurRad="50864" dist="38100" dir="5400000" algn="ctr" rotWithShape="0">
                <a:srgbClr val="7561D6">
                  <a:alpha val="300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2856833" y="5335810"/>
              <a:ext cx="1239107" cy="3897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dff=2048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20604" y="2557177"/>
            <a:ext cx="4890611" cy="252031"/>
            <a:chOff x="1020604" y="2557177"/>
            <a:chExt cx="4890611" cy="252031"/>
          </a:xfrm>
        </p:grpSpPr>
        <p:sp>
          <p:nvSpPr>
            <p:cNvPr id="34" name="Freeform 34"/>
            <p:cNvSpPr/>
            <p:nvPr/>
          </p:nvSpPr>
          <p:spPr>
            <a:xfrm>
              <a:off x="1020604" y="2557177"/>
              <a:ext cx="4890611" cy="252031"/>
            </a:xfrm>
            <a:custGeom>
              <a:avLst/>
              <a:gdLst/>
              <a:ahLst/>
              <a:cxnLst/>
              <a:rect l="l" t="t" r="r" b="b"/>
              <a:pathLst>
                <a:path w="4890611" h="252031">
                  <a:moveTo>
                    <a:pt x="0" y="0"/>
                  </a:moveTo>
                  <a:lnTo>
                    <a:pt x="4890611" y="0"/>
                  </a:lnTo>
                  <a:lnTo>
                    <a:pt x="4890611" y="252031"/>
                  </a:lnTo>
                  <a:lnTo>
                    <a:pt x="0" y="252031"/>
                  </a:ln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30000"/>
                </a:srgbClr>
              </a:outerShdw>
            </a:effectLst>
          </p:spPr>
        </p:sp>
      </p:grpSp>
      <p:grpSp>
        <p:nvGrpSpPr>
          <p:cNvPr id="38" name="Group 38"/>
          <p:cNvGrpSpPr/>
          <p:nvPr/>
        </p:nvGrpSpPr>
        <p:grpSpPr>
          <a:xfrm>
            <a:off x="7792784" y="1546003"/>
            <a:ext cx="1297114" cy="461677"/>
            <a:chOff x="7792784" y="1546003"/>
            <a:chExt cx="1297114" cy="461677"/>
          </a:xfrm>
        </p:grpSpPr>
        <p:sp>
          <p:nvSpPr>
            <p:cNvPr id="36" name="Rectangle 36"/>
            <p:cNvSpPr/>
            <p:nvPr/>
          </p:nvSpPr>
          <p:spPr>
            <a:xfrm>
              <a:off x="7792784" y="1546003"/>
              <a:ext cx="1297114" cy="46167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92784" y="1546003"/>
              <a:ext cx="1297114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4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MHA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89580" y="1546003"/>
            <a:ext cx="1297114" cy="461677"/>
            <a:chOff x="9589580" y="1546003"/>
            <a:chExt cx="1297114" cy="461677"/>
          </a:xfrm>
        </p:grpSpPr>
        <p:sp>
          <p:nvSpPr>
            <p:cNvPr id="39" name="Rectangle 39"/>
            <p:cNvSpPr/>
            <p:nvPr/>
          </p:nvSpPr>
          <p:spPr>
            <a:xfrm>
              <a:off x="9589580" y="1546003"/>
              <a:ext cx="1297114" cy="46167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589580" y="1546003"/>
              <a:ext cx="1297114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4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PE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59992" y="1473232"/>
            <a:ext cx="9525" cy="596741"/>
            <a:chOff x="7559992" y="1473232"/>
            <a:chExt cx="9525" cy="596741"/>
          </a:xfrm>
        </p:grpSpPr>
        <p:sp>
          <p:nvSpPr>
            <p:cNvPr id="42" name="Line 42"/>
            <p:cNvSpPr/>
            <p:nvPr/>
          </p:nvSpPr>
          <p:spPr>
            <a:xfrm>
              <a:off x="7559992" y="1473232"/>
              <a:ext cx="9525" cy="596741"/>
            </a:xfrm>
            <a:custGeom>
              <a:avLst/>
              <a:gdLst/>
              <a:ahLst/>
              <a:cxnLst/>
              <a:rect l="l" t="t" r="r" b="b"/>
              <a:pathLst>
                <a:path w="9525" h="596741">
                  <a:moveTo>
                    <a:pt x="0" y="0"/>
                  </a:moveTo>
                  <a:lnTo>
                    <a:pt x="0" y="596741"/>
                  </a:lnTo>
                </a:path>
              </a:pathLst>
            </a:custGeom>
            <a:noFill/>
            <a:ln w="12697">
              <a:solidFill>
                <a:srgbClr val="912C8D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375838" y="1473232"/>
            <a:ext cx="9525" cy="596741"/>
            <a:chOff x="9375838" y="1473232"/>
            <a:chExt cx="9525" cy="596741"/>
          </a:xfrm>
        </p:grpSpPr>
        <p:sp>
          <p:nvSpPr>
            <p:cNvPr id="44" name="Line 44"/>
            <p:cNvSpPr/>
            <p:nvPr/>
          </p:nvSpPr>
          <p:spPr>
            <a:xfrm>
              <a:off x="9375838" y="1473232"/>
              <a:ext cx="9525" cy="596741"/>
            </a:xfrm>
            <a:custGeom>
              <a:avLst/>
              <a:gdLst/>
              <a:ahLst/>
              <a:cxnLst/>
              <a:rect l="l" t="t" r="r" b="b"/>
              <a:pathLst>
                <a:path w="9525" h="596741">
                  <a:moveTo>
                    <a:pt x="0" y="0"/>
                  </a:moveTo>
                  <a:lnTo>
                    <a:pt x="0" y="596741"/>
                  </a:lnTo>
                </a:path>
              </a:pathLst>
            </a:custGeom>
            <a:noFill/>
            <a:ln w="12697">
              <a:solidFill>
                <a:srgbClr val="912C8D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363498" y="5335810"/>
            <a:ext cx="1239107" cy="389763"/>
            <a:chOff x="4363498" y="5335810"/>
            <a:chExt cx="1239107" cy="389763"/>
          </a:xfrm>
        </p:grpSpPr>
        <p:sp>
          <p:nvSpPr>
            <p:cNvPr id="46" name="Rectangle 46"/>
            <p:cNvSpPr/>
            <p:nvPr/>
          </p:nvSpPr>
          <p:spPr>
            <a:xfrm>
              <a:off x="4363498" y="5335810"/>
              <a:ext cx="1239107" cy="389763"/>
            </a:xfrm>
            <a:prstGeom prst="roundRect">
              <a:avLst>
                <a:gd name="adj" fmla="val 50000"/>
              </a:avLst>
            </a:prstGeom>
            <a:solidFill>
              <a:srgbClr val="912C8D"/>
            </a:solidFill>
            <a:ln>
              <a:noFill/>
            </a:ln>
            <a:effectLst>
              <a:outerShdw blurRad="50864" dist="38100" dir="5400000" algn="ctr" rotWithShape="0">
                <a:srgbClr val="7561D6">
                  <a:alpha val="30000"/>
                </a:srgbClr>
              </a:outerShdw>
            </a:effectLst>
          </p:spPr>
        </p:sp>
        <p:sp>
          <p:nvSpPr>
            <p:cNvPr id="47" name="TextBox 47"/>
            <p:cNvSpPr txBox="1"/>
            <p:nvPr/>
          </p:nvSpPr>
          <p:spPr>
            <a:xfrm>
              <a:off x="4363498" y="5335810"/>
              <a:ext cx="1239107" cy="3897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6 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416368" y="3766185"/>
            <a:ext cx="4125754" cy="1385030"/>
            <a:chOff x="1416368" y="3766185"/>
            <a:chExt cx="4125754" cy="1385030"/>
          </a:xfrm>
        </p:grpSpPr>
        <p:sp>
          <p:nvSpPr>
            <p:cNvPr id="49" name="Rectangle 49"/>
            <p:cNvSpPr/>
            <p:nvPr/>
          </p:nvSpPr>
          <p:spPr>
            <a:xfrm>
              <a:off x="1416368" y="3766185"/>
              <a:ext cx="4034314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755458" y="3766185"/>
              <a:ext cx="3786664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self-attention + FFN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55458" y="4299585"/>
              <a:ext cx="3786664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残差连接 + LayerNorm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317367" y="2773299"/>
            <a:ext cx="318421" cy="214789"/>
            <a:chOff x="3317367" y="2773299"/>
            <a:chExt cx="318421" cy="214789"/>
          </a:xfrm>
        </p:grpSpPr>
        <p:sp>
          <p:nvSpPr>
            <p:cNvPr id="53" name="Polygon 53"/>
            <p:cNvSpPr/>
            <p:nvPr/>
          </p:nvSpPr>
          <p:spPr>
            <a:xfrm>
              <a:off x="3317367" y="2773299"/>
              <a:ext cx="318421" cy="214789"/>
            </a:xfrm>
            <a:custGeom>
              <a:avLst/>
              <a:gdLst/>
              <a:ahLst/>
              <a:cxnLst/>
              <a:rect l="l" t="t" r="r" b="b"/>
              <a:pathLst>
                <a:path w="318421" h="214789">
                  <a:moveTo>
                    <a:pt x="159258" y="214789"/>
                  </a:moveTo>
                  <a:lnTo>
                    <a:pt x="3184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6225445" y="2631091"/>
            <a:ext cx="4881944" cy="3418808"/>
            <a:chOff x="6225445" y="2631091"/>
            <a:chExt cx="4881944" cy="3418808"/>
          </a:xfrm>
        </p:grpSpPr>
        <p:sp>
          <p:nvSpPr>
            <p:cNvPr id="55" name="Freeform 55"/>
            <p:cNvSpPr/>
            <p:nvPr/>
          </p:nvSpPr>
          <p:spPr>
            <a:xfrm>
              <a:off x="6225445" y="2631091"/>
              <a:ext cx="4881944" cy="3418808"/>
            </a:xfrm>
            <a:custGeom>
              <a:avLst/>
              <a:gdLst/>
              <a:ahLst/>
              <a:cxnLst/>
              <a:rect l="l" t="t" r="r" b="b"/>
              <a:pathLst>
                <a:path w="4881944" h="3418808">
                  <a:moveTo>
                    <a:pt x="0" y="0"/>
                  </a:moveTo>
                  <a:lnTo>
                    <a:pt x="4881944" y="0"/>
                  </a:lnTo>
                  <a:lnTo>
                    <a:pt x="4881944" y="3418808"/>
                  </a:lnTo>
                  <a:lnTo>
                    <a:pt x="0" y="34188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0864" dist="38100" dir="5400000" algn="ctr" rotWithShape="0">
                <a:srgbClr val="68A4C6">
                  <a:alpha val="30000"/>
                </a:srgbClr>
              </a:outerShdw>
            </a:effectLst>
          </p:spPr>
        </p:sp>
      </p:grpSp>
      <p:grpSp>
        <p:nvGrpSpPr>
          <p:cNvPr id="58" name="Group 58"/>
          <p:cNvGrpSpPr/>
          <p:nvPr/>
        </p:nvGrpSpPr>
        <p:grpSpPr>
          <a:xfrm>
            <a:off x="6785515" y="3086862"/>
            <a:ext cx="3776377" cy="567309"/>
            <a:chOff x="6785515" y="3086862"/>
            <a:chExt cx="3776377" cy="567309"/>
          </a:xfrm>
        </p:grpSpPr>
        <p:sp>
          <p:nvSpPr>
            <p:cNvPr id="57" name="Freeform 57"/>
            <p:cNvSpPr/>
            <p:nvPr/>
          </p:nvSpPr>
          <p:spPr>
            <a:xfrm>
              <a:off x="6785515" y="3086862"/>
              <a:ext cx="3776377" cy="567309"/>
            </a:xfrm>
            <a:custGeom>
              <a:avLst/>
              <a:gdLst/>
              <a:ahLst/>
              <a:cxnLst/>
              <a:rect l="l" t="t" r="r" b="b"/>
              <a:pathLst>
                <a:path w="3776377" h="567309">
                  <a:moveTo>
                    <a:pt x="0" y="0"/>
                  </a:moveTo>
                  <a:lnTo>
                    <a:pt x="3776377" y="0"/>
                  </a:lnTo>
                  <a:lnTo>
                    <a:pt x="3776377" y="567309"/>
                  </a:lnTo>
                  <a:lnTo>
                    <a:pt x="0" y="567309"/>
                  </a:lnTo>
                  <a:close/>
                </a:path>
              </a:pathLst>
            </a:custGeom>
            <a:noFill/>
            <a:ln w="12697" cap="flat">
              <a:solidFill>
                <a:srgbClr val="E6E6E6"/>
              </a:solidFill>
              <a:custDash>
                <a:ds d="225056" sp="225056"/>
              </a:custDash>
              <a:miter lim="800000"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830663" y="3164776"/>
            <a:ext cx="3674078" cy="400145"/>
            <a:chOff x="6830663" y="3164776"/>
            <a:chExt cx="3674078" cy="400145"/>
          </a:xfrm>
        </p:grpSpPr>
        <p:sp>
          <p:nvSpPr>
            <p:cNvPr id="59" name="Rectangle 59"/>
            <p:cNvSpPr/>
            <p:nvPr/>
          </p:nvSpPr>
          <p:spPr>
            <a:xfrm>
              <a:off x="6830663" y="3164776"/>
              <a:ext cx="3674078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30663" y="3164776"/>
              <a:ext cx="3674078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解码器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568726" y="5335810"/>
            <a:ext cx="1239107" cy="389763"/>
            <a:chOff x="6568726" y="5335810"/>
            <a:chExt cx="1239107" cy="389763"/>
          </a:xfrm>
        </p:grpSpPr>
        <p:sp>
          <p:nvSpPr>
            <p:cNvPr id="62" name="Rectangle 62"/>
            <p:cNvSpPr/>
            <p:nvPr/>
          </p:nvSpPr>
          <p:spPr>
            <a:xfrm>
              <a:off x="6568726" y="5335810"/>
              <a:ext cx="1239107" cy="389763"/>
            </a:xfrm>
            <a:prstGeom prst="roundRect">
              <a:avLst>
                <a:gd name="adj" fmla="val 50000"/>
              </a:avLst>
            </a:prstGeom>
            <a:solidFill>
              <a:srgbClr val="68A4C6"/>
            </a:solidFill>
            <a:ln>
              <a:noFill/>
            </a:ln>
            <a:effectLst>
              <a:outerShdw blurRad="50864" dist="38100" dir="5400000" algn="ctr" rotWithShape="0">
                <a:srgbClr val="7561D6">
                  <a:alpha val="30000"/>
                </a:srgbClr>
              </a:outerShdw>
            </a:effectLst>
          </p:spPr>
        </p:sp>
        <p:sp>
          <p:nvSpPr>
            <p:cNvPr id="63" name="TextBox 63"/>
            <p:cNvSpPr txBox="1"/>
            <p:nvPr/>
          </p:nvSpPr>
          <p:spPr>
            <a:xfrm>
              <a:off x="6568726" y="5335810"/>
              <a:ext cx="1239107" cy="3897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mask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053006" y="5335810"/>
            <a:ext cx="1239107" cy="389763"/>
            <a:chOff x="8053006" y="5335810"/>
            <a:chExt cx="1239107" cy="389763"/>
          </a:xfrm>
        </p:grpSpPr>
        <p:sp>
          <p:nvSpPr>
            <p:cNvPr id="65" name="Rectangle 65"/>
            <p:cNvSpPr/>
            <p:nvPr/>
          </p:nvSpPr>
          <p:spPr>
            <a:xfrm>
              <a:off x="8053006" y="5335810"/>
              <a:ext cx="1239107" cy="389763"/>
            </a:xfrm>
            <a:prstGeom prst="roundRect">
              <a:avLst>
                <a:gd name="adj" fmla="val 50000"/>
              </a:avLst>
            </a:prstGeom>
            <a:solidFill>
              <a:srgbClr val="68A4C6"/>
            </a:solidFill>
            <a:ln>
              <a:noFill/>
            </a:ln>
            <a:effectLst>
              <a:outerShdw blurRad="50864" dist="38100" dir="5400000" algn="ctr" rotWithShape="0">
                <a:srgbClr val="7561D6">
                  <a:alpha val="30000"/>
                </a:srgbClr>
              </a:outerShdw>
            </a:effectLst>
          </p:spPr>
        </p:sp>
        <p:sp>
          <p:nvSpPr>
            <p:cNvPr id="66" name="TextBox 66"/>
            <p:cNvSpPr txBox="1"/>
            <p:nvPr/>
          </p:nvSpPr>
          <p:spPr>
            <a:xfrm>
              <a:off x="8053006" y="5335810"/>
              <a:ext cx="1239107" cy="3897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beam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216872" y="2557177"/>
            <a:ext cx="4890516" cy="252031"/>
            <a:chOff x="6216872" y="2557177"/>
            <a:chExt cx="4890516" cy="252031"/>
          </a:xfrm>
        </p:grpSpPr>
        <p:sp>
          <p:nvSpPr>
            <p:cNvPr id="68" name="Freeform 68"/>
            <p:cNvSpPr/>
            <p:nvPr/>
          </p:nvSpPr>
          <p:spPr>
            <a:xfrm>
              <a:off x="6216872" y="2557177"/>
              <a:ext cx="4890516" cy="252031"/>
            </a:xfrm>
            <a:custGeom>
              <a:avLst/>
              <a:gdLst/>
              <a:ahLst/>
              <a:cxnLst/>
              <a:rect l="l" t="t" r="r" b="b"/>
              <a:pathLst>
                <a:path w="4890516" h="252031">
                  <a:moveTo>
                    <a:pt x="0" y="0"/>
                  </a:moveTo>
                  <a:lnTo>
                    <a:pt x="4890516" y="0"/>
                  </a:lnTo>
                  <a:lnTo>
                    <a:pt x="4890516" y="252031"/>
                  </a:lnTo>
                  <a:lnTo>
                    <a:pt x="0" y="252031"/>
                  </a:ln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30000"/>
                </a:srgbClr>
              </a:outerShdw>
            </a:effectLst>
          </p:spPr>
        </p:sp>
      </p:grpSp>
      <p:grpSp>
        <p:nvGrpSpPr>
          <p:cNvPr id="72" name="Group 72"/>
          <p:cNvGrpSpPr/>
          <p:nvPr/>
        </p:nvGrpSpPr>
        <p:grpSpPr>
          <a:xfrm>
            <a:off x="9559766" y="5335810"/>
            <a:ext cx="1239107" cy="389763"/>
            <a:chOff x="9559766" y="5335810"/>
            <a:chExt cx="1239107" cy="389763"/>
          </a:xfrm>
        </p:grpSpPr>
        <p:sp>
          <p:nvSpPr>
            <p:cNvPr id="70" name="Rectangle 70"/>
            <p:cNvSpPr/>
            <p:nvPr/>
          </p:nvSpPr>
          <p:spPr>
            <a:xfrm>
              <a:off x="9559766" y="5335810"/>
              <a:ext cx="1239107" cy="389763"/>
            </a:xfrm>
            <a:prstGeom prst="roundRect">
              <a:avLst>
                <a:gd name="adj" fmla="val 50000"/>
              </a:avLst>
            </a:prstGeom>
            <a:solidFill>
              <a:srgbClr val="68A4C6"/>
            </a:solidFill>
            <a:ln>
              <a:noFill/>
            </a:ln>
            <a:effectLst>
              <a:outerShdw blurRad="50864" dist="38100" dir="5400000" algn="ctr" rotWithShape="0">
                <a:srgbClr val="7561D6">
                  <a:alpha val="30000"/>
                </a:srgbClr>
              </a:outerShdw>
            </a:effectLst>
          </p:spPr>
        </p:sp>
        <p:sp>
          <p:nvSpPr>
            <p:cNvPr id="71" name="TextBox 71"/>
            <p:cNvSpPr txBox="1"/>
            <p:nvPr/>
          </p:nvSpPr>
          <p:spPr>
            <a:xfrm>
              <a:off x="9559766" y="5335810"/>
              <a:ext cx="1239107" cy="3897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Sec.3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604064" y="3766185"/>
            <a:ext cx="4134326" cy="1385030"/>
            <a:chOff x="6604064" y="3766185"/>
            <a:chExt cx="4134326" cy="1385030"/>
          </a:xfrm>
        </p:grpSpPr>
        <p:sp>
          <p:nvSpPr>
            <p:cNvPr id="73" name="Rectangle 73"/>
            <p:cNvSpPr/>
            <p:nvPr/>
          </p:nvSpPr>
          <p:spPr>
            <a:xfrm>
              <a:off x="6604064" y="3766185"/>
              <a:ext cx="4042886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43154" y="3766185"/>
              <a:ext cx="3795236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masked self-attention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43154" y="4299585"/>
              <a:ext cx="3795236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encoder-decoder attention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513636" y="2773299"/>
            <a:ext cx="318421" cy="214789"/>
            <a:chOff x="8513636" y="2773299"/>
            <a:chExt cx="318421" cy="214789"/>
          </a:xfrm>
        </p:grpSpPr>
        <p:sp>
          <p:nvSpPr>
            <p:cNvPr id="77" name="Polygon 77"/>
            <p:cNvSpPr/>
            <p:nvPr/>
          </p:nvSpPr>
          <p:spPr>
            <a:xfrm>
              <a:off x="8513636" y="2773299"/>
              <a:ext cx="318421" cy="214789"/>
            </a:xfrm>
            <a:custGeom>
              <a:avLst/>
              <a:gdLst/>
              <a:ahLst/>
              <a:cxnLst/>
              <a:rect l="l" t="t" r="r" b="b"/>
              <a:pathLst>
                <a:path w="318421" h="214789">
                  <a:moveTo>
                    <a:pt x="159258" y="214789"/>
                  </a:moveTo>
                  <a:lnTo>
                    <a:pt x="3184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1483804" y="3847243"/>
            <a:ext cx="149733" cy="149733"/>
            <a:chOff x="1483804" y="3847243"/>
            <a:chExt cx="149733" cy="149733"/>
          </a:xfrm>
        </p:grpSpPr>
        <p:sp>
          <p:nvSpPr>
            <p:cNvPr id="79" name="Ellipse 79"/>
            <p:cNvSpPr/>
            <p:nvPr/>
          </p:nvSpPr>
          <p:spPr>
            <a:xfrm>
              <a:off x="1483804" y="3847243"/>
              <a:ext cx="149733" cy="14973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517237" y="3882009"/>
              <a:ext cx="84201" cy="80200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1483804" y="4380643"/>
            <a:ext cx="149733" cy="149733"/>
            <a:chOff x="1483804" y="4380643"/>
            <a:chExt cx="149733" cy="149733"/>
          </a:xfrm>
        </p:grpSpPr>
        <p:sp>
          <p:nvSpPr>
            <p:cNvPr id="82" name="Ellipse 82"/>
            <p:cNvSpPr/>
            <p:nvPr/>
          </p:nvSpPr>
          <p:spPr>
            <a:xfrm>
              <a:off x="1483804" y="4380643"/>
              <a:ext cx="149733" cy="14973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517237" y="4415409"/>
              <a:ext cx="84201" cy="80200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6655975" y="3847243"/>
            <a:ext cx="149733" cy="149733"/>
            <a:chOff x="6655975" y="3847243"/>
            <a:chExt cx="149733" cy="149733"/>
          </a:xfrm>
        </p:grpSpPr>
        <p:sp>
          <p:nvSpPr>
            <p:cNvPr id="85" name="Ellipse 85"/>
            <p:cNvSpPr/>
            <p:nvPr/>
          </p:nvSpPr>
          <p:spPr>
            <a:xfrm>
              <a:off x="6655975" y="3847243"/>
              <a:ext cx="149733" cy="149733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6689408" y="3882009"/>
            <a:ext cx="84201" cy="80200"/>
            <a:chOff x="6689408" y="3882009"/>
            <a:chExt cx="84201" cy="80200"/>
          </a:xfrm>
        </p:grpSpPr>
        <p:sp>
          <p:nvSpPr>
            <p:cNvPr id="87" name="Ellipse 87"/>
            <p:cNvSpPr/>
            <p:nvPr/>
          </p:nvSpPr>
          <p:spPr>
            <a:xfrm>
              <a:off x="6689408" y="3882009"/>
              <a:ext cx="84201" cy="80200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6655975" y="4380643"/>
            <a:ext cx="149733" cy="149733"/>
            <a:chOff x="6655975" y="4380643"/>
            <a:chExt cx="149733" cy="149733"/>
          </a:xfrm>
        </p:grpSpPr>
        <p:sp>
          <p:nvSpPr>
            <p:cNvPr id="89" name="Ellipse 89"/>
            <p:cNvSpPr/>
            <p:nvPr/>
          </p:nvSpPr>
          <p:spPr>
            <a:xfrm>
              <a:off x="6655975" y="4380643"/>
              <a:ext cx="149733" cy="149733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6689408" y="4415409"/>
              <a:ext cx="84201" cy="80200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</p:sp>
      </p:grpSp>
      <p:sp>
        <p:nvSpPr>
          <p:cNvPr id="92" name="Rectangle 9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5" name="Group 95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93" name="Rectangle 93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结构：编码器与解码器</a:t>
              </a:r>
            </a:p>
          </p:txBody>
        </p:sp>
      </p:grpSp>
      <p:sp>
        <p:nvSpPr>
          <p:cNvPr id="96" name="Line 96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97" name="Image 97"/>
          <p:cNvPicPr>
            <a:picLocks noChangeAspect="1"/>
          </p:cNvPicPr>
          <p:nvPr/>
        </p:nvPicPr>
        <p:blipFill>
          <a:blip r:embed="rId4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0" y="0"/>
            <a:ext cx="12192000" cy="6892671"/>
            <a:chOff x="0" y="0"/>
            <a:chExt cx="12192000" cy="6892671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rcRect l="0" t="21851" r="0" b="2656"/>
            <a:stretch>
              <a:fillRect/>
            </a:stretch>
          </p:blipFill>
          <p:spPr>
            <a:xfrm>
              <a:off x="0" y="0"/>
              <a:ext cx="12192000" cy="6892671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0" y="0"/>
              <a:ext cx="12192000" cy="6892671"/>
            </a:xfrm>
            <a:prstGeom prst="rect">
              <a:avLst/>
            </a:prstGeom>
            <a:solidFill>
              <a:srgbClr val="FFFFFF">
                <a:alpha val="74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88454" y="3104293"/>
            <a:ext cx="4267581" cy="830961"/>
            <a:chOff x="588454" y="3104293"/>
            <a:chExt cx="4267581" cy="830961"/>
          </a:xfrm>
        </p:grpSpPr>
        <p:sp>
          <p:nvSpPr>
            <p:cNvPr id="8" name="Rectangle 8"/>
            <p:cNvSpPr/>
            <p:nvPr/>
          </p:nvSpPr>
          <p:spPr>
            <a:xfrm>
              <a:off x="588454" y="3104293"/>
              <a:ext cx="4267581" cy="83096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8454" y="3104293"/>
              <a:ext cx="4267581" cy="8309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800" b="1" dirty="0">
                  <a:solidFill>
                    <a:srgbClr val="581969"/>
                  </a:solidFill>
                  <a:latin typeface="微软雅黑"/>
                  <a:ea typeface="Microsoft YaHei"/>
                  <a:cs typeface="微软雅黑"/>
                </a:rPr>
                <a:t>关键机制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88454" y="4639532"/>
            <a:ext cx="4076128" cy="1023747"/>
            <a:chOff x="588454" y="4639532"/>
            <a:chExt cx="4076128" cy="1023747"/>
          </a:xfrm>
        </p:grpSpPr>
        <p:sp>
          <p:nvSpPr>
            <p:cNvPr id="11" name="Rectangle 11"/>
            <p:cNvSpPr/>
            <p:nvPr/>
          </p:nvSpPr>
          <p:spPr>
            <a:xfrm>
              <a:off x="588454" y="4639532"/>
              <a:ext cx="4076128" cy="10237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8454" y="4639532"/>
              <a:ext cx="4076128" cy="1023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进入 scaled dot-product attention、多头注意力和位置编码。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8454" y="1456563"/>
            <a:ext cx="2203228" cy="1631252"/>
            <a:chOff x="588454" y="1456563"/>
            <a:chExt cx="2203228" cy="1631252"/>
          </a:xfrm>
        </p:grpSpPr>
        <p:sp>
          <p:nvSpPr>
            <p:cNvPr id="14" name="Rectangle 14"/>
            <p:cNvSpPr/>
            <p:nvPr/>
          </p:nvSpPr>
          <p:spPr>
            <a:xfrm>
              <a:off x="588454" y="1456563"/>
              <a:ext cx="2203228" cy="163125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8454" y="1456563"/>
              <a:ext cx="2203228" cy="16312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0000" b="1" dirty="0">
                  <a:solidFill>
                    <a:srgbClr val="581969"/>
                  </a:solidFill>
                  <a:latin typeface="微软雅黑"/>
                  <a:ea typeface="Microsoft YaHei"/>
                  <a:cs typeface="微软雅黑"/>
                </a:rPr>
                <a:t>02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45252" y="0"/>
            <a:ext cx="3061716" cy="1530858"/>
            <a:chOff x="5445252" y="0"/>
            <a:chExt cx="3061716" cy="1530858"/>
          </a:xfrm>
        </p:grpSpPr>
        <p:sp>
          <p:nvSpPr>
            <p:cNvPr id="17" name="Freeform 17"/>
            <p:cNvSpPr/>
            <p:nvPr/>
          </p:nvSpPr>
          <p:spPr>
            <a:xfrm>
              <a:off x="5445252" y="0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1969"/>
            </a:solidFill>
            <a:ln>
              <a:noFill/>
            </a:ln>
          </p:spPr>
        </p:sp>
      </p:grp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5445252" y="0"/>
            <a:ext cx="6746748" cy="6858000"/>
            <a:chOff x="5445252" y="0"/>
            <a:chExt cx="6746748" cy="6858000"/>
          </a:xfrm>
        </p:grpSpPr>
        <p:sp>
          <p:nvSpPr>
            <p:cNvPr id="20" name="Freeform 20"/>
            <p:cNvSpPr/>
            <p:nvPr/>
          </p:nvSpPr>
          <p:spPr>
            <a:xfrm>
              <a:off x="9033510" y="0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079742" y="0"/>
              <a:ext cx="3380994" cy="3325368"/>
            </a:xfrm>
            <a:custGeom>
              <a:avLst/>
              <a:gdLst/>
              <a:ahLst/>
              <a:cxnLst/>
              <a:rect l="l" t="t" r="r" b="b"/>
              <a:pathLst>
                <a:path w="3380994" h="3325368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668000" y="111252"/>
              <a:ext cx="1524000" cy="3047238"/>
            </a:xfrm>
            <a:custGeom>
              <a:avLst/>
              <a:gdLst/>
              <a:ahLst/>
              <a:cxnLst/>
              <a:rect l="l" t="t" r="r" b="b"/>
              <a:pathLst>
                <a:path w="1524000" h="3047238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874252" y="1738884"/>
              <a:ext cx="3317748" cy="3380232"/>
            </a:xfrm>
            <a:custGeom>
              <a:avLst/>
              <a:gdLst/>
              <a:ahLst/>
              <a:cxnLst/>
              <a:rect l="l" t="t" r="r" b="b"/>
              <a:pathLst>
                <a:path w="3317748" h="3380232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0668000" y="3699510"/>
              <a:ext cx="1524000" cy="3047238"/>
            </a:xfrm>
            <a:custGeom>
              <a:avLst/>
              <a:gdLst/>
              <a:ahLst/>
              <a:cxnLst/>
              <a:rect l="l" t="t" r="r" b="b"/>
              <a:pathLst>
                <a:path w="1524000" h="3047238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033510" y="5327142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079742" y="3532632"/>
              <a:ext cx="3380994" cy="3325368"/>
            </a:xfrm>
            <a:custGeom>
              <a:avLst/>
              <a:gdLst/>
              <a:ahLst/>
              <a:cxnLst/>
              <a:rect l="l" t="t" r="r" b="b"/>
              <a:pathLst>
                <a:path w="3380994" h="3325368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80913" y="2233327"/>
              <a:ext cx="2390299" cy="2390394"/>
            </a:xfrm>
            <a:custGeom>
              <a:avLst/>
              <a:gdLst/>
              <a:ahLst/>
              <a:cxnLst/>
              <a:rect l="l" t="t" r="r" b="b"/>
              <a:pathLst>
                <a:path w="2390299" h="2390394">
                  <a:moveTo>
                    <a:pt x="0" y="0"/>
                  </a:moveTo>
                  <a:lnTo>
                    <a:pt x="2390299" y="0"/>
                  </a:lnTo>
                  <a:lnTo>
                    <a:pt x="2390299" y="2390394"/>
                  </a:lnTo>
                  <a:lnTo>
                    <a:pt x="0" y="2390394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445252" y="5327142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53154" y="1217390"/>
            <a:ext cx="10443020" cy="2286476"/>
            <a:chOff x="853154" y="1217390"/>
            <a:chExt cx="10443020" cy="2286476"/>
          </a:xfrm>
        </p:grpSpPr>
        <p:sp>
          <p:nvSpPr>
            <p:cNvPr id="3" name="Rectangle 3"/>
            <p:cNvSpPr/>
            <p:nvPr/>
          </p:nvSpPr>
          <p:spPr>
            <a:xfrm flipH="1">
              <a:off x="853154" y="1217390"/>
              <a:ext cx="10443020" cy="2286476"/>
            </a:xfrm>
            <a:prstGeom prst="roundRect">
              <a:avLst>
                <a:gd name="adj" fmla="val 11814"/>
              </a:avLst>
            </a:prstGeom>
            <a:solidFill>
              <a:srgbClr val="FFFFFF"/>
            </a:solidFill>
            <a:ln>
              <a:noFill/>
            </a:ln>
            <a:effectLst>
              <a:outerShdw blurRad="253936" dist="63532" dir="0" algn="l" rotWithShape="0">
                <a:srgbClr val="912C8D">
                  <a:alpha val="11250"/>
                </a:srgbClr>
              </a:outerShdw>
            </a:effectLst>
          </p:spPr>
        </p:sp>
      </p:grpSp>
      <p:grpSp>
        <p:nvGrpSpPr>
          <p:cNvPr id="7" name="Group 7"/>
          <p:cNvGrpSpPr/>
          <p:nvPr/>
        </p:nvGrpSpPr>
        <p:grpSpPr>
          <a:xfrm>
            <a:off x="6626638" y="1633252"/>
            <a:ext cx="3984688" cy="565404"/>
            <a:chOff x="6626638" y="1633252"/>
            <a:chExt cx="3984688" cy="565404"/>
          </a:xfrm>
        </p:grpSpPr>
        <p:sp>
          <p:nvSpPr>
            <p:cNvPr id="5" name="Rectangle 5"/>
            <p:cNvSpPr/>
            <p:nvPr/>
          </p:nvSpPr>
          <p:spPr>
            <a:xfrm flipH="1">
              <a:off x="6626638" y="1633252"/>
              <a:ext cx="3984688" cy="565404"/>
            </a:xfrm>
            <a:prstGeom prst="rect">
              <a:avLst/>
            </a:prstGeom>
            <a:noFill/>
            <a:ln>
              <a:noFill/>
            </a:ln>
            <a:effectLst>
              <a:outerShdw blurRad="253936" dist="63532" dir="0" algn="l" rotWithShape="0">
                <a:srgbClr val="912C8D">
                  <a:alpha val="11250"/>
                </a:srgbClr>
              </a:outerShdw>
            </a:effectLst>
          </p:spPr>
        </p:sp>
        <p:sp>
          <p:nvSpPr>
            <p:cNvPr id="6" name="TextBox 6"/>
            <p:cNvSpPr txBox="1"/>
            <p:nvPr/>
          </p:nvSpPr>
          <p:spPr>
            <a:xfrm flipH="1">
              <a:off x="6626638" y="1633252"/>
              <a:ext cx="3984688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多个子空间并行表达不同关系，再拼接映射。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93400" y="1519618"/>
            <a:ext cx="4340733" cy="1658493"/>
            <a:chOff x="1293400" y="1519618"/>
            <a:chExt cx="4340733" cy="1658493"/>
          </a:xfrm>
        </p:grpSpPr>
        <p:sp>
          <p:nvSpPr>
            <p:cNvPr id="8" name="Rectangle 8"/>
            <p:cNvSpPr/>
            <p:nvPr/>
          </p:nvSpPr>
          <p:spPr>
            <a:xfrm>
              <a:off x="1293400" y="1519618"/>
              <a:ext cx="4340733" cy="1658493"/>
            </a:xfrm>
            <a:prstGeom prst="roundRect">
              <a:avLst>
                <a:gd name="adj" fmla="val 1723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0200" y="1519618"/>
              <a:ext cx="907132" cy="1658493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6121908" y="1666399"/>
            <a:ext cx="309753" cy="248317"/>
            <a:chOff x="6121908" y="1666399"/>
            <a:chExt cx="309753" cy="248317"/>
          </a:xfrm>
        </p:grpSpPr>
        <p:sp>
          <p:nvSpPr>
            <p:cNvPr id="11" name="Freeform 11"/>
            <p:cNvSpPr/>
            <p:nvPr/>
          </p:nvSpPr>
          <p:spPr>
            <a:xfrm>
              <a:off x="6121908" y="1666399"/>
              <a:ext cx="309753" cy="248317"/>
            </a:xfrm>
            <a:custGeom>
              <a:avLst/>
              <a:gdLst/>
              <a:ahLst/>
              <a:cxnLst/>
              <a:rect l="l" t="t" r="r" b="b"/>
              <a:pathLst>
                <a:path w="309753" h="248317">
                  <a:moveTo>
                    <a:pt x="236887" y="157448"/>
                  </a:moveTo>
                  <a:cubicBezTo>
                    <a:pt x="157924" y="242221"/>
                    <a:pt x="157924" y="242221"/>
                    <a:pt x="157924" y="242221"/>
                  </a:cubicBezTo>
                  <a:cubicBezTo>
                    <a:pt x="157924" y="242221"/>
                    <a:pt x="151828" y="248317"/>
                    <a:pt x="145828" y="248317"/>
                  </a:cubicBezTo>
                  <a:cubicBezTo>
                    <a:pt x="139732" y="248317"/>
                    <a:pt x="133636" y="242221"/>
                    <a:pt x="127540" y="242221"/>
                  </a:cubicBezTo>
                  <a:cubicBezTo>
                    <a:pt x="12192" y="121158"/>
                    <a:pt x="12192" y="121158"/>
                    <a:pt x="12192" y="121158"/>
                  </a:cubicBezTo>
                  <a:cubicBezTo>
                    <a:pt x="6096" y="115062"/>
                    <a:pt x="0" y="102965"/>
                    <a:pt x="0" y="90869"/>
                  </a:cubicBezTo>
                  <a:cubicBezTo>
                    <a:pt x="0" y="24194"/>
                    <a:pt x="0" y="24194"/>
                    <a:pt x="0" y="24194"/>
                  </a:cubicBezTo>
                  <a:cubicBezTo>
                    <a:pt x="0" y="12097"/>
                    <a:pt x="6096" y="0"/>
                    <a:pt x="18288" y="0"/>
                  </a:cubicBezTo>
                  <a:cubicBezTo>
                    <a:pt x="85058" y="0"/>
                    <a:pt x="85058" y="0"/>
                    <a:pt x="85058" y="0"/>
                  </a:cubicBezTo>
                  <a:cubicBezTo>
                    <a:pt x="97250" y="0"/>
                    <a:pt x="115443" y="6001"/>
                    <a:pt x="121539" y="18193"/>
                  </a:cubicBezTo>
                  <a:cubicBezTo>
                    <a:pt x="236887" y="133255"/>
                    <a:pt x="236887" y="133255"/>
                    <a:pt x="236887" y="133255"/>
                  </a:cubicBezTo>
                  <a:cubicBezTo>
                    <a:pt x="242983" y="133255"/>
                    <a:pt x="242983" y="139256"/>
                    <a:pt x="242983" y="145352"/>
                  </a:cubicBezTo>
                  <a:cubicBezTo>
                    <a:pt x="242983" y="151448"/>
                    <a:pt x="242983" y="157448"/>
                    <a:pt x="236887" y="157448"/>
                  </a:cubicBezTo>
                  <a:close/>
                  <a:moveTo>
                    <a:pt x="48578" y="30290"/>
                  </a:moveTo>
                  <a:cubicBezTo>
                    <a:pt x="36481" y="30290"/>
                    <a:pt x="30385" y="42386"/>
                    <a:pt x="30385" y="54483"/>
                  </a:cubicBezTo>
                  <a:cubicBezTo>
                    <a:pt x="30385" y="66580"/>
                    <a:pt x="36481" y="72676"/>
                    <a:pt x="48578" y="72676"/>
                  </a:cubicBezTo>
                  <a:cubicBezTo>
                    <a:pt x="60769" y="72676"/>
                    <a:pt x="72961" y="66580"/>
                    <a:pt x="72961" y="54483"/>
                  </a:cubicBezTo>
                  <a:cubicBezTo>
                    <a:pt x="72961" y="42386"/>
                    <a:pt x="60769" y="30290"/>
                    <a:pt x="48578" y="30290"/>
                  </a:cubicBezTo>
                  <a:close/>
                  <a:moveTo>
                    <a:pt x="303657" y="157448"/>
                  </a:moveTo>
                  <a:cubicBezTo>
                    <a:pt x="218694" y="242221"/>
                    <a:pt x="218694" y="242221"/>
                    <a:pt x="218694" y="242221"/>
                  </a:cubicBezTo>
                  <a:cubicBezTo>
                    <a:pt x="218694" y="242221"/>
                    <a:pt x="212598" y="248317"/>
                    <a:pt x="206502" y="248317"/>
                  </a:cubicBezTo>
                  <a:cubicBezTo>
                    <a:pt x="200406" y="248317"/>
                    <a:pt x="194405" y="242221"/>
                    <a:pt x="188309" y="236220"/>
                  </a:cubicBezTo>
                  <a:cubicBezTo>
                    <a:pt x="267271" y="157448"/>
                    <a:pt x="267271" y="157448"/>
                    <a:pt x="267271" y="157448"/>
                  </a:cubicBezTo>
                  <a:cubicBezTo>
                    <a:pt x="267271" y="157448"/>
                    <a:pt x="273367" y="151448"/>
                    <a:pt x="273367" y="145352"/>
                  </a:cubicBezTo>
                  <a:cubicBezTo>
                    <a:pt x="273367" y="139256"/>
                    <a:pt x="267271" y="133255"/>
                    <a:pt x="267271" y="133255"/>
                  </a:cubicBezTo>
                  <a:cubicBezTo>
                    <a:pt x="145828" y="18193"/>
                    <a:pt x="145828" y="18193"/>
                    <a:pt x="145828" y="18193"/>
                  </a:cubicBezTo>
                  <a:cubicBezTo>
                    <a:pt x="139732" y="6001"/>
                    <a:pt x="121539" y="0"/>
                    <a:pt x="115443" y="0"/>
                  </a:cubicBezTo>
                  <a:cubicBezTo>
                    <a:pt x="151828" y="0"/>
                    <a:pt x="151828" y="0"/>
                    <a:pt x="151828" y="0"/>
                  </a:cubicBezTo>
                  <a:cubicBezTo>
                    <a:pt x="157924" y="0"/>
                    <a:pt x="176117" y="6001"/>
                    <a:pt x="182213" y="18193"/>
                  </a:cubicBezTo>
                  <a:cubicBezTo>
                    <a:pt x="303657" y="133255"/>
                    <a:pt x="303657" y="133255"/>
                    <a:pt x="303657" y="133255"/>
                  </a:cubicBezTo>
                  <a:cubicBezTo>
                    <a:pt x="303657" y="133255"/>
                    <a:pt x="309753" y="139256"/>
                    <a:pt x="309753" y="145352"/>
                  </a:cubicBezTo>
                  <a:cubicBezTo>
                    <a:pt x="309753" y="151448"/>
                    <a:pt x="303657" y="157448"/>
                    <a:pt x="303657" y="157448"/>
                  </a:cubicBezTo>
                  <a:close/>
                </a:path>
              </a:pathLst>
            </a:custGeom>
            <a:solidFill>
              <a:srgbClr val="77227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121908" y="2525840"/>
            <a:ext cx="309753" cy="248412"/>
            <a:chOff x="6121908" y="2525840"/>
            <a:chExt cx="309753" cy="248412"/>
          </a:xfrm>
        </p:grpSpPr>
        <p:sp>
          <p:nvSpPr>
            <p:cNvPr id="13" name="Freeform 13"/>
            <p:cNvSpPr/>
            <p:nvPr/>
          </p:nvSpPr>
          <p:spPr>
            <a:xfrm>
              <a:off x="6121908" y="2525840"/>
              <a:ext cx="309753" cy="248412"/>
            </a:xfrm>
            <a:custGeom>
              <a:avLst/>
              <a:gdLst/>
              <a:ahLst/>
              <a:cxnLst/>
              <a:rect l="l" t="t" r="r" b="b"/>
              <a:pathLst>
                <a:path w="309753" h="248412">
                  <a:moveTo>
                    <a:pt x="236887" y="157544"/>
                  </a:moveTo>
                  <a:cubicBezTo>
                    <a:pt x="157924" y="242316"/>
                    <a:pt x="157924" y="242316"/>
                    <a:pt x="157924" y="242316"/>
                  </a:cubicBezTo>
                  <a:cubicBezTo>
                    <a:pt x="157924" y="242316"/>
                    <a:pt x="151828" y="248412"/>
                    <a:pt x="145828" y="248412"/>
                  </a:cubicBezTo>
                  <a:cubicBezTo>
                    <a:pt x="139732" y="248412"/>
                    <a:pt x="133636" y="242316"/>
                    <a:pt x="127540" y="242316"/>
                  </a:cubicBezTo>
                  <a:cubicBezTo>
                    <a:pt x="12192" y="121158"/>
                    <a:pt x="12192" y="121158"/>
                    <a:pt x="12192" y="121158"/>
                  </a:cubicBezTo>
                  <a:cubicBezTo>
                    <a:pt x="6096" y="115157"/>
                    <a:pt x="0" y="102965"/>
                    <a:pt x="0" y="90869"/>
                  </a:cubicBezTo>
                  <a:cubicBezTo>
                    <a:pt x="0" y="24289"/>
                    <a:pt x="0" y="24289"/>
                    <a:pt x="0" y="24289"/>
                  </a:cubicBezTo>
                  <a:cubicBezTo>
                    <a:pt x="0" y="12192"/>
                    <a:pt x="6096" y="0"/>
                    <a:pt x="18288" y="0"/>
                  </a:cubicBezTo>
                  <a:cubicBezTo>
                    <a:pt x="85058" y="0"/>
                    <a:pt x="85058" y="0"/>
                    <a:pt x="85058" y="0"/>
                  </a:cubicBezTo>
                  <a:cubicBezTo>
                    <a:pt x="97250" y="0"/>
                    <a:pt x="115443" y="6096"/>
                    <a:pt x="121539" y="18193"/>
                  </a:cubicBezTo>
                  <a:cubicBezTo>
                    <a:pt x="236887" y="133255"/>
                    <a:pt x="236887" y="133255"/>
                    <a:pt x="236887" y="133255"/>
                  </a:cubicBezTo>
                  <a:cubicBezTo>
                    <a:pt x="242983" y="133255"/>
                    <a:pt x="242983" y="139351"/>
                    <a:pt x="242983" y="145447"/>
                  </a:cubicBezTo>
                  <a:cubicBezTo>
                    <a:pt x="242983" y="151447"/>
                    <a:pt x="242983" y="157544"/>
                    <a:pt x="236887" y="157544"/>
                  </a:cubicBezTo>
                  <a:close/>
                  <a:moveTo>
                    <a:pt x="48578" y="30290"/>
                  </a:moveTo>
                  <a:cubicBezTo>
                    <a:pt x="36481" y="30290"/>
                    <a:pt x="30385" y="42481"/>
                    <a:pt x="30385" y="54578"/>
                  </a:cubicBezTo>
                  <a:cubicBezTo>
                    <a:pt x="30385" y="66675"/>
                    <a:pt x="36481" y="72771"/>
                    <a:pt x="48578" y="72771"/>
                  </a:cubicBezTo>
                  <a:cubicBezTo>
                    <a:pt x="60769" y="72771"/>
                    <a:pt x="72961" y="66675"/>
                    <a:pt x="72961" y="54578"/>
                  </a:cubicBezTo>
                  <a:cubicBezTo>
                    <a:pt x="72961" y="42481"/>
                    <a:pt x="60769" y="30290"/>
                    <a:pt x="48578" y="30290"/>
                  </a:cubicBezTo>
                  <a:close/>
                  <a:moveTo>
                    <a:pt x="303657" y="157544"/>
                  </a:moveTo>
                  <a:cubicBezTo>
                    <a:pt x="218694" y="242316"/>
                    <a:pt x="218694" y="242316"/>
                    <a:pt x="218694" y="242316"/>
                  </a:cubicBezTo>
                  <a:cubicBezTo>
                    <a:pt x="218694" y="242316"/>
                    <a:pt x="212598" y="248412"/>
                    <a:pt x="206502" y="248412"/>
                  </a:cubicBezTo>
                  <a:cubicBezTo>
                    <a:pt x="200406" y="248412"/>
                    <a:pt x="194405" y="242316"/>
                    <a:pt x="188309" y="236220"/>
                  </a:cubicBezTo>
                  <a:cubicBezTo>
                    <a:pt x="267271" y="157544"/>
                    <a:pt x="267271" y="157544"/>
                    <a:pt x="267271" y="157544"/>
                  </a:cubicBezTo>
                  <a:cubicBezTo>
                    <a:pt x="267271" y="157544"/>
                    <a:pt x="273367" y="151447"/>
                    <a:pt x="273367" y="145447"/>
                  </a:cubicBezTo>
                  <a:cubicBezTo>
                    <a:pt x="273367" y="139351"/>
                    <a:pt x="267271" y="133255"/>
                    <a:pt x="267271" y="133255"/>
                  </a:cubicBezTo>
                  <a:cubicBezTo>
                    <a:pt x="145828" y="18193"/>
                    <a:pt x="145828" y="18193"/>
                    <a:pt x="145828" y="18193"/>
                  </a:cubicBezTo>
                  <a:cubicBezTo>
                    <a:pt x="139732" y="6096"/>
                    <a:pt x="121539" y="0"/>
                    <a:pt x="115443" y="0"/>
                  </a:cubicBezTo>
                  <a:cubicBezTo>
                    <a:pt x="151828" y="0"/>
                    <a:pt x="151828" y="0"/>
                    <a:pt x="151828" y="0"/>
                  </a:cubicBezTo>
                  <a:cubicBezTo>
                    <a:pt x="157924" y="0"/>
                    <a:pt x="176117" y="6096"/>
                    <a:pt x="182213" y="18193"/>
                  </a:cubicBezTo>
                  <a:cubicBezTo>
                    <a:pt x="303657" y="133255"/>
                    <a:pt x="303657" y="133255"/>
                    <a:pt x="303657" y="133255"/>
                  </a:cubicBezTo>
                  <a:cubicBezTo>
                    <a:pt x="303657" y="133255"/>
                    <a:pt x="309753" y="139351"/>
                    <a:pt x="309753" y="145447"/>
                  </a:cubicBezTo>
                  <a:cubicBezTo>
                    <a:pt x="309753" y="151447"/>
                    <a:pt x="303657" y="157544"/>
                    <a:pt x="303657" y="157544"/>
                  </a:cubicBezTo>
                  <a:close/>
                </a:path>
              </a:pathLst>
            </a:custGeom>
            <a:solidFill>
              <a:srgbClr val="772274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11054" y="3824383"/>
            <a:ext cx="10485215" cy="2286476"/>
            <a:chOff x="811054" y="3824383"/>
            <a:chExt cx="10485215" cy="2286476"/>
          </a:xfrm>
        </p:grpSpPr>
        <p:sp>
          <p:nvSpPr>
            <p:cNvPr id="15" name="Rectangle 15"/>
            <p:cNvSpPr/>
            <p:nvPr/>
          </p:nvSpPr>
          <p:spPr>
            <a:xfrm flipH="1">
              <a:off x="811054" y="3824383"/>
              <a:ext cx="10485215" cy="2286476"/>
            </a:xfrm>
            <a:prstGeom prst="roundRect">
              <a:avLst>
                <a:gd name="adj" fmla="val 11814"/>
              </a:avLst>
            </a:prstGeom>
            <a:solidFill>
              <a:srgbClr val="FFFFFF"/>
            </a:solidFill>
            <a:ln>
              <a:noFill/>
            </a:ln>
            <a:effectLst>
              <a:outerShdw blurRad="253936" dist="63532" dir="0" algn="l" rotWithShape="0">
                <a:srgbClr val="912C8D">
                  <a:alpha val="11250"/>
                </a:srgbClr>
              </a:outerShdw>
            </a:effectLst>
          </p:spPr>
        </p:sp>
      </p:grpSp>
      <p:grpSp>
        <p:nvGrpSpPr>
          <p:cNvPr id="19" name="Group 19"/>
          <p:cNvGrpSpPr/>
          <p:nvPr/>
        </p:nvGrpSpPr>
        <p:grpSpPr>
          <a:xfrm>
            <a:off x="6456521" y="4126135"/>
            <a:ext cx="4340733" cy="1683068"/>
            <a:chOff x="6456521" y="4126135"/>
            <a:chExt cx="4340733" cy="1683068"/>
          </a:xfrm>
        </p:grpSpPr>
        <p:sp>
          <p:nvSpPr>
            <p:cNvPr id="17" name="Rectangle 17"/>
            <p:cNvSpPr/>
            <p:nvPr/>
          </p:nvSpPr>
          <p:spPr>
            <a:xfrm>
              <a:off x="6456521" y="4126135"/>
              <a:ext cx="4340733" cy="1683068"/>
            </a:xfrm>
            <a:prstGeom prst="roundRect">
              <a:avLst>
                <a:gd name="adj" fmla="val 1698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65268" y="4126135"/>
              <a:ext cx="1323239" cy="1683068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6626638" y="2498979"/>
            <a:ext cx="3984688" cy="565404"/>
            <a:chOff x="6626638" y="2498979"/>
            <a:chExt cx="3984688" cy="565404"/>
          </a:xfrm>
        </p:grpSpPr>
        <p:sp>
          <p:nvSpPr>
            <p:cNvPr id="20" name="Rectangle 20"/>
            <p:cNvSpPr/>
            <p:nvPr/>
          </p:nvSpPr>
          <p:spPr>
            <a:xfrm flipH="1">
              <a:off x="6626638" y="2498979"/>
              <a:ext cx="3984688" cy="565404"/>
            </a:xfrm>
            <a:prstGeom prst="rect">
              <a:avLst/>
            </a:prstGeom>
            <a:noFill/>
            <a:ln>
              <a:noFill/>
            </a:ln>
            <a:effectLst>
              <a:outerShdw blurRad="253936" dist="63532" dir="0" algn="l" rotWithShape="0">
                <a:srgbClr val="912C8D">
                  <a:alpha val="11250"/>
                </a:srgbClr>
              </a:outerShdw>
            </a:effectLst>
          </p:spPr>
        </p:sp>
        <p:sp>
          <p:nvSpPr>
            <p:cNvPr id="21" name="TextBox 21"/>
            <p:cNvSpPr txBox="1"/>
            <p:nvPr/>
          </p:nvSpPr>
          <p:spPr>
            <a:xfrm flipH="1">
              <a:off x="6626638" y="2498979"/>
              <a:ext cx="3984688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多个子空间并行表达不同关系，再拼接映射。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925765" y="4258056"/>
            <a:ext cx="4070984" cy="565404"/>
            <a:chOff x="1925765" y="4258056"/>
            <a:chExt cx="4070984" cy="565404"/>
          </a:xfrm>
        </p:grpSpPr>
        <p:sp>
          <p:nvSpPr>
            <p:cNvPr id="23" name="Rectangle 23"/>
            <p:cNvSpPr/>
            <p:nvPr/>
          </p:nvSpPr>
          <p:spPr>
            <a:xfrm flipH="1">
              <a:off x="1925765" y="4258056"/>
              <a:ext cx="4070985" cy="565404"/>
            </a:xfrm>
            <a:prstGeom prst="rect">
              <a:avLst/>
            </a:prstGeom>
            <a:noFill/>
            <a:ln>
              <a:noFill/>
            </a:ln>
            <a:effectLst>
              <a:outerShdw blurRad="253936" dist="63532" dir="0" algn="l" rotWithShape="0">
                <a:srgbClr val="912C8D">
                  <a:alpha val="1125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 flipH="1">
              <a:off x="1925765" y="4258056"/>
              <a:ext cx="4070985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QKᵀ 衡量匹配；除以 √dk 稳定 softmax。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21035" y="4291203"/>
            <a:ext cx="309753" cy="248317"/>
            <a:chOff x="1421035" y="4291203"/>
            <a:chExt cx="309753" cy="248317"/>
          </a:xfrm>
        </p:grpSpPr>
        <p:sp>
          <p:nvSpPr>
            <p:cNvPr id="26" name="Freeform 26"/>
            <p:cNvSpPr/>
            <p:nvPr/>
          </p:nvSpPr>
          <p:spPr>
            <a:xfrm>
              <a:off x="1421035" y="4291203"/>
              <a:ext cx="309753" cy="248317"/>
            </a:xfrm>
            <a:custGeom>
              <a:avLst/>
              <a:gdLst/>
              <a:ahLst/>
              <a:cxnLst/>
              <a:rect l="l" t="t" r="r" b="b"/>
              <a:pathLst>
                <a:path w="309753" h="248317">
                  <a:moveTo>
                    <a:pt x="236887" y="157448"/>
                  </a:moveTo>
                  <a:cubicBezTo>
                    <a:pt x="157925" y="242316"/>
                    <a:pt x="157925" y="242316"/>
                    <a:pt x="157925" y="242316"/>
                  </a:cubicBezTo>
                  <a:cubicBezTo>
                    <a:pt x="157925" y="242316"/>
                    <a:pt x="151828" y="248317"/>
                    <a:pt x="145733" y="248317"/>
                  </a:cubicBezTo>
                  <a:cubicBezTo>
                    <a:pt x="139732" y="248317"/>
                    <a:pt x="133636" y="242316"/>
                    <a:pt x="127540" y="242316"/>
                  </a:cubicBezTo>
                  <a:cubicBezTo>
                    <a:pt x="12192" y="121158"/>
                    <a:pt x="12192" y="121158"/>
                    <a:pt x="12192" y="121158"/>
                  </a:cubicBezTo>
                  <a:cubicBezTo>
                    <a:pt x="6096" y="115062"/>
                    <a:pt x="0" y="102965"/>
                    <a:pt x="0" y="90869"/>
                  </a:cubicBezTo>
                  <a:cubicBezTo>
                    <a:pt x="0" y="24194"/>
                    <a:pt x="0" y="24194"/>
                    <a:pt x="0" y="24194"/>
                  </a:cubicBezTo>
                  <a:cubicBezTo>
                    <a:pt x="0" y="12097"/>
                    <a:pt x="6096" y="0"/>
                    <a:pt x="18193" y="0"/>
                  </a:cubicBezTo>
                  <a:cubicBezTo>
                    <a:pt x="85058" y="0"/>
                    <a:pt x="85058" y="0"/>
                    <a:pt x="85058" y="0"/>
                  </a:cubicBezTo>
                  <a:cubicBezTo>
                    <a:pt x="97155" y="0"/>
                    <a:pt x="115443" y="6001"/>
                    <a:pt x="121444" y="18193"/>
                  </a:cubicBezTo>
                  <a:cubicBezTo>
                    <a:pt x="236887" y="133255"/>
                    <a:pt x="236887" y="133255"/>
                    <a:pt x="236887" y="133255"/>
                  </a:cubicBezTo>
                  <a:cubicBezTo>
                    <a:pt x="242888" y="133255"/>
                    <a:pt x="242888" y="139256"/>
                    <a:pt x="242888" y="145351"/>
                  </a:cubicBezTo>
                  <a:cubicBezTo>
                    <a:pt x="242888" y="151448"/>
                    <a:pt x="242888" y="157448"/>
                    <a:pt x="236887" y="157448"/>
                  </a:cubicBezTo>
                  <a:close/>
                  <a:moveTo>
                    <a:pt x="48577" y="30290"/>
                  </a:moveTo>
                  <a:cubicBezTo>
                    <a:pt x="36481" y="30290"/>
                    <a:pt x="30385" y="42386"/>
                    <a:pt x="30385" y="54483"/>
                  </a:cubicBezTo>
                  <a:cubicBezTo>
                    <a:pt x="30385" y="66580"/>
                    <a:pt x="36481" y="72676"/>
                    <a:pt x="48577" y="72676"/>
                  </a:cubicBezTo>
                  <a:cubicBezTo>
                    <a:pt x="60769" y="72676"/>
                    <a:pt x="72866" y="66580"/>
                    <a:pt x="72866" y="54483"/>
                  </a:cubicBezTo>
                  <a:cubicBezTo>
                    <a:pt x="72866" y="42386"/>
                    <a:pt x="60769" y="30290"/>
                    <a:pt x="48577" y="30290"/>
                  </a:cubicBezTo>
                  <a:close/>
                  <a:moveTo>
                    <a:pt x="303657" y="157448"/>
                  </a:moveTo>
                  <a:cubicBezTo>
                    <a:pt x="218599" y="242316"/>
                    <a:pt x="218599" y="242316"/>
                    <a:pt x="218599" y="242316"/>
                  </a:cubicBezTo>
                  <a:cubicBezTo>
                    <a:pt x="218599" y="242316"/>
                    <a:pt x="212598" y="248317"/>
                    <a:pt x="206502" y="248317"/>
                  </a:cubicBezTo>
                  <a:cubicBezTo>
                    <a:pt x="200406" y="248317"/>
                    <a:pt x="194310" y="242316"/>
                    <a:pt x="188309" y="236220"/>
                  </a:cubicBezTo>
                  <a:cubicBezTo>
                    <a:pt x="267176" y="157448"/>
                    <a:pt x="267176" y="157448"/>
                    <a:pt x="267176" y="157448"/>
                  </a:cubicBezTo>
                  <a:cubicBezTo>
                    <a:pt x="267176" y="157448"/>
                    <a:pt x="273272" y="151448"/>
                    <a:pt x="273272" y="145351"/>
                  </a:cubicBezTo>
                  <a:cubicBezTo>
                    <a:pt x="273272" y="139256"/>
                    <a:pt x="267176" y="133255"/>
                    <a:pt x="267176" y="133255"/>
                  </a:cubicBezTo>
                  <a:cubicBezTo>
                    <a:pt x="145733" y="18193"/>
                    <a:pt x="145733" y="18193"/>
                    <a:pt x="145733" y="18193"/>
                  </a:cubicBezTo>
                  <a:cubicBezTo>
                    <a:pt x="139732" y="6001"/>
                    <a:pt x="121444" y="0"/>
                    <a:pt x="115443" y="0"/>
                  </a:cubicBezTo>
                  <a:cubicBezTo>
                    <a:pt x="151828" y="0"/>
                    <a:pt x="151828" y="0"/>
                    <a:pt x="151828" y="0"/>
                  </a:cubicBezTo>
                  <a:cubicBezTo>
                    <a:pt x="157925" y="0"/>
                    <a:pt x="176117" y="6001"/>
                    <a:pt x="182213" y="18193"/>
                  </a:cubicBezTo>
                  <a:cubicBezTo>
                    <a:pt x="303657" y="133255"/>
                    <a:pt x="303657" y="133255"/>
                    <a:pt x="303657" y="133255"/>
                  </a:cubicBezTo>
                  <a:cubicBezTo>
                    <a:pt x="303657" y="133255"/>
                    <a:pt x="309753" y="139256"/>
                    <a:pt x="309753" y="145351"/>
                  </a:cubicBezTo>
                  <a:cubicBezTo>
                    <a:pt x="309753" y="151448"/>
                    <a:pt x="303657" y="157448"/>
                    <a:pt x="303657" y="157448"/>
                  </a:cubicBez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421035" y="5150739"/>
            <a:ext cx="309753" cy="248317"/>
            <a:chOff x="1421035" y="5150739"/>
            <a:chExt cx="309753" cy="248317"/>
          </a:xfrm>
        </p:grpSpPr>
        <p:sp>
          <p:nvSpPr>
            <p:cNvPr id="28" name="Freeform 28"/>
            <p:cNvSpPr/>
            <p:nvPr/>
          </p:nvSpPr>
          <p:spPr>
            <a:xfrm>
              <a:off x="1421035" y="5150739"/>
              <a:ext cx="309753" cy="248317"/>
            </a:xfrm>
            <a:custGeom>
              <a:avLst/>
              <a:gdLst/>
              <a:ahLst/>
              <a:cxnLst/>
              <a:rect l="l" t="t" r="r" b="b"/>
              <a:pathLst>
                <a:path w="309753" h="248317">
                  <a:moveTo>
                    <a:pt x="236887" y="157448"/>
                  </a:moveTo>
                  <a:cubicBezTo>
                    <a:pt x="157925" y="242221"/>
                    <a:pt x="157925" y="242221"/>
                    <a:pt x="157925" y="242221"/>
                  </a:cubicBezTo>
                  <a:cubicBezTo>
                    <a:pt x="157925" y="242221"/>
                    <a:pt x="151828" y="248317"/>
                    <a:pt x="145733" y="248317"/>
                  </a:cubicBezTo>
                  <a:cubicBezTo>
                    <a:pt x="139732" y="248317"/>
                    <a:pt x="133636" y="242221"/>
                    <a:pt x="127540" y="242221"/>
                  </a:cubicBezTo>
                  <a:cubicBezTo>
                    <a:pt x="12192" y="121063"/>
                    <a:pt x="12192" y="121063"/>
                    <a:pt x="12192" y="121063"/>
                  </a:cubicBezTo>
                  <a:cubicBezTo>
                    <a:pt x="6096" y="115062"/>
                    <a:pt x="0" y="102965"/>
                    <a:pt x="0" y="90773"/>
                  </a:cubicBezTo>
                  <a:cubicBezTo>
                    <a:pt x="0" y="24193"/>
                    <a:pt x="0" y="24193"/>
                    <a:pt x="0" y="24193"/>
                  </a:cubicBezTo>
                  <a:cubicBezTo>
                    <a:pt x="0" y="12097"/>
                    <a:pt x="6096" y="0"/>
                    <a:pt x="18193" y="0"/>
                  </a:cubicBezTo>
                  <a:cubicBezTo>
                    <a:pt x="85058" y="0"/>
                    <a:pt x="85058" y="0"/>
                    <a:pt x="85058" y="0"/>
                  </a:cubicBezTo>
                  <a:cubicBezTo>
                    <a:pt x="97155" y="0"/>
                    <a:pt x="115443" y="6001"/>
                    <a:pt x="121444" y="18097"/>
                  </a:cubicBezTo>
                  <a:cubicBezTo>
                    <a:pt x="236887" y="133255"/>
                    <a:pt x="236887" y="133255"/>
                    <a:pt x="236887" y="133255"/>
                  </a:cubicBezTo>
                  <a:cubicBezTo>
                    <a:pt x="242888" y="133255"/>
                    <a:pt x="242888" y="139256"/>
                    <a:pt x="242888" y="145351"/>
                  </a:cubicBezTo>
                  <a:cubicBezTo>
                    <a:pt x="242888" y="151352"/>
                    <a:pt x="242888" y="157448"/>
                    <a:pt x="236887" y="157448"/>
                  </a:cubicBezTo>
                  <a:close/>
                  <a:moveTo>
                    <a:pt x="48577" y="30194"/>
                  </a:moveTo>
                  <a:cubicBezTo>
                    <a:pt x="36481" y="30194"/>
                    <a:pt x="30385" y="42386"/>
                    <a:pt x="30385" y="54483"/>
                  </a:cubicBezTo>
                  <a:cubicBezTo>
                    <a:pt x="30385" y="66580"/>
                    <a:pt x="36481" y="72676"/>
                    <a:pt x="48577" y="72676"/>
                  </a:cubicBezTo>
                  <a:cubicBezTo>
                    <a:pt x="60769" y="72676"/>
                    <a:pt x="72866" y="66580"/>
                    <a:pt x="72866" y="54483"/>
                  </a:cubicBezTo>
                  <a:cubicBezTo>
                    <a:pt x="72866" y="42386"/>
                    <a:pt x="60769" y="30194"/>
                    <a:pt x="48577" y="30194"/>
                  </a:cubicBezTo>
                  <a:close/>
                  <a:moveTo>
                    <a:pt x="303657" y="157448"/>
                  </a:moveTo>
                  <a:cubicBezTo>
                    <a:pt x="218599" y="242221"/>
                    <a:pt x="218599" y="242221"/>
                    <a:pt x="218599" y="242221"/>
                  </a:cubicBezTo>
                  <a:cubicBezTo>
                    <a:pt x="218599" y="242221"/>
                    <a:pt x="212598" y="248317"/>
                    <a:pt x="206502" y="248317"/>
                  </a:cubicBezTo>
                  <a:cubicBezTo>
                    <a:pt x="200406" y="248317"/>
                    <a:pt x="194310" y="242221"/>
                    <a:pt x="188309" y="236220"/>
                  </a:cubicBezTo>
                  <a:cubicBezTo>
                    <a:pt x="267176" y="157448"/>
                    <a:pt x="267176" y="157448"/>
                    <a:pt x="267176" y="157448"/>
                  </a:cubicBezTo>
                  <a:cubicBezTo>
                    <a:pt x="267176" y="157448"/>
                    <a:pt x="273272" y="151352"/>
                    <a:pt x="273272" y="145351"/>
                  </a:cubicBezTo>
                  <a:cubicBezTo>
                    <a:pt x="273272" y="139256"/>
                    <a:pt x="267176" y="133255"/>
                    <a:pt x="267176" y="133255"/>
                  </a:cubicBezTo>
                  <a:cubicBezTo>
                    <a:pt x="145733" y="18097"/>
                    <a:pt x="145733" y="18097"/>
                    <a:pt x="145733" y="18097"/>
                  </a:cubicBezTo>
                  <a:cubicBezTo>
                    <a:pt x="139732" y="6001"/>
                    <a:pt x="121444" y="0"/>
                    <a:pt x="115443" y="0"/>
                  </a:cubicBezTo>
                  <a:cubicBezTo>
                    <a:pt x="151828" y="0"/>
                    <a:pt x="151828" y="0"/>
                    <a:pt x="151828" y="0"/>
                  </a:cubicBezTo>
                  <a:cubicBezTo>
                    <a:pt x="157925" y="0"/>
                    <a:pt x="176117" y="6001"/>
                    <a:pt x="182213" y="18097"/>
                  </a:cubicBezTo>
                  <a:cubicBezTo>
                    <a:pt x="303657" y="133255"/>
                    <a:pt x="303657" y="133255"/>
                    <a:pt x="303657" y="133255"/>
                  </a:cubicBezTo>
                  <a:cubicBezTo>
                    <a:pt x="303657" y="133255"/>
                    <a:pt x="309753" y="139256"/>
                    <a:pt x="309753" y="145351"/>
                  </a:cubicBezTo>
                  <a:cubicBezTo>
                    <a:pt x="309753" y="151352"/>
                    <a:pt x="303657" y="157448"/>
                    <a:pt x="303657" y="157448"/>
                  </a:cubicBez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925669" y="5123783"/>
            <a:ext cx="3996595" cy="565404"/>
            <a:chOff x="1925669" y="5123783"/>
            <a:chExt cx="3996595" cy="565404"/>
          </a:xfrm>
        </p:grpSpPr>
        <p:sp>
          <p:nvSpPr>
            <p:cNvPr id="30" name="Rectangle 30"/>
            <p:cNvSpPr/>
            <p:nvPr/>
          </p:nvSpPr>
          <p:spPr>
            <a:xfrm flipH="1">
              <a:off x="1925669" y="5123783"/>
              <a:ext cx="3996595" cy="565404"/>
            </a:xfrm>
            <a:prstGeom prst="rect">
              <a:avLst/>
            </a:prstGeom>
            <a:noFill/>
            <a:ln>
              <a:noFill/>
            </a:ln>
            <a:effectLst>
              <a:outerShdw blurRad="253936" dist="63532" dir="0" algn="l" rotWithShape="0">
                <a:srgbClr val="912C8D">
                  <a:alpha val="1125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 flipH="1">
              <a:off x="1925669" y="5123783"/>
              <a:ext cx="3996595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QKᵀ 衡量匹配；除以 √dk 稳定 softmax。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34" name="Rectangle 34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机制：attention 核心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38" name="Image 38"/>
          <p:cNvPicPr>
            <a:picLocks noChangeAspect="1"/>
          </p:cNvPicPr>
          <p:nvPr/>
        </p:nvPicPr>
        <p:blipFill>
          <a:blip r:embed="rId5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886968" y="1408652"/>
            <a:ext cx="2320862" cy="2636806"/>
            <a:chOff x="886968" y="1408652"/>
            <a:chExt cx="2320862" cy="2636806"/>
          </a:xfrm>
        </p:grpSpPr>
        <p:sp>
          <p:nvSpPr>
            <p:cNvPr id="3" name="Rectangle 3"/>
            <p:cNvSpPr/>
            <p:nvPr/>
          </p:nvSpPr>
          <p:spPr>
            <a:xfrm>
              <a:off x="886968" y="1408652"/>
              <a:ext cx="2320862" cy="2636806"/>
            </a:xfrm>
            <a:prstGeom prst="roundRect">
              <a:avLst>
                <a:gd name="adj" fmla="val 1231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6101" y="1408652"/>
              <a:ext cx="1802595" cy="2636806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742122" y="1197197"/>
            <a:ext cx="594360" cy="594360"/>
            <a:chOff x="1742122" y="1197197"/>
            <a:chExt cx="594360" cy="594360"/>
          </a:xfrm>
        </p:grpSpPr>
        <p:sp>
          <p:nvSpPr>
            <p:cNvPr id="6" name="Freeform 6"/>
            <p:cNvSpPr/>
            <p:nvPr/>
          </p:nvSpPr>
          <p:spPr>
            <a:xfrm>
              <a:off x="1742122" y="1197197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594360" y="297180"/>
                  </a:moveTo>
                  <a:cubicBezTo>
                    <a:pt x="594360" y="461296"/>
                    <a:pt x="461296" y="594360"/>
                    <a:pt x="297180" y="594360"/>
                  </a:cubicBezTo>
                  <a:cubicBezTo>
                    <a:pt x="133064" y="594360"/>
                    <a:pt x="0" y="461296"/>
                    <a:pt x="0" y="297180"/>
                  </a:cubicBezTo>
                  <a:cubicBezTo>
                    <a:pt x="0" y="133064"/>
                    <a:pt x="133064" y="0"/>
                    <a:pt x="297180" y="0"/>
                  </a:cubicBezTo>
                  <a:cubicBezTo>
                    <a:pt x="461296" y="0"/>
                    <a:pt x="594360" y="133064"/>
                    <a:pt x="594360" y="297180"/>
                  </a:cubicBez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940004" y="1424324"/>
              <a:ext cx="208042" cy="139506"/>
              <a:chOff x="1940004" y="1424324"/>
              <a:chExt cx="208042" cy="13950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940004" y="1424324"/>
                <a:ext cx="198741" cy="100419"/>
              </a:xfrm>
              <a:custGeom>
                <a:avLst/>
                <a:gdLst/>
                <a:ahLst/>
                <a:cxnLst/>
                <a:rect l="l" t="t" r="r" b="b"/>
                <a:pathLst>
                  <a:path w="198741" h="100419">
                    <a:moveTo>
                      <a:pt x="192763" y="59338"/>
                    </a:moveTo>
                    <a:cubicBezTo>
                      <a:pt x="196405" y="57740"/>
                      <a:pt x="198741" y="54121"/>
                      <a:pt x="198698" y="50144"/>
                    </a:cubicBezTo>
                    <a:cubicBezTo>
                      <a:pt x="198655" y="46167"/>
                      <a:pt x="196241" y="42600"/>
                      <a:pt x="192565" y="41081"/>
                    </a:cubicBezTo>
                    <a:lnTo>
                      <a:pt x="107534" y="2386"/>
                    </a:lnTo>
                    <a:cubicBezTo>
                      <a:pt x="102303" y="0"/>
                      <a:pt x="96295" y="0"/>
                      <a:pt x="91064" y="2386"/>
                    </a:cubicBezTo>
                    <a:lnTo>
                      <a:pt x="6033" y="41081"/>
                    </a:lnTo>
                    <a:cubicBezTo>
                      <a:pt x="2375" y="42640"/>
                      <a:pt x="0" y="46233"/>
                      <a:pt x="0" y="50209"/>
                    </a:cubicBezTo>
                    <a:cubicBezTo>
                      <a:pt x="0" y="54186"/>
                      <a:pt x="2375" y="57779"/>
                      <a:pt x="6033" y="59338"/>
                    </a:cubicBezTo>
                    <a:lnTo>
                      <a:pt x="91064" y="98033"/>
                    </a:lnTo>
                    <a:cubicBezTo>
                      <a:pt x="96295" y="100419"/>
                      <a:pt x="102303" y="100419"/>
                      <a:pt x="107534" y="98033"/>
                    </a:cubicBezTo>
                    <a:close/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138521" y="1474533"/>
                <a:ext cx="9525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9531">
                    <a:moveTo>
                      <a:pt x="0" y="0"/>
                    </a:moveTo>
                    <a:lnTo>
                      <a:pt x="0" y="59531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79771" y="1499338"/>
                <a:ext cx="119062" cy="6449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64492">
                    <a:moveTo>
                      <a:pt x="0" y="0"/>
                    </a:moveTo>
                    <a:lnTo>
                      <a:pt x="0" y="34727"/>
                    </a:lnTo>
                    <a:cubicBezTo>
                      <a:pt x="0" y="51166"/>
                      <a:pt x="26653" y="64492"/>
                      <a:pt x="59531" y="64492"/>
                    </a:cubicBezTo>
                    <a:cubicBezTo>
                      <a:pt x="92409" y="64492"/>
                      <a:pt x="119062" y="51166"/>
                      <a:pt x="119062" y="34727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998125" y="4515993"/>
            <a:ext cx="2232088" cy="1385030"/>
            <a:chOff x="998125" y="4515993"/>
            <a:chExt cx="2232088" cy="1385030"/>
          </a:xfrm>
        </p:grpSpPr>
        <p:sp>
          <p:nvSpPr>
            <p:cNvPr id="12" name="Rectangle 12"/>
            <p:cNvSpPr/>
            <p:nvPr/>
          </p:nvSpPr>
          <p:spPr>
            <a:xfrm>
              <a:off x="998125" y="4515993"/>
              <a:ext cx="2232088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45775" y="4515993"/>
              <a:ext cx="1984438" cy="1385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404040"/>
                  </a:solidFill>
                  <a:latin typeface="微软雅黑"/>
                  <a:ea typeface="Microsoft YaHei"/>
                  <a:cs typeface="微软雅黑"/>
                </a:rPr>
                <a:t>输入内部建立全局关系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88111" y="3821049"/>
            <a:ext cx="2319814" cy="512254"/>
            <a:chOff x="888111" y="3821049"/>
            <a:chExt cx="2319814" cy="512254"/>
          </a:xfrm>
        </p:grpSpPr>
        <p:sp>
          <p:nvSpPr>
            <p:cNvPr id="15" name="Freeform 15"/>
            <p:cNvSpPr/>
            <p:nvPr/>
          </p:nvSpPr>
          <p:spPr>
            <a:xfrm>
              <a:off x="888111" y="3821049"/>
              <a:ext cx="2319718" cy="512254"/>
            </a:xfrm>
            <a:custGeom>
              <a:avLst/>
              <a:gdLst/>
              <a:ahLst/>
              <a:cxnLst/>
              <a:rect l="l" t="t" r="r" b="b"/>
              <a:pathLst>
                <a:path w="2319718" h="512254">
                  <a:moveTo>
                    <a:pt x="0" y="0"/>
                  </a:moveTo>
                  <a:lnTo>
                    <a:pt x="2319718" y="0"/>
                  </a:lnTo>
                  <a:lnTo>
                    <a:pt x="2319718" y="303752"/>
                  </a:lnTo>
                  <a:cubicBezTo>
                    <a:pt x="2319718" y="419576"/>
                    <a:pt x="2271236" y="512254"/>
                    <a:pt x="2213610" y="512254"/>
                  </a:cubicBezTo>
                  <a:lnTo>
                    <a:pt x="106108" y="512254"/>
                  </a:lnTo>
                  <a:cubicBezTo>
                    <a:pt x="47149" y="512254"/>
                    <a:pt x="0" y="419576"/>
                    <a:pt x="0" y="3037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8111" y="3821049"/>
              <a:ext cx="2319814" cy="5122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Encoder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9753" y="4551426"/>
            <a:ext cx="149733" cy="149733"/>
            <a:chOff x="1069753" y="4551426"/>
            <a:chExt cx="149733" cy="149733"/>
          </a:xfrm>
        </p:grpSpPr>
        <p:sp>
          <p:nvSpPr>
            <p:cNvPr id="18" name="Ellipse 18"/>
            <p:cNvSpPr/>
            <p:nvPr/>
          </p:nvSpPr>
          <p:spPr>
            <a:xfrm>
              <a:off x="1069753" y="4551426"/>
              <a:ext cx="149733" cy="14973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03186" y="4586192"/>
              <a:ext cx="84201" cy="80200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573304" y="3250502"/>
            <a:ext cx="2321147" cy="2635853"/>
            <a:chOff x="3573304" y="3250502"/>
            <a:chExt cx="2321147" cy="2635853"/>
          </a:xfrm>
        </p:grpSpPr>
        <p:sp>
          <p:nvSpPr>
            <p:cNvPr id="21" name="Rectangle 21"/>
            <p:cNvSpPr/>
            <p:nvPr/>
          </p:nvSpPr>
          <p:spPr>
            <a:xfrm>
              <a:off x="3573304" y="3250502"/>
              <a:ext cx="2321147" cy="2635853"/>
            </a:xfrm>
            <a:prstGeom prst="roundRect">
              <a:avLst>
                <a:gd name="adj" fmla="val 1231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13022" y="3250502"/>
              <a:ext cx="1441710" cy="2635853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>
            <a:off x="4434173" y="5484590"/>
            <a:ext cx="594360" cy="594360"/>
            <a:chOff x="4434173" y="5484590"/>
            <a:chExt cx="594360" cy="594360"/>
          </a:xfrm>
        </p:grpSpPr>
        <p:sp>
          <p:nvSpPr>
            <p:cNvPr id="24" name="Freeform 24"/>
            <p:cNvSpPr/>
            <p:nvPr/>
          </p:nvSpPr>
          <p:spPr>
            <a:xfrm>
              <a:off x="4434173" y="548459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594360" y="297180"/>
                  </a:moveTo>
                  <a:cubicBezTo>
                    <a:pt x="594360" y="461296"/>
                    <a:pt x="461296" y="594360"/>
                    <a:pt x="297180" y="594360"/>
                  </a:cubicBezTo>
                  <a:cubicBezTo>
                    <a:pt x="133064" y="594360"/>
                    <a:pt x="0" y="461296"/>
                    <a:pt x="0" y="297180"/>
                  </a:cubicBezTo>
                  <a:cubicBezTo>
                    <a:pt x="0" y="133064"/>
                    <a:pt x="133064" y="0"/>
                    <a:pt x="297180" y="0"/>
                  </a:cubicBezTo>
                  <a:cubicBezTo>
                    <a:pt x="461296" y="0"/>
                    <a:pt x="594360" y="133064"/>
                    <a:pt x="594360" y="297180"/>
                  </a:cubicBezTo>
                  <a:close/>
                </a:path>
              </a:pathLst>
            </a:custGeom>
            <a:solidFill>
              <a:srgbClr val="7561D6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642056" y="5682552"/>
              <a:ext cx="178594" cy="198437"/>
              <a:chOff x="4642056" y="5682552"/>
              <a:chExt cx="178594" cy="19843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691666" y="5682552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71041" y="5682552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642056" y="5702395"/>
                <a:ext cx="178594" cy="178594"/>
              </a:xfrm>
              <a:prstGeom prst="roundRect">
                <a:avLst>
                  <a:gd name="adj" fmla="val 11111"/>
                </a:avLst>
              </a:pr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42056" y="5761926"/>
                <a:ext cx="1785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9525">
                    <a:moveTo>
                      <a:pt x="0" y="0"/>
                    </a:moveTo>
                    <a:lnTo>
                      <a:pt x="178594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91666" y="580161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731353" y="580161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71041" y="580161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691666" y="584130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731353" y="584130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771041" y="584130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</p:grpSp>
      </p:grpSp>
      <p:grpSp>
        <p:nvGrpSpPr>
          <p:cNvPr id="39" name="Group 39"/>
          <p:cNvGrpSpPr/>
          <p:nvPr/>
        </p:nvGrpSpPr>
        <p:grpSpPr>
          <a:xfrm>
            <a:off x="3573304" y="2958941"/>
            <a:ext cx="2321147" cy="506254"/>
            <a:chOff x="3573304" y="2958941"/>
            <a:chExt cx="2321147" cy="506254"/>
          </a:xfrm>
        </p:grpSpPr>
        <p:sp>
          <p:nvSpPr>
            <p:cNvPr id="37" name="Freeform 37"/>
            <p:cNvSpPr/>
            <p:nvPr/>
          </p:nvSpPr>
          <p:spPr>
            <a:xfrm>
              <a:off x="3573304" y="2958941"/>
              <a:ext cx="2321052" cy="506159"/>
            </a:xfrm>
            <a:custGeom>
              <a:avLst/>
              <a:gdLst/>
              <a:ahLst/>
              <a:cxnLst/>
              <a:rect l="l" t="t" r="r" b="b"/>
              <a:pathLst>
                <a:path w="2321052" h="506159">
                  <a:moveTo>
                    <a:pt x="106204" y="0"/>
                  </a:moveTo>
                  <a:lnTo>
                    <a:pt x="2214848" y="0"/>
                  </a:lnTo>
                  <a:cubicBezTo>
                    <a:pt x="2273903" y="0"/>
                    <a:pt x="2321052" y="83344"/>
                    <a:pt x="2321052" y="187643"/>
                  </a:cubicBezTo>
                  <a:lnTo>
                    <a:pt x="2321052" y="506159"/>
                  </a:lnTo>
                  <a:lnTo>
                    <a:pt x="0" y="506159"/>
                  </a:lnTo>
                  <a:lnTo>
                    <a:pt x="0" y="187643"/>
                  </a:lnTo>
                  <a:cubicBezTo>
                    <a:pt x="0" y="83344"/>
                    <a:pt x="48482" y="0"/>
                    <a:pt x="106204" y="0"/>
                  </a:cubicBezTo>
                  <a:close/>
                </a:path>
              </a:pathLst>
            </a:custGeom>
            <a:solidFill>
              <a:srgbClr val="7561D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73304" y="2958941"/>
              <a:ext cx="2321147" cy="5062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Masked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606165" y="1379506"/>
            <a:ext cx="2188654" cy="1385030"/>
            <a:chOff x="3606165" y="1379506"/>
            <a:chExt cx="2188654" cy="1385030"/>
          </a:xfrm>
        </p:grpSpPr>
        <p:sp>
          <p:nvSpPr>
            <p:cNvPr id="40" name="Rectangle 40"/>
            <p:cNvSpPr/>
            <p:nvPr/>
          </p:nvSpPr>
          <p:spPr>
            <a:xfrm>
              <a:off x="3606165" y="1379506"/>
              <a:ext cx="2188654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53815" y="1379506"/>
              <a:ext cx="1941004" cy="1385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禁止看到未来 token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696462" y="1419796"/>
            <a:ext cx="140018" cy="140018"/>
            <a:chOff x="3696462" y="1419796"/>
            <a:chExt cx="140018" cy="140018"/>
          </a:xfrm>
        </p:grpSpPr>
        <p:sp>
          <p:nvSpPr>
            <p:cNvPr id="43" name="Ellipse 43"/>
            <p:cNvSpPr/>
            <p:nvPr/>
          </p:nvSpPr>
          <p:spPr>
            <a:xfrm>
              <a:off x="3696462" y="1419796"/>
              <a:ext cx="140018" cy="140018"/>
            </a:xfrm>
            <a:prstGeom prst="ellipse">
              <a:avLst/>
            </a:prstGeom>
            <a:solidFill>
              <a:srgbClr val="C4BCEE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726466" y="1449800"/>
              <a:ext cx="80010" cy="80010"/>
            </a:xfrm>
            <a:prstGeom prst="ellipse">
              <a:avLst/>
            </a:prstGeom>
            <a:solidFill>
              <a:srgbClr val="7561D6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284214" y="1412653"/>
            <a:ext cx="2320862" cy="2634234"/>
            <a:chOff x="6284214" y="1412653"/>
            <a:chExt cx="2320862" cy="2634234"/>
          </a:xfrm>
        </p:grpSpPr>
        <p:sp>
          <p:nvSpPr>
            <p:cNvPr id="46" name="Rectangle 46"/>
            <p:cNvSpPr/>
            <p:nvPr/>
          </p:nvSpPr>
          <p:spPr>
            <a:xfrm>
              <a:off x="6284214" y="1412653"/>
              <a:ext cx="2320862" cy="2634234"/>
            </a:xfrm>
            <a:prstGeom prst="roundRect">
              <a:avLst>
                <a:gd name="adj" fmla="val 1231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9118" y="1412653"/>
              <a:ext cx="2071053" cy="2634234"/>
            </a:xfrm>
            <a:prstGeom prst="rect">
              <a:avLst/>
            </a:prstGeom>
          </p:spPr>
        </p:pic>
      </p:grpSp>
      <p:grpSp>
        <p:nvGrpSpPr>
          <p:cNvPr id="53" name="Group 53"/>
          <p:cNvGrpSpPr/>
          <p:nvPr/>
        </p:nvGrpSpPr>
        <p:grpSpPr>
          <a:xfrm>
            <a:off x="7120509" y="1201579"/>
            <a:ext cx="614172" cy="594360"/>
            <a:chOff x="7120509" y="1201579"/>
            <a:chExt cx="614172" cy="594360"/>
          </a:xfrm>
        </p:grpSpPr>
        <p:sp>
          <p:nvSpPr>
            <p:cNvPr id="49" name="Freeform 49"/>
            <p:cNvSpPr/>
            <p:nvPr/>
          </p:nvSpPr>
          <p:spPr>
            <a:xfrm>
              <a:off x="7120509" y="1201579"/>
              <a:ext cx="614172" cy="594360"/>
            </a:xfrm>
            <a:custGeom>
              <a:avLst/>
              <a:gdLst/>
              <a:ahLst/>
              <a:cxnLst/>
              <a:rect l="l" t="t" r="r" b="b"/>
              <a:pathLst>
                <a:path w="614172" h="594360">
                  <a:moveTo>
                    <a:pt x="614172" y="297180"/>
                  </a:moveTo>
                  <a:cubicBezTo>
                    <a:pt x="614172" y="461296"/>
                    <a:pt x="476726" y="594360"/>
                    <a:pt x="307086" y="594360"/>
                  </a:cubicBezTo>
                  <a:cubicBezTo>
                    <a:pt x="137541" y="594360"/>
                    <a:pt x="0" y="461296"/>
                    <a:pt x="0" y="297180"/>
                  </a:cubicBezTo>
                  <a:cubicBezTo>
                    <a:pt x="0" y="133064"/>
                    <a:pt x="137541" y="0"/>
                    <a:pt x="307086" y="0"/>
                  </a:cubicBezTo>
                  <a:cubicBezTo>
                    <a:pt x="476726" y="0"/>
                    <a:pt x="614172" y="133064"/>
                    <a:pt x="614172" y="297180"/>
                  </a:cubicBez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48220" y="1409462"/>
              <a:ext cx="158750" cy="178594"/>
              <a:chOff x="7348220" y="1409462"/>
              <a:chExt cx="158750" cy="178594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377986" y="1409462"/>
                <a:ext cx="99219" cy="99219"/>
              </a:xfrm>
              <a:prstGeom prst="ellipse">
                <a:avLst/>
              </a:pr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348220" y="1508681"/>
                <a:ext cx="15875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79375">
                    <a:moveTo>
                      <a:pt x="158750" y="79375"/>
                    </a:moveTo>
                    <a:cubicBezTo>
                      <a:pt x="158750" y="35537"/>
                      <a:pt x="123213" y="0"/>
                      <a:pt x="79375" y="0"/>
                    </a:cubicBezTo>
                    <a:cubicBezTo>
                      <a:pt x="35537" y="0"/>
                      <a:pt x="0" y="35537"/>
                      <a:pt x="0" y="79375"/>
                    </a:cubicBez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</p:grpSp>
      </p:grpSp>
      <p:grpSp>
        <p:nvGrpSpPr>
          <p:cNvPr id="56" name="Group 56"/>
          <p:cNvGrpSpPr/>
          <p:nvPr/>
        </p:nvGrpSpPr>
        <p:grpSpPr>
          <a:xfrm>
            <a:off x="6279832" y="3825430"/>
            <a:ext cx="2325434" cy="509778"/>
            <a:chOff x="6279832" y="3825430"/>
            <a:chExt cx="2325434" cy="509778"/>
          </a:xfrm>
        </p:grpSpPr>
        <p:sp>
          <p:nvSpPr>
            <p:cNvPr id="54" name="Freeform 54"/>
            <p:cNvSpPr/>
            <p:nvPr/>
          </p:nvSpPr>
          <p:spPr>
            <a:xfrm>
              <a:off x="6279832" y="3825430"/>
              <a:ext cx="2325434" cy="509683"/>
            </a:xfrm>
            <a:custGeom>
              <a:avLst/>
              <a:gdLst/>
              <a:ahLst/>
              <a:cxnLst/>
              <a:rect l="l" t="t" r="r" b="b"/>
              <a:pathLst>
                <a:path w="2325434" h="509683">
                  <a:moveTo>
                    <a:pt x="0" y="0"/>
                  </a:moveTo>
                  <a:lnTo>
                    <a:pt x="2325434" y="0"/>
                  </a:lnTo>
                  <a:lnTo>
                    <a:pt x="2325434" y="302228"/>
                  </a:lnTo>
                  <a:cubicBezTo>
                    <a:pt x="2325434" y="417481"/>
                    <a:pt x="2276856" y="509683"/>
                    <a:pt x="2219039" y="509683"/>
                  </a:cubicBezTo>
                  <a:lnTo>
                    <a:pt x="106394" y="509683"/>
                  </a:lnTo>
                  <a:cubicBezTo>
                    <a:pt x="47339" y="509683"/>
                    <a:pt x="0" y="417481"/>
                    <a:pt x="0" y="30222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79832" y="3825430"/>
              <a:ext cx="2325434" cy="5097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Cross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384988" y="4515993"/>
            <a:ext cx="2222278" cy="1385030"/>
            <a:chOff x="6384988" y="4515993"/>
            <a:chExt cx="2222278" cy="1385030"/>
          </a:xfrm>
        </p:grpSpPr>
        <p:sp>
          <p:nvSpPr>
            <p:cNvPr id="57" name="Rectangle 57"/>
            <p:cNvSpPr/>
            <p:nvPr/>
          </p:nvSpPr>
          <p:spPr>
            <a:xfrm>
              <a:off x="6384988" y="4515993"/>
              <a:ext cx="2222278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32638" y="4515993"/>
              <a:ext cx="1974628" cy="1385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连接编码器与解码器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470523" y="4556284"/>
            <a:ext cx="140018" cy="140018"/>
            <a:chOff x="6470523" y="4556284"/>
            <a:chExt cx="140018" cy="140018"/>
          </a:xfrm>
        </p:grpSpPr>
        <p:sp>
          <p:nvSpPr>
            <p:cNvPr id="60" name="Ellipse 60"/>
            <p:cNvSpPr/>
            <p:nvPr/>
          </p:nvSpPr>
          <p:spPr>
            <a:xfrm>
              <a:off x="6470523" y="4556284"/>
              <a:ext cx="140018" cy="14001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500527" y="4586288"/>
              <a:ext cx="80010" cy="80010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8927687" y="3250502"/>
            <a:ext cx="2329339" cy="2629090"/>
            <a:chOff x="8927687" y="3250502"/>
            <a:chExt cx="2329339" cy="2629090"/>
          </a:xfrm>
        </p:grpSpPr>
        <p:sp>
          <p:nvSpPr>
            <p:cNvPr id="63" name="Rectangle 63"/>
            <p:cNvSpPr/>
            <p:nvPr/>
          </p:nvSpPr>
          <p:spPr>
            <a:xfrm>
              <a:off x="8927687" y="3250502"/>
              <a:ext cx="2329339" cy="2629090"/>
            </a:xfrm>
            <a:prstGeom prst="roundRect">
              <a:avLst>
                <a:gd name="adj" fmla="val 1227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93696" y="3250502"/>
              <a:ext cx="1797321" cy="2629090"/>
            </a:xfrm>
            <a:prstGeom prst="rect">
              <a:avLst/>
            </a:prstGeom>
          </p:spPr>
        </p:pic>
      </p:grpSp>
      <p:grpSp>
        <p:nvGrpSpPr>
          <p:cNvPr id="71" name="Group 71"/>
          <p:cNvGrpSpPr/>
          <p:nvPr/>
        </p:nvGrpSpPr>
        <p:grpSpPr>
          <a:xfrm>
            <a:off x="9782842" y="5484590"/>
            <a:ext cx="615601" cy="594360"/>
            <a:chOff x="9782842" y="5484590"/>
            <a:chExt cx="615601" cy="594360"/>
          </a:xfrm>
        </p:grpSpPr>
        <p:sp>
          <p:nvSpPr>
            <p:cNvPr id="66" name="Freeform 66"/>
            <p:cNvSpPr/>
            <p:nvPr/>
          </p:nvSpPr>
          <p:spPr>
            <a:xfrm>
              <a:off x="9782842" y="5484590"/>
              <a:ext cx="615601" cy="594360"/>
            </a:xfrm>
            <a:custGeom>
              <a:avLst/>
              <a:gdLst/>
              <a:ahLst/>
              <a:cxnLst/>
              <a:rect l="l" t="t" r="r" b="b"/>
              <a:pathLst>
                <a:path w="615601" h="594360">
                  <a:moveTo>
                    <a:pt x="615601" y="297180"/>
                  </a:moveTo>
                  <a:cubicBezTo>
                    <a:pt x="615601" y="461296"/>
                    <a:pt x="477774" y="594360"/>
                    <a:pt x="307848" y="594360"/>
                  </a:cubicBezTo>
                  <a:cubicBezTo>
                    <a:pt x="137827" y="594360"/>
                    <a:pt x="0" y="461296"/>
                    <a:pt x="0" y="297180"/>
                  </a:cubicBezTo>
                  <a:cubicBezTo>
                    <a:pt x="0" y="133064"/>
                    <a:pt x="137827" y="0"/>
                    <a:pt x="307848" y="0"/>
                  </a:cubicBezTo>
                  <a:cubicBezTo>
                    <a:pt x="477774" y="0"/>
                    <a:pt x="615601" y="133064"/>
                    <a:pt x="615601" y="297180"/>
                  </a:cubicBezTo>
                  <a:close/>
                </a:path>
              </a:pathLst>
            </a:custGeom>
            <a:solidFill>
              <a:srgbClr val="6A69B6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9991471" y="5692473"/>
              <a:ext cx="198438" cy="178594"/>
              <a:chOff x="9991471" y="5692473"/>
              <a:chExt cx="198438" cy="1785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10090690" y="5732161"/>
                <a:ext cx="9525" cy="1389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8906">
                    <a:moveTo>
                      <a:pt x="0" y="0"/>
                    </a:moveTo>
                    <a:lnTo>
                      <a:pt x="0" y="138906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991471" y="5692473"/>
                <a:ext cx="99219" cy="178594"/>
              </a:xfrm>
              <a:custGeom>
                <a:avLst/>
                <a:gdLst/>
                <a:ahLst/>
                <a:cxnLst/>
                <a:rect l="l" t="t" r="r" b="b"/>
                <a:pathLst>
                  <a:path w="99219" h="178594">
                    <a:moveTo>
                      <a:pt x="9922" y="148828"/>
                    </a:moveTo>
                    <a:cubicBezTo>
                      <a:pt x="4442" y="148828"/>
                      <a:pt x="0" y="144386"/>
                      <a:pt x="0" y="138906"/>
                    </a:cubicBezTo>
                    <a:lnTo>
                      <a:pt x="0" y="9922"/>
                    </a:lnTo>
                    <a:cubicBezTo>
                      <a:pt x="0" y="4442"/>
                      <a:pt x="4442" y="0"/>
                      <a:pt x="9922" y="0"/>
                    </a:cubicBezTo>
                    <a:lnTo>
                      <a:pt x="59531" y="0"/>
                    </a:lnTo>
                    <a:cubicBezTo>
                      <a:pt x="81450" y="0"/>
                      <a:pt x="99219" y="17769"/>
                      <a:pt x="99219" y="39687"/>
                    </a:cubicBezTo>
                    <a:lnTo>
                      <a:pt x="99219" y="178594"/>
                    </a:lnTo>
                    <a:cubicBezTo>
                      <a:pt x="99219" y="156675"/>
                      <a:pt x="81450" y="138906"/>
                      <a:pt x="59531" y="138906"/>
                    </a:cubicBezTo>
                    <a:close/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0090690" y="5692473"/>
                <a:ext cx="99219" cy="178594"/>
              </a:xfrm>
              <a:custGeom>
                <a:avLst/>
                <a:gdLst/>
                <a:ahLst/>
                <a:cxnLst/>
                <a:rect l="l" t="t" r="r" b="b"/>
                <a:pathLst>
                  <a:path w="99219" h="178594">
                    <a:moveTo>
                      <a:pt x="89297" y="148828"/>
                    </a:moveTo>
                    <a:cubicBezTo>
                      <a:pt x="94777" y="148828"/>
                      <a:pt x="99219" y="144386"/>
                      <a:pt x="99219" y="138906"/>
                    </a:cubicBezTo>
                    <a:lnTo>
                      <a:pt x="99219" y="9922"/>
                    </a:lnTo>
                    <a:cubicBezTo>
                      <a:pt x="99219" y="4442"/>
                      <a:pt x="94777" y="0"/>
                      <a:pt x="89297" y="0"/>
                    </a:cubicBezTo>
                    <a:lnTo>
                      <a:pt x="39688" y="0"/>
                    </a:lnTo>
                    <a:cubicBezTo>
                      <a:pt x="17769" y="0"/>
                      <a:pt x="0" y="17769"/>
                      <a:pt x="0" y="39687"/>
                    </a:cubicBezTo>
                    <a:lnTo>
                      <a:pt x="0" y="178594"/>
                    </a:lnTo>
                    <a:cubicBezTo>
                      <a:pt x="0" y="156675"/>
                      <a:pt x="17769" y="138906"/>
                      <a:pt x="39688" y="138906"/>
                    </a:cubicBezTo>
                    <a:close/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</p:grpSp>
      </p:grpSp>
      <p:grpSp>
        <p:nvGrpSpPr>
          <p:cNvPr id="74" name="Group 74"/>
          <p:cNvGrpSpPr/>
          <p:nvPr/>
        </p:nvGrpSpPr>
        <p:grpSpPr>
          <a:xfrm>
            <a:off x="8927687" y="2958941"/>
            <a:ext cx="2329339" cy="509683"/>
            <a:chOff x="8927687" y="2958941"/>
            <a:chExt cx="2329339" cy="509683"/>
          </a:xfrm>
        </p:grpSpPr>
        <p:sp>
          <p:nvSpPr>
            <p:cNvPr id="72" name="Freeform 72"/>
            <p:cNvSpPr/>
            <p:nvPr/>
          </p:nvSpPr>
          <p:spPr>
            <a:xfrm>
              <a:off x="8927687" y="2958941"/>
              <a:ext cx="2329339" cy="509683"/>
            </a:xfrm>
            <a:custGeom>
              <a:avLst/>
              <a:gdLst/>
              <a:ahLst/>
              <a:cxnLst/>
              <a:rect l="l" t="t" r="r" b="b"/>
              <a:pathLst>
                <a:path w="2329339" h="509683">
                  <a:moveTo>
                    <a:pt x="106585" y="0"/>
                  </a:moveTo>
                  <a:lnTo>
                    <a:pt x="2222754" y="0"/>
                  </a:lnTo>
                  <a:cubicBezTo>
                    <a:pt x="2281999" y="0"/>
                    <a:pt x="2329339" y="83915"/>
                    <a:pt x="2329339" y="188976"/>
                  </a:cubicBezTo>
                  <a:lnTo>
                    <a:pt x="2329339" y="509683"/>
                  </a:lnTo>
                  <a:lnTo>
                    <a:pt x="0" y="509683"/>
                  </a:lnTo>
                  <a:lnTo>
                    <a:pt x="0" y="188976"/>
                  </a:lnTo>
                  <a:cubicBezTo>
                    <a:pt x="0" y="83915"/>
                    <a:pt x="48673" y="0"/>
                    <a:pt x="106585" y="0"/>
                  </a:cubicBezTo>
                  <a:close/>
                </a:path>
              </a:pathLst>
            </a:custGeom>
            <a:solidFill>
              <a:srgbClr val="6A69B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927687" y="2958941"/>
              <a:ext cx="2329339" cy="509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分工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983408" y="1366552"/>
            <a:ext cx="2198084" cy="1385030"/>
            <a:chOff x="8983408" y="1366552"/>
            <a:chExt cx="2198084" cy="1385030"/>
          </a:xfrm>
        </p:grpSpPr>
        <p:sp>
          <p:nvSpPr>
            <p:cNvPr id="75" name="Rectangle 75"/>
            <p:cNvSpPr/>
            <p:nvPr/>
          </p:nvSpPr>
          <p:spPr>
            <a:xfrm>
              <a:off x="8983408" y="1366552"/>
              <a:ext cx="2198084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231058" y="1366552"/>
              <a:ext cx="1950434" cy="1385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三种 attention 协作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73706" y="1406843"/>
            <a:ext cx="140018" cy="140018"/>
            <a:chOff x="9073706" y="1406843"/>
            <a:chExt cx="140018" cy="140018"/>
          </a:xfrm>
        </p:grpSpPr>
        <p:sp>
          <p:nvSpPr>
            <p:cNvPr id="78" name="Ellipse 78"/>
            <p:cNvSpPr/>
            <p:nvPr/>
          </p:nvSpPr>
          <p:spPr>
            <a:xfrm>
              <a:off x="9073706" y="1406843"/>
              <a:ext cx="140018" cy="14001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9103709" y="1436846"/>
              <a:ext cx="80010" cy="80010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</p:sp>
      </p:grpSp>
      <p:sp>
        <p:nvSpPr>
          <p:cNvPr id="81" name="Rectangle 8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4" name="Group 84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82" name="Rectangle 82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机制：三种 attention</a:t>
              </a:r>
            </a:p>
          </p:txBody>
        </p:sp>
      </p:grpSp>
      <p:sp>
        <p:nvSpPr>
          <p:cNvPr id="85" name="Line 85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86" name="Image 86"/>
          <p:cNvPicPr>
            <a:picLocks noChangeAspect="1"/>
          </p:cNvPicPr>
          <p:nvPr/>
        </p:nvPicPr>
        <p:blipFill>
          <a:blip r:embed="rId7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044339" y="3503009"/>
            <a:ext cx="3185446" cy="2344198"/>
            <a:chOff x="8044339" y="3503009"/>
            <a:chExt cx="3185446" cy="2344198"/>
          </a:xfrm>
        </p:grpSpPr>
        <p:sp>
          <p:nvSpPr>
            <p:cNvPr id="3" name="Freeform 3"/>
            <p:cNvSpPr/>
            <p:nvPr/>
          </p:nvSpPr>
          <p:spPr>
            <a:xfrm>
              <a:off x="8044339" y="3503009"/>
              <a:ext cx="3185446" cy="2344198"/>
            </a:xfrm>
            <a:custGeom>
              <a:avLst/>
              <a:gdLst/>
              <a:ahLst/>
              <a:cxnLst/>
              <a:rect l="l" t="t" r="r" b="b"/>
              <a:pathLst>
                <a:path w="3185446" h="2344198">
                  <a:moveTo>
                    <a:pt x="0" y="0"/>
                  </a:moveTo>
                  <a:lnTo>
                    <a:pt x="3185446" y="0"/>
                  </a:lnTo>
                  <a:lnTo>
                    <a:pt x="3185446" y="2344198"/>
                  </a:lnTo>
                  <a:lnTo>
                    <a:pt x="0" y="2344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01536" dist="38100" dir="16200000" algn="ctr" rotWithShape="0">
                <a:srgbClr val="000000">
                  <a:alpha val="6750"/>
                </a:srgbClr>
              </a:outerShdw>
            </a:effectLst>
          </p:spPr>
        </p:sp>
      </p:grpSp>
      <p:grpSp>
        <p:nvGrpSpPr>
          <p:cNvPr id="6" name="Group 6"/>
          <p:cNvGrpSpPr/>
          <p:nvPr/>
        </p:nvGrpSpPr>
        <p:grpSpPr>
          <a:xfrm>
            <a:off x="4490466" y="3500247"/>
            <a:ext cx="3185446" cy="2346960"/>
            <a:chOff x="4490466" y="3500247"/>
            <a:chExt cx="3185446" cy="2346960"/>
          </a:xfrm>
        </p:grpSpPr>
        <p:sp>
          <p:nvSpPr>
            <p:cNvPr id="5" name="Freeform 5"/>
            <p:cNvSpPr/>
            <p:nvPr/>
          </p:nvSpPr>
          <p:spPr>
            <a:xfrm>
              <a:off x="4490466" y="3500247"/>
              <a:ext cx="3185446" cy="2346960"/>
            </a:xfrm>
            <a:custGeom>
              <a:avLst/>
              <a:gdLst/>
              <a:ahLst/>
              <a:cxnLst/>
              <a:rect l="l" t="t" r="r" b="b"/>
              <a:pathLst>
                <a:path w="3185446" h="2346960">
                  <a:moveTo>
                    <a:pt x="0" y="0"/>
                  </a:moveTo>
                  <a:lnTo>
                    <a:pt x="3185446" y="0"/>
                  </a:lnTo>
                  <a:lnTo>
                    <a:pt x="3185446" y="2346960"/>
                  </a:lnTo>
                  <a:lnTo>
                    <a:pt x="0" y="23469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01536" dist="38100" dir="16200000" algn="ctr" rotWithShape="0">
                <a:srgbClr val="000000">
                  <a:alpha val="6750"/>
                </a:srgbClr>
              </a:outerShdw>
            </a:effectLst>
          </p:spPr>
        </p:sp>
      </p:grpSp>
      <p:grpSp>
        <p:nvGrpSpPr>
          <p:cNvPr id="9" name="Group 9"/>
          <p:cNvGrpSpPr/>
          <p:nvPr/>
        </p:nvGrpSpPr>
        <p:grpSpPr>
          <a:xfrm>
            <a:off x="924020" y="2354104"/>
            <a:ext cx="3184588" cy="998315"/>
            <a:chOff x="924020" y="2354104"/>
            <a:chExt cx="3184588" cy="998315"/>
          </a:xfrm>
        </p:grpSpPr>
        <p:sp>
          <p:nvSpPr>
            <p:cNvPr id="7" name="Rectangle 7"/>
            <p:cNvSpPr/>
            <p:nvPr/>
          </p:nvSpPr>
          <p:spPr>
            <a:xfrm>
              <a:off x="924020" y="2354104"/>
              <a:ext cx="3184588" cy="998315"/>
            </a:xfrm>
            <a:prstGeom prst="roundRect">
              <a:avLst>
                <a:gd name="adj" fmla="val 2862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020" y="2771710"/>
              <a:ext cx="3184588" cy="163103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923068" y="2210848"/>
            <a:ext cx="3185541" cy="1141571"/>
            <a:chOff x="923068" y="2210848"/>
            <a:chExt cx="3185541" cy="1141571"/>
          </a:xfrm>
        </p:grpSpPr>
        <p:sp>
          <p:nvSpPr>
            <p:cNvPr id="10" name="Freeform 10"/>
            <p:cNvSpPr/>
            <p:nvPr/>
          </p:nvSpPr>
          <p:spPr>
            <a:xfrm>
              <a:off x="923068" y="2210848"/>
              <a:ext cx="3185541" cy="1141571"/>
            </a:xfrm>
            <a:custGeom>
              <a:avLst/>
              <a:gdLst/>
              <a:ahLst/>
              <a:cxnLst/>
              <a:rect l="l" t="t" r="r" b="b"/>
              <a:pathLst>
                <a:path w="3185541" h="1141571">
                  <a:moveTo>
                    <a:pt x="1800511" y="143637"/>
                  </a:moveTo>
                  <a:lnTo>
                    <a:pt x="1593723" y="0"/>
                  </a:lnTo>
                  <a:lnTo>
                    <a:pt x="1385030" y="143637"/>
                  </a:lnTo>
                  <a:lnTo>
                    <a:pt x="0" y="143637"/>
                  </a:lnTo>
                  <a:lnTo>
                    <a:pt x="0" y="1141571"/>
                  </a:lnTo>
                  <a:lnTo>
                    <a:pt x="3185541" y="1141571"/>
                  </a:lnTo>
                  <a:lnTo>
                    <a:pt x="3185541" y="143637"/>
                  </a:lnTo>
                  <a:close/>
                </a:path>
              </a:pathLst>
            </a:custGeom>
            <a:solidFill>
              <a:srgbClr val="912C8D">
                <a:alpha val="49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491323" y="2354104"/>
            <a:ext cx="3185446" cy="998315"/>
            <a:chOff x="4491323" y="2354104"/>
            <a:chExt cx="3185446" cy="998315"/>
          </a:xfrm>
        </p:grpSpPr>
        <p:sp>
          <p:nvSpPr>
            <p:cNvPr id="12" name="Rectangle 12"/>
            <p:cNvSpPr/>
            <p:nvPr/>
          </p:nvSpPr>
          <p:spPr>
            <a:xfrm>
              <a:off x="4491323" y="2354104"/>
              <a:ext cx="3185446" cy="998315"/>
            </a:xfrm>
            <a:prstGeom prst="roundRect">
              <a:avLst>
                <a:gd name="adj" fmla="val 2862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1323" y="2701934"/>
              <a:ext cx="3185446" cy="302655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4491323" y="2210848"/>
            <a:ext cx="3185446" cy="1141571"/>
            <a:chOff x="4491323" y="2210848"/>
            <a:chExt cx="3185446" cy="1141571"/>
          </a:xfrm>
        </p:grpSpPr>
        <p:sp>
          <p:nvSpPr>
            <p:cNvPr id="15" name="Freeform 15"/>
            <p:cNvSpPr/>
            <p:nvPr/>
          </p:nvSpPr>
          <p:spPr>
            <a:xfrm>
              <a:off x="4491323" y="2210848"/>
              <a:ext cx="3185446" cy="1141571"/>
            </a:xfrm>
            <a:custGeom>
              <a:avLst/>
              <a:gdLst/>
              <a:ahLst/>
              <a:cxnLst/>
              <a:rect l="l" t="t" r="r" b="b"/>
              <a:pathLst>
                <a:path w="3185446" h="1141571">
                  <a:moveTo>
                    <a:pt x="1800511" y="143637"/>
                  </a:moveTo>
                  <a:lnTo>
                    <a:pt x="1591818" y="0"/>
                  </a:lnTo>
                  <a:lnTo>
                    <a:pt x="1385030" y="143637"/>
                  </a:lnTo>
                  <a:lnTo>
                    <a:pt x="0" y="143637"/>
                  </a:lnTo>
                  <a:lnTo>
                    <a:pt x="0" y="1141571"/>
                  </a:lnTo>
                  <a:lnTo>
                    <a:pt x="3185446" y="1141571"/>
                  </a:lnTo>
                  <a:lnTo>
                    <a:pt x="3185446" y="143637"/>
                  </a:lnTo>
                  <a:close/>
                </a:path>
              </a:pathLst>
            </a:custGeom>
            <a:solidFill>
              <a:srgbClr val="68A4C6">
                <a:alpha val="48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044339" y="2354104"/>
            <a:ext cx="3185446" cy="998315"/>
            <a:chOff x="8044339" y="2354104"/>
            <a:chExt cx="3185446" cy="998315"/>
          </a:xfrm>
        </p:grpSpPr>
        <p:sp>
          <p:nvSpPr>
            <p:cNvPr id="17" name="Rectangle 17"/>
            <p:cNvSpPr/>
            <p:nvPr/>
          </p:nvSpPr>
          <p:spPr>
            <a:xfrm>
              <a:off x="8044339" y="2354104"/>
              <a:ext cx="3185446" cy="998315"/>
            </a:xfrm>
            <a:prstGeom prst="roundRect">
              <a:avLst>
                <a:gd name="adj" fmla="val 2862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44339" y="2711054"/>
              <a:ext cx="3185446" cy="284415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923068" y="3511296"/>
            <a:ext cx="3185541" cy="2420302"/>
            <a:chOff x="923068" y="3511296"/>
            <a:chExt cx="3185541" cy="2420302"/>
          </a:xfrm>
        </p:grpSpPr>
        <p:sp>
          <p:nvSpPr>
            <p:cNvPr id="20" name="Freeform 20"/>
            <p:cNvSpPr/>
            <p:nvPr/>
          </p:nvSpPr>
          <p:spPr>
            <a:xfrm>
              <a:off x="923068" y="3511296"/>
              <a:ext cx="3185541" cy="2420302"/>
            </a:xfrm>
            <a:custGeom>
              <a:avLst/>
              <a:gdLst/>
              <a:ahLst/>
              <a:cxnLst/>
              <a:rect l="l" t="t" r="r" b="b"/>
              <a:pathLst>
                <a:path w="3185541" h="2420302">
                  <a:moveTo>
                    <a:pt x="0" y="0"/>
                  </a:moveTo>
                  <a:lnTo>
                    <a:pt x="3185541" y="0"/>
                  </a:lnTo>
                  <a:lnTo>
                    <a:pt x="3185541" y="2420302"/>
                  </a:lnTo>
                  <a:lnTo>
                    <a:pt x="0" y="24203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01536" dist="38100" dir="16200000" algn="ctr" rotWithShape="0">
                <a:srgbClr val="000000">
                  <a:alpha val="6750"/>
                </a:srgbClr>
              </a:outerShdw>
            </a:effectLst>
          </p:spPr>
        </p:sp>
      </p:grpSp>
      <p:grpSp>
        <p:nvGrpSpPr>
          <p:cNvPr id="23" name="Group 23"/>
          <p:cNvGrpSpPr/>
          <p:nvPr/>
        </p:nvGrpSpPr>
        <p:grpSpPr>
          <a:xfrm>
            <a:off x="919162" y="1400937"/>
            <a:ext cx="10306717" cy="497300"/>
            <a:chOff x="919162" y="1400937"/>
            <a:chExt cx="10306717" cy="497300"/>
          </a:xfrm>
        </p:grpSpPr>
        <p:sp>
          <p:nvSpPr>
            <p:cNvPr id="22" name="Freeform 22"/>
            <p:cNvSpPr/>
            <p:nvPr/>
          </p:nvSpPr>
          <p:spPr>
            <a:xfrm>
              <a:off x="919162" y="1400937"/>
              <a:ext cx="10306717" cy="497300"/>
            </a:xfrm>
            <a:custGeom>
              <a:avLst/>
              <a:gdLst/>
              <a:ahLst/>
              <a:cxnLst/>
              <a:rect l="l" t="t" r="r" b="b"/>
              <a:pathLst>
                <a:path w="10306717" h="497300">
                  <a:moveTo>
                    <a:pt x="10306717" y="248698"/>
                  </a:moveTo>
                  <a:lnTo>
                    <a:pt x="10069449" y="0"/>
                  </a:lnTo>
                  <a:lnTo>
                    <a:pt x="10069449" y="117919"/>
                  </a:lnTo>
                  <a:lnTo>
                    <a:pt x="0" y="117919"/>
                  </a:lnTo>
                  <a:lnTo>
                    <a:pt x="0" y="379381"/>
                  </a:lnTo>
                  <a:lnTo>
                    <a:pt x="10069449" y="379381"/>
                  </a:lnTo>
                  <a:lnTo>
                    <a:pt x="10069449" y="497300"/>
                  </a:lnTo>
                  <a:close/>
                </a:path>
              </a:pathLst>
            </a:custGeom>
            <a:gradFill>
              <a:gsLst>
                <a:gs pos="0">
                  <a:srgbClr val="912C8D"/>
                </a:gs>
                <a:gs pos="99000">
                  <a:srgbClr val="6A69B6"/>
                </a:gs>
              </a:gsLst>
              <a:lin ang="10800000" scaled="1"/>
            </a:gra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2097691" y="1218724"/>
            <a:ext cx="830104" cy="830104"/>
            <a:chOff x="2097691" y="1218724"/>
            <a:chExt cx="830104" cy="830104"/>
          </a:xfrm>
        </p:grpSpPr>
        <p:sp>
          <p:nvSpPr>
            <p:cNvPr id="24" name="Freeform 24"/>
            <p:cNvSpPr/>
            <p:nvPr/>
          </p:nvSpPr>
          <p:spPr>
            <a:xfrm>
              <a:off x="2097691" y="1218724"/>
              <a:ext cx="830104" cy="830104"/>
            </a:xfrm>
            <a:custGeom>
              <a:avLst/>
              <a:gdLst/>
              <a:ahLst/>
              <a:cxnLst/>
              <a:rect l="l" t="t" r="r" b="b"/>
              <a:pathLst>
                <a:path w="830104" h="830104">
                  <a:moveTo>
                    <a:pt x="830104" y="415004"/>
                  </a:moveTo>
                  <a:cubicBezTo>
                    <a:pt x="830104" y="644271"/>
                    <a:pt x="644271" y="830104"/>
                    <a:pt x="415004" y="830104"/>
                  </a:cubicBezTo>
                  <a:cubicBezTo>
                    <a:pt x="185833" y="830104"/>
                    <a:pt x="0" y="644271"/>
                    <a:pt x="0" y="415004"/>
                  </a:cubicBezTo>
                  <a:cubicBezTo>
                    <a:pt x="0" y="185833"/>
                    <a:pt x="185833" y="0"/>
                    <a:pt x="415004" y="0"/>
                  </a:cubicBezTo>
                  <a:cubicBezTo>
                    <a:pt x="644271" y="0"/>
                    <a:pt x="830104" y="185833"/>
                    <a:pt x="830104" y="415004"/>
                  </a:cubicBezTo>
                  <a:close/>
                </a:path>
              </a:pathLst>
            </a:custGeom>
            <a:solidFill>
              <a:srgbClr val="912C8D"/>
            </a:solidFill>
            <a:ln w="38100" cap="flat">
              <a:solidFill>
                <a:srgbClr val="FFFFFF"/>
              </a:solidFill>
              <a:miter lim="800000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97691" y="1218724"/>
              <a:ext cx="830008" cy="830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FFN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9162" y="5847207"/>
            <a:ext cx="3185446" cy="163068"/>
            <a:chOff x="919162" y="5847207"/>
            <a:chExt cx="3185446" cy="163068"/>
          </a:xfrm>
        </p:grpSpPr>
        <p:sp>
          <p:nvSpPr>
            <p:cNvPr id="27" name="Freeform 27"/>
            <p:cNvSpPr/>
            <p:nvPr/>
          </p:nvSpPr>
          <p:spPr>
            <a:xfrm>
              <a:off x="919162" y="5847207"/>
              <a:ext cx="3185446" cy="163068"/>
            </a:xfrm>
            <a:custGeom>
              <a:avLst/>
              <a:gdLst/>
              <a:ahLst/>
              <a:cxnLst/>
              <a:rect l="l" t="t" r="r" b="b"/>
              <a:pathLst>
                <a:path w="3185446" h="163068">
                  <a:moveTo>
                    <a:pt x="0" y="0"/>
                  </a:moveTo>
                  <a:lnTo>
                    <a:pt x="3185446" y="0"/>
                  </a:lnTo>
                  <a:lnTo>
                    <a:pt x="3185446" y="163068"/>
                  </a:lnTo>
                  <a:lnTo>
                    <a:pt x="0" y="163068"/>
                  </a:ln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044339" y="2220087"/>
            <a:ext cx="3185446" cy="1132332"/>
            <a:chOff x="8044339" y="2220087"/>
            <a:chExt cx="3185446" cy="1132332"/>
          </a:xfrm>
        </p:grpSpPr>
        <p:sp>
          <p:nvSpPr>
            <p:cNvPr id="29" name="Freeform 29"/>
            <p:cNvSpPr/>
            <p:nvPr/>
          </p:nvSpPr>
          <p:spPr>
            <a:xfrm>
              <a:off x="8044339" y="2220087"/>
              <a:ext cx="3185446" cy="1132332"/>
            </a:xfrm>
            <a:custGeom>
              <a:avLst/>
              <a:gdLst/>
              <a:ahLst/>
              <a:cxnLst/>
              <a:rect l="l" t="t" r="r" b="b"/>
              <a:pathLst>
                <a:path w="3185446" h="1132332">
                  <a:moveTo>
                    <a:pt x="1800511" y="142399"/>
                  </a:moveTo>
                  <a:lnTo>
                    <a:pt x="1591818" y="0"/>
                  </a:lnTo>
                  <a:lnTo>
                    <a:pt x="1384935" y="142399"/>
                  </a:lnTo>
                  <a:lnTo>
                    <a:pt x="0" y="142399"/>
                  </a:lnTo>
                  <a:lnTo>
                    <a:pt x="0" y="1132332"/>
                  </a:lnTo>
                  <a:lnTo>
                    <a:pt x="3185446" y="1132332"/>
                  </a:lnTo>
                  <a:lnTo>
                    <a:pt x="3185446" y="142399"/>
                  </a:lnTo>
                  <a:close/>
                </a:path>
              </a:pathLst>
            </a:custGeom>
            <a:solidFill>
              <a:srgbClr val="6A69B6">
                <a:alpha val="39000"/>
              </a:srgbClr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473613" y="3798760"/>
            <a:ext cx="1922526" cy="311468"/>
            <a:chOff x="1473613" y="3798760"/>
            <a:chExt cx="1922526" cy="311468"/>
          </a:xfrm>
        </p:grpSpPr>
        <p:sp>
          <p:nvSpPr>
            <p:cNvPr id="31" name="Rectangle 31"/>
            <p:cNvSpPr/>
            <p:nvPr/>
          </p:nvSpPr>
          <p:spPr>
            <a:xfrm>
              <a:off x="1473613" y="3798760"/>
              <a:ext cx="1922526" cy="31146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73613" y="3798760"/>
              <a:ext cx="1922526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dmodel = 512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48728" y="4214527"/>
            <a:ext cx="2506504" cy="1385030"/>
            <a:chOff x="1248728" y="4214527"/>
            <a:chExt cx="2506504" cy="1385030"/>
          </a:xfrm>
        </p:grpSpPr>
        <p:sp>
          <p:nvSpPr>
            <p:cNvPr id="34" name="Rectangle 34"/>
            <p:cNvSpPr/>
            <p:nvPr/>
          </p:nvSpPr>
          <p:spPr>
            <a:xfrm>
              <a:off x="1248728" y="4214527"/>
              <a:ext cx="2506504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570034" y="4260252"/>
              <a:ext cx="107445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dff = 2048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70034" y="4793652"/>
              <a:ext cx="77997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sin/cos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121878" y="3756850"/>
            <a:ext cx="1922526" cy="311468"/>
            <a:chOff x="5121878" y="3756850"/>
            <a:chExt cx="1922526" cy="311468"/>
          </a:xfrm>
        </p:grpSpPr>
        <p:sp>
          <p:nvSpPr>
            <p:cNvPr id="38" name="Rectangle 38"/>
            <p:cNvSpPr/>
            <p:nvPr/>
          </p:nvSpPr>
          <p:spPr>
            <a:xfrm>
              <a:off x="5121878" y="3756850"/>
              <a:ext cx="1922526" cy="31146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121878" y="3756850"/>
              <a:ext cx="1922526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sin/cos 注入顺序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675751" y="3756850"/>
            <a:ext cx="1922526" cy="311468"/>
            <a:chOff x="8675751" y="3756850"/>
            <a:chExt cx="1922526" cy="311468"/>
          </a:xfrm>
        </p:grpSpPr>
        <p:sp>
          <p:nvSpPr>
            <p:cNvPr id="41" name="Rectangle 41"/>
            <p:cNvSpPr/>
            <p:nvPr/>
          </p:nvSpPr>
          <p:spPr>
            <a:xfrm>
              <a:off x="8675751" y="3756850"/>
              <a:ext cx="1922526" cy="31146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75751" y="3756850"/>
              <a:ext cx="1922526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6A69B6"/>
                  </a:solidFill>
                  <a:latin typeface="微软雅黑"/>
                  <a:ea typeface="Microsoft YaHei"/>
                  <a:cs typeface="微软雅黑"/>
                </a:rPr>
                <a:t>支持并行计算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90466" y="5847207"/>
            <a:ext cx="3185446" cy="163068"/>
            <a:chOff x="4490466" y="5847207"/>
            <a:chExt cx="3185446" cy="163068"/>
          </a:xfrm>
        </p:grpSpPr>
        <p:sp>
          <p:nvSpPr>
            <p:cNvPr id="44" name="Freeform 44"/>
            <p:cNvSpPr/>
            <p:nvPr/>
          </p:nvSpPr>
          <p:spPr>
            <a:xfrm>
              <a:off x="4490466" y="5847207"/>
              <a:ext cx="3185446" cy="163068"/>
            </a:xfrm>
            <a:custGeom>
              <a:avLst/>
              <a:gdLst/>
              <a:ahLst/>
              <a:cxnLst/>
              <a:rect l="l" t="t" r="r" b="b"/>
              <a:pathLst>
                <a:path w="3185446" h="163068">
                  <a:moveTo>
                    <a:pt x="0" y="0"/>
                  </a:moveTo>
                  <a:lnTo>
                    <a:pt x="3185446" y="0"/>
                  </a:lnTo>
                  <a:lnTo>
                    <a:pt x="3185446" y="163068"/>
                  </a:lnTo>
                  <a:lnTo>
                    <a:pt x="0" y="163068"/>
                  </a:ln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040434" y="5847207"/>
            <a:ext cx="3185446" cy="163068"/>
            <a:chOff x="8040434" y="5847207"/>
            <a:chExt cx="3185446" cy="163068"/>
          </a:xfrm>
        </p:grpSpPr>
        <p:sp>
          <p:nvSpPr>
            <p:cNvPr id="46" name="Freeform 46"/>
            <p:cNvSpPr/>
            <p:nvPr/>
          </p:nvSpPr>
          <p:spPr>
            <a:xfrm>
              <a:off x="8040434" y="5847207"/>
              <a:ext cx="3185446" cy="163068"/>
            </a:xfrm>
            <a:custGeom>
              <a:avLst/>
              <a:gdLst/>
              <a:ahLst/>
              <a:cxnLst/>
              <a:rect l="l" t="t" r="r" b="b"/>
              <a:pathLst>
                <a:path w="3185446" h="163068">
                  <a:moveTo>
                    <a:pt x="0" y="0"/>
                  </a:moveTo>
                  <a:lnTo>
                    <a:pt x="3185446" y="0"/>
                  </a:lnTo>
                  <a:lnTo>
                    <a:pt x="3185446" y="163068"/>
                  </a:lnTo>
                  <a:lnTo>
                    <a:pt x="0" y="163068"/>
                  </a:lnTo>
                  <a:close/>
                </a:path>
              </a:pathLst>
            </a:custGeom>
            <a:solidFill>
              <a:srgbClr val="6A69B6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668137" y="1218724"/>
            <a:ext cx="830008" cy="830104"/>
            <a:chOff x="5668137" y="1218724"/>
            <a:chExt cx="830008" cy="830104"/>
          </a:xfrm>
        </p:grpSpPr>
        <p:sp>
          <p:nvSpPr>
            <p:cNvPr id="48" name="Freeform 48"/>
            <p:cNvSpPr/>
            <p:nvPr/>
          </p:nvSpPr>
          <p:spPr>
            <a:xfrm>
              <a:off x="5668137" y="1218724"/>
              <a:ext cx="830008" cy="830104"/>
            </a:xfrm>
            <a:custGeom>
              <a:avLst/>
              <a:gdLst/>
              <a:ahLst/>
              <a:cxnLst/>
              <a:rect l="l" t="t" r="r" b="b"/>
              <a:pathLst>
                <a:path w="830008" h="830104">
                  <a:moveTo>
                    <a:pt x="830008" y="415004"/>
                  </a:moveTo>
                  <a:cubicBezTo>
                    <a:pt x="830008" y="644271"/>
                    <a:pt x="644271" y="830104"/>
                    <a:pt x="415004" y="830104"/>
                  </a:cubicBezTo>
                  <a:cubicBezTo>
                    <a:pt x="185833" y="830104"/>
                    <a:pt x="0" y="644271"/>
                    <a:pt x="0" y="415004"/>
                  </a:cubicBezTo>
                  <a:cubicBezTo>
                    <a:pt x="0" y="185833"/>
                    <a:pt x="185833" y="0"/>
                    <a:pt x="415004" y="0"/>
                  </a:cubicBezTo>
                  <a:cubicBezTo>
                    <a:pt x="644271" y="0"/>
                    <a:pt x="830008" y="185833"/>
                    <a:pt x="830008" y="415004"/>
                  </a:cubicBezTo>
                  <a:close/>
                </a:path>
              </a:pathLst>
            </a:custGeom>
            <a:solidFill>
              <a:srgbClr val="68A4C6"/>
            </a:solidFill>
            <a:ln w="38100" cap="flat">
              <a:solidFill>
                <a:srgbClr val="FFFFFF"/>
              </a:solidFill>
              <a:miter lim="800000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68137" y="1218724"/>
              <a:ext cx="830008" cy="830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PE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222010" y="1218724"/>
            <a:ext cx="830104" cy="830104"/>
            <a:chOff x="9222010" y="1218724"/>
            <a:chExt cx="830104" cy="830104"/>
          </a:xfrm>
        </p:grpSpPr>
        <p:sp>
          <p:nvSpPr>
            <p:cNvPr id="51" name="Freeform 51"/>
            <p:cNvSpPr/>
            <p:nvPr/>
          </p:nvSpPr>
          <p:spPr>
            <a:xfrm>
              <a:off x="9222010" y="1218724"/>
              <a:ext cx="830104" cy="830104"/>
            </a:xfrm>
            <a:custGeom>
              <a:avLst/>
              <a:gdLst/>
              <a:ahLst/>
              <a:cxnLst/>
              <a:rect l="l" t="t" r="r" b="b"/>
              <a:pathLst>
                <a:path w="830104" h="830104">
                  <a:moveTo>
                    <a:pt x="830104" y="415004"/>
                  </a:moveTo>
                  <a:cubicBezTo>
                    <a:pt x="830104" y="644271"/>
                    <a:pt x="644271" y="830104"/>
                    <a:pt x="415004" y="830104"/>
                  </a:cubicBezTo>
                  <a:cubicBezTo>
                    <a:pt x="185833" y="830104"/>
                    <a:pt x="0" y="644271"/>
                    <a:pt x="0" y="415004"/>
                  </a:cubicBezTo>
                  <a:cubicBezTo>
                    <a:pt x="0" y="185833"/>
                    <a:pt x="185833" y="0"/>
                    <a:pt x="415004" y="0"/>
                  </a:cubicBezTo>
                  <a:cubicBezTo>
                    <a:pt x="644271" y="0"/>
                    <a:pt x="830104" y="185833"/>
                    <a:pt x="830104" y="415004"/>
                  </a:cubicBezTo>
                  <a:close/>
                </a:path>
              </a:pathLst>
            </a:custGeom>
            <a:solidFill>
              <a:srgbClr val="6A69B6"/>
            </a:solidFill>
            <a:ln w="38100" cap="flat">
              <a:solidFill>
                <a:srgbClr val="FFFFFF"/>
              </a:solidFill>
              <a:miter lim="800000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2010" y="1218724"/>
              <a:ext cx="830008" cy="830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训练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831556" y="4214527"/>
            <a:ext cx="2506504" cy="1346930"/>
            <a:chOff x="4831556" y="4214527"/>
            <a:chExt cx="2506504" cy="1346930"/>
          </a:xfrm>
        </p:grpSpPr>
        <p:sp>
          <p:nvSpPr>
            <p:cNvPr id="54" name="Rectangle 54"/>
            <p:cNvSpPr/>
            <p:nvPr/>
          </p:nvSpPr>
          <p:spPr>
            <a:xfrm>
              <a:off x="4831556" y="4214527"/>
              <a:ext cx="2506504" cy="13469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152863" y="4260252"/>
              <a:ext cx="126260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逐位置非线性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52863" y="4793652"/>
              <a:ext cx="105809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位置间交互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385429" y="4214527"/>
            <a:ext cx="2860033" cy="1346930"/>
            <a:chOff x="8385429" y="4214527"/>
            <a:chExt cx="2860033" cy="1346930"/>
          </a:xfrm>
        </p:grpSpPr>
        <p:sp>
          <p:nvSpPr>
            <p:cNvPr id="58" name="Rectangle 58"/>
            <p:cNvSpPr/>
            <p:nvPr/>
          </p:nvSpPr>
          <p:spPr>
            <a:xfrm>
              <a:off x="8385429" y="4214527"/>
              <a:ext cx="2506504" cy="13469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706736" y="4260252"/>
              <a:ext cx="1467112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结构与位置分工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06736" y="4793652"/>
              <a:ext cx="253872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无 recurrence 仍保留顺序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889373" y="4300538"/>
            <a:ext cx="140018" cy="140018"/>
            <a:chOff x="4889373" y="4300538"/>
            <a:chExt cx="140018" cy="140018"/>
          </a:xfrm>
        </p:grpSpPr>
        <p:sp>
          <p:nvSpPr>
            <p:cNvPr id="62" name="Ellipse 62"/>
            <p:cNvSpPr/>
            <p:nvPr/>
          </p:nvSpPr>
          <p:spPr>
            <a:xfrm>
              <a:off x="4889373" y="4300538"/>
              <a:ext cx="140018" cy="14001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4919377" y="4330541"/>
              <a:ext cx="80010" cy="80010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4889373" y="4833938"/>
            <a:ext cx="140018" cy="140018"/>
            <a:chOff x="4889373" y="4833938"/>
            <a:chExt cx="140018" cy="140018"/>
          </a:xfrm>
        </p:grpSpPr>
        <p:sp>
          <p:nvSpPr>
            <p:cNvPr id="65" name="Ellipse 65"/>
            <p:cNvSpPr/>
            <p:nvPr/>
          </p:nvSpPr>
          <p:spPr>
            <a:xfrm>
              <a:off x="4889373" y="4833938"/>
              <a:ext cx="140018" cy="14001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4919377" y="4863941"/>
              <a:ext cx="80010" cy="80010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442198" y="4300538"/>
            <a:ext cx="140018" cy="140018"/>
            <a:chOff x="8442198" y="4300538"/>
            <a:chExt cx="140018" cy="140018"/>
          </a:xfrm>
        </p:grpSpPr>
        <p:sp>
          <p:nvSpPr>
            <p:cNvPr id="68" name="Ellipse 68"/>
            <p:cNvSpPr/>
            <p:nvPr/>
          </p:nvSpPr>
          <p:spPr>
            <a:xfrm>
              <a:off x="8442198" y="4300538"/>
              <a:ext cx="140018" cy="14001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8472202" y="4330541"/>
              <a:ext cx="80010" cy="80010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442198" y="4833938"/>
            <a:ext cx="140018" cy="140018"/>
            <a:chOff x="8442198" y="4833938"/>
            <a:chExt cx="140018" cy="140018"/>
          </a:xfrm>
        </p:grpSpPr>
        <p:sp>
          <p:nvSpPr>
            <p:cNvPr id="71" name="Ellipse 71"/>
            <p:cNvSpPr/>
            <p:nvPr/>
          </p:nvSpPr>
          <p:spPr>
            <a:xfrm>
              <a:off x="8442198" y="4833938"/>
              <a:ext cx="140018" cy="14001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8472202" y="4863941"/>
              <a:ext cx="80010" cy="80010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305592" y="4300538"/>
            <a:ext cx="140018" cy="140018"/>
            <a:chOff x="1305592" y="4300538"/>
            <a:chExt cx="140018" cy="140018"/>
          </a:xfrm>
        </p:grpSpPr>
        <p:sp>
          <p:nvSpPr>
            <p:cNvPr id="74" name="Ellipse 74"/>
            <p:cNvSpPr/>
            <p:nvPr/>
          </p:nvSpPr>
          <p:spPr>
            <a:xfrm>
              <a:off x="1305592" y="4300538"/>
              <a:ext cx="140018" cy="14001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1335596" y="4330541"/>
              <a:ext cx="80010" cy="80010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1305592" y="4833938"/>
            <a:ext cx="140018" cy="140018"/>
            <a:chOff x="1305592" y="4833938"/>
            <a:chExt cx="140018" cy="140018"/>
          </a:xfrm>
        </p:grpSpPr>
        <p:sp>
          <p:nvSpPr>
            <p:cNvPr id="77" name="Ellipse 77"/>
            <p:cNvSpPr/>
            <p:nvPr/>
          </p:nvSpPr>
          <p:spPr>
            <a:xfrm>
              <a:off x="1305592" y="4833938"/>
              <a:ext cx="140018" cy="14001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335596" y="4863941"/>
              <a:ext cx="80010" cy="80010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</p:sp>
      </p:grpSp>
      <p:sp>
        <p:nvSpPr>
          <p:cNvPr id="80" name="Rectangle 8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3" name="Group 83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81" name="Rectangle 81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机制：位置编码与 FFN</a:t>
              </a:r>
            </a:p>
          </p:txBody>
        </p:sp>
      </p:grpSp>
      <p:sp>
        <p:nvSpPr>
          <p:cNvPr id="84" name="Line 84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85" name="Image 85"/>
          <p:cNvPicPr>
            <a:picLocks noChangeAspect="1"/>
          </p:cNvPicPr>
          <p:nvPr/>
        </p:nvPicPr>
        <p:blipFill>
          <a:blip r:embed="rId6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837438" y="1161478"/>
            <a:ext cx="4718971" cy="5183886"/>
            <a:chOff x="837438" y="1161478"/>
            <a:chExt cx="4718971" cy="5183886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rcRect l="22274" t="3779" r="22880" b="5848"/>
            <a:stretch>
              <a:fillRect/>
            </a:stretch>
          </p:blipFill>
          <p:spPr>
            <a:xfrm>
              <a:off x="837438" y="1161478"/>
              <a:ext cx="4718971" cy="5183886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837438" y="5553837"/>
            <a:ext cx="4718971" cy="791528"/>
            <a:chOff x="837438" y="5553837"/>
            <a:chExt cx="4718971" cy="791528"/>
          </a:xfrm>
        </p:grpSpPr>
        <p:sp>
          <p:nvSpPr>
            <p:cNvPr id="7" name="Rectangle 7"/>
            <p:cNvSpPr/>
            <p:nvPr/>
          </p:nvSpPr>
          <p:spPr>
            <a:xfrm>
              <a:off x="837438" y="5553837"/>
              <a:ext cx="4718971" cy="791528"/>
            </a:xfrm>
            <a:prstGeom prst="rect">
              <a:avLst/>
            </a:prstGeom>
            <a:solidFill>
              <a:srgbClr val="912C8D">
                <a:alpha val="88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599432" y="1357789"/>
            <a:ext cx="6880860" cy="1218628"/>
            <a:chOff x="4599432" y="1357789"/>
            <a:chExt cx="6880860" cy="1218628"/>
          </a:xfrm>
        </p:grpSpPr>
        <p:sp>
          <p:nvSpPr>
            <p:cNvPr id="9" name="Rectangle 9"/>
            <p:cNvSpPr/>
            <p:nvPr/>
          </p:nvSpPr>
          <p:spPr>
            <a:xfrm>
              <a:off x="4599432" y="1357789"/>
              <a:ext cx="6880860" cy="1218628"/>
            </a:xfrm>
            <a:prstGeom prst="roundRect">
              <a:avLst>
                <a:gd name="adj" fmla="val 5995"/>
              </a:avLst>
            </a:prstGeom>
            <a:solidFill>
              <a:srgbClr val="FFFFFF"/>
            </a:solidFill>
            <a:ln w="9525">
              <a:solidFill>
                <a:srgbClr val="912C8D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711071" y="5790629"/>
            <a:ext cx="2954655" cy="369380"/>
            <a:chOff x="1711071" y="5790629"/>
            <a:chExt cx="2954655" cy="369380"/>
          </a:xfrm>
        </p:grpSpPr>
        <p:sp>
          <p:nvSpPr>
            <p:cNvPr id="11" name="Rectangle 11"/>
            <p:cNvSpPr/>
            <p:nvPr/>
          </p:nvSpPr>
          <p:spPr>
            <a:xfrm>
              <a:off x="1711071" y="5790629"/>
              <a:ext cx="2954655" cy="3693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11071" y="5790629"/>
              <a:ext cx="2954655" cy="369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Table 1｜复杂度与依赖路径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86338" y="1971580"/>
            <a:ext cx="1305687" cy="400145"/>
            <a:chOff x="4986338" y="1971580"/>
            <a:chExt cx="1305687" cy="400145"/>
          </a:xfrm>
        </p:grpSpPr>
        <p:sp>
          <p:nvSpPr>
            <p:cNvPr id="14" name="Rectangle 14"/>
            <p:cNvSpPr/>
            <p:nvPr/>
          </p:nvSpPr>
          <p:spPr>
            <a:xfrm>
              <a:off x="4986338" y="1971580"/>
              <a:ext cx="1305687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86338" y="1971580"/>
              <a:ext cx="1305687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O(1)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971383" y="1573816"/>
            <a:ext cx="1305687" cy="400145"/>
            <a:chOff x="4971383" y="1573816"/>
            <a:chExt cx="1305687" cy="400145"/>
          </a:xfrm>
        </p:grpSpPr>
        <p:sp>
          <p:nvSpPr>
            <p:cNvPr id="17" name="Rectangle 17"/>
            <p:cNvSpPr/>
            <p:nvPr/>
          </p:nvSpPr>
          <p:spPr>
            <a:xfrm>
              <a:off x="4971383" y="1573816"/>
              <a:ext cx="1305687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71383" y="1573816"/>
              <a:ext cx="1305687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路径长度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29781" y="1971580"/>
            <a:ext cx="1305687" cy="400145"/>
            <a:chOff x="6629781" y="1971580"/>
            <a:chExt cx="1305687" cy="400145"/>
          </a:xfrm>
        </p:grpSpPr>
        <p:sp>
          <p:nvSpPr>
            <p:cNvPr id="20" name="Rectangle 20"/>
            <p:cNvSpPr/>
            <p:nvPr/>
          </p:nvSpPr>
          <p:spPr>
            <a:xfrm>
              <a:off x="6629781" y="1971580"/>
              <a:ext cx="1305687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29781" y="1971580"/>
              <a:ext cx="1305687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O(1)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14827" y="1573816"/>
            <a:ext cx="1305687" cy="400145"/>
            <a:chOff x="6614827" y="1573816"/>
            <a:chExt cx="1305687" cy="400145"/>
          </a:xfrm>
        </p:grpSpPr>
        <p:sp>
          <p:nvSpPr>
            <p:cNvPr id="23" name="Rectangle 23"/>
            <p:cNvSpPr/>
            <p:nvPr/>
          </p:nvSpPr>
          <p:spPr>
            <a:xfrm>
              <a:off x="6614827" y="1573816"/>
              <a:ext cx="1305687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4827" y="1573816"/>
              <a:ext cx="1305687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并行步骤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73224" y="1971580"/>
            <a:ext cx="1305687" cy="400145"/>
            <a:chOff x="8273224" y="1971580"/>
            <a:chExt cx="1305687" cy="400145"/>
          </a:xfrm>
        </p:grpSpPr>
        <p:sp>
          <p:nvSpPr>
            <p:cNvPr id="26" name="Rectangle 26"/>
            <p:cNvSpPr/>
            <p:nvPr/>
          </p:nvSpPr>
          <p:spPr>
            <a:xfrm>
              <a:off x="8273224" y="1971580"/>
              <a:ext cx="1305687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73224" y="1971580"/>
              <a:ext cx="1305687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O(n²d)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58270" y="1573816"/>
            <a:ext cx="1305687" cy="400145"/>
            <a:chOff x="8258270" y="1573816"/>
            <a:chExt cx="1305687" cy="400145"/>
          </a:xfrm>
        </p:grpSpPr>
        <p:sp>
          <p:nvSpPr>
            <p:cNvPr id="29" name="Rectangle 29"/>
            <p:cNvSpPr/>
            <p:nvPr/>
          </p:nvSpPr>
          <p:spPr>
            <a:xfrm>
              <a:off x="8258270" y="1573816"/>
              <a:ext cx="1305687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58270" y="1573816"/>
              <a:ext cx="1305687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层复杂度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16668" y="1971580"/>
            <a:ext cx="1305687" cy="400145"/>
            <a:chOff x="9916668" y="1971580"/>
            <a:chExt cx="1305687" cy="400145"/>
          </a:xfrm>
        </p:grpSpPr>
        <p:sp>
          <p:nvSpPr>
            <p:cNvPr id="32" name="Rectangle 32"/>
            <p:cNvSpPr/>
            <p:nvPr/>
          </p:nvSpPr>
          <p:spPr>
            <a:xfrm>
              <a:off x="9916668" y="1971580"/>
              <a:ext cx="1305687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916668" y="1971580"/>
              <a:ext cx="1305687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O(n)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01714" y="1573816"/>
            <a:ext cx="1305687" cy="400145"/>
            <a:chOff x="9901714" y="1573816"/>
            <a:chExt cx="1305687" cy="400145"/>
          </a:xfrm>
        </p:grpSpPr>
        <p:sp>
          <p:nvSpPr>
            <p:cNvPr id="35" name="Rectangle 35"/>
            <p:cNvSpPr/>
            <p:nvPr/>
          </p:nvSpPr>
          <p:spPr>
            <a:xfrm>
              <a:off x="9901714" y="1573816"/>
              <a:ext cx="1305687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901714" y="1573816"/>
              <a:ext cx="1305687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长序列依赖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45948" y="1669637"/>
            <a:ext cx="9525" cy="638556"/>
            <a:chOff x="6445948" y="1669637"/>
            <a:chExt cx="9525" cy="638556"/>
          </a:xfrm>
        </p:grpSpPr>
        <p:sp>
          <p:nvSpPr>
            <p:cNvPr id="38" name="Line 38"/>
            <p:cNvSpPr/>
            <p:nvPr/>
          </p:nvSpPr>
          <p:spPr>
            <a:xfrm>
              <a:off x="6445948" y="1669637"/>
              <a:ext cx="9525" cy="638556"/>
            </a:xfrm>
            <a:custGeom>
              <a:avLst/>
              <a:gdLst/>
              <a:ahLst/>
              <a:cxnLst/>
              <a:rect l="l" t="t" r="r" b="b"/>
              <a:pathLst>
                <a:path w="9525" h="638556">
                  <a:moveTo>
                    <a:pt x="0" y="0"/>
                  </a:moveTo>
                  <a:lnTo>
                    <a:pt x="0" y="638556"/>
                  </a:lnTo>
                </a:path>
              </a:pathLst>
            </a:custGeom>
            <a:noFill/>
            <a:ln w="9525">
              <a:solidFill>
                <a:srgbClr val="912C8D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089392" y="1669637"/>
            <a:ext cx="9525" cy="638556"/>
            <a:chOff x="8089392" y="1669637"/>
            <a:chExt cx="9525" cy="638556"/>
          </a:xfrm>
        </p:grpSpPr>
        <p:sp>
          <p:nvSpPr>
            <p:cNvPr id="40" name="Line 40"/>
            <p:cNvSpPr/>
            <p:nvPr/>
          </p:nvSpPr>
          <p:spPr>
            <a:xfrm>
              <a:off x="8089392" y="1669637"/>
              <a:ext cx="9525" cy="638556"/>
            </a:xfrm>
            <a:custGeom>
              <a:avLst/>
              <a:gdLst/>
              <a:ahLst/>
              <a:cxnLst/>
              <a:rect l="l" t="t" r="r" b="b"/>
              <a:pathLst>
                <a:path w="9525" h="638556">
                  <a:moveTo>
                    <a:pt x="0" y="0"/>
                  </a:moveTo>
                  <a:lnTo>
                    <a:pt x="0" y="638556"/>
                  </a:lnTo>
                </a:path>
              </a:pathLst>
            </a:custGeom>
            <a:noFill/>
            <a:ln w="9525">
              <a:solidFill>
                <a:srgbClr val="912C8D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9732836" y="1669637"/>
            <a:ext cx="9525" cy="638556"/>
            <a:chOff x="9732836" y="1669637"/>
            <a:chExt cx="9525" cy="638556"/>
          </a:xfrm>
        </p:grpSpPr>
        <p:sp>
          <p:nvSpPr>
            <p:cNvPr id="42" name="Line 42"/>
            <p:cNvSpPr/>
            <p:nvPr/>
          </p:nvSpPr>
          <p:spPr>
            <a:xfrm>
              <a:off x="9732836" y="1669637"/>
              <a:ext cx="9525" cy="638556"/>
            </a:xfrm>
            <a:custGeom>
              <a:avLst/>
              <a:gdLst/>
              <a:ahLst/>
              <a:cxnLst/>
              <a:rect l="l" t="t" r="r" b="b"/>
              <a:pathLst>
                <a:path w="9525" h="638556">
                  <a:moveTo>
                    <a:pt x="0" y="0"/>
                  </a:moveTo>
                  <a:lnTo>
                    <a:pt x="0" y="638556"/>
                  </a:lnTo>
                </a:path>
              </a:pathLst>
            </a:custGeom>
            <a:noFill/>
            <a:ln w="9525">
              <a:solidFill>
                <a:srgbClr val="912C8D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162675" y="2940272"/>
            <a:ext cx="773049" cy="773050"/>
            <a:chOff x="6162675" y="2940272"/>
            <a:chExt cx="773049" cy="773050"/>
          </a:xfrm>
        </p:grpSpPr>
        <p:sp>
          <p:nvSpPr>
            <p:cNvPr id="44" name="Ellipse 44"/>
            <p:cNvSpPr/>
            <p:nvPr/>
          </p:nvSpPr>
          <p:spPr>
            <a:xfrm>
              <a:off x="6162675" y="2940272"/>
              <a:ext cx="773049" cy="773049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62675" y="2940368"/>
              <a:ext cx="772954" cy="7729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01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107079" y="2873502"/>
            <a:ext cx="4199354" cy="1523524"/>
            <a:chOff x="7107079" y="2873502"/>
            <a:chExt cx="4199354" cy="1523524"/>
          </a:xfrm>
        </p:grpSpPr>
        <p:sp>
          <p:nvSpPr>
            <p:cNvPr id="47" name="Rectangle 47"/>
            <p:cNvSpPr/>
            <p:nvPr/>
          </p:nvSpPr>
          <p:spPr>
            <a:xfrm>
              <a:off x="7107079" y="2873502"/>
              <a:ext cx="3944684" cy="152352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3116" y="2919132"/>
              <a:ext cx="2305165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912C8D"/>
                  </a:solidFill>
                  <a:latin typeface="微软雅黑"/>
                  <a:ea typeface="Microsoft YaHei"/>
                  <a:cs typeface="微软雅黑"/>
                </a:rPr>
                <a:t>Self-attention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80736" y="3300132"/>
              <a:ext cx="412569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任意位置在一层内直接交互，训练高度并行。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62675" y="4663631"/>
            <a:ext cx="773049" cy="773049"/>
            <a:chOff x="6162675" y="4663631"/>
            <a:chExt cx="773049" cy="773049"/>
          </a:xfrm>
        </p:grpSpPr>
        <p:sp>
          <p:nvSpPr>
            <p:cNvPr id="51" name="Ellipse 51"/>
            <p:cNvSpPr/>
            <p:nvPr/>
          </p:nvSpPr>
          <p:spPr>
            <a:xfrm>
              <a:off x="6162675" y="4663631"/>
              <a:ext cx="773049" cy="773049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62675" y="4663726"/>
              <a:ext cx="772954" cy="7729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02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107079" y="4596860"/>
            <a:ext cx="3944684" cy="1523524"/>
            <a:chOff x="7107079" y="4596860"/>
            <a:chExt cx="3944684" cy="1523524"/>
          </a:xfrm>
        </p:grpSpPr>
        <p:sp>
          <p:nvSpPr>
            <p:cNvPr id="54" name="Rectangle 54"/>
            <p:cNvSpPr/>
            <p:nvPr/>
          </p:nvSpPr>
          <p:spPr>
            <a:xfrm>
              <a:off x="7107079" y="4596860"/>
              <a:ext cx="3944684" cy="152352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73116" y="4642490"/>
              <a:ext cx="161151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68A4C6"/>
                  </a:solidFill>
                  <a:latin typeface="微软雅黑"/>
                  <a:ea typeface="Microsoft YaHei"/>
                  <a:cs typeface="微软雅黑"/>
                </a:rPr>
                <a:t>Trade-off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80736" y="5023490"/>
              <a:ext cx="371668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序列很长时，二次复杂度成为主要代价。</a:t>
              </a:r>
            </a:p>
          </p:txBody>
        </p:sp>
      </p:grpSp>
      <p:sp>
        <p:nvSpPr>
          <p:cNvPr id="58" name="Rectangle 58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59" name="Rectangle 59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复杂度：全局依赖一步可达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63" name="Image 63"/>
          <p:cNvPicPr>
            <a:picLocks noChangeAspect="1"/>
          </p:cNvPicPr>
          <p:nvPr/>
        </p:nvPicPr>
        <p:blipFill>
          <a:blip r:embed="rId4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0" y="0"/>
            <a:ext cx="12192000" cy="6892671"/>
            <a:chOff x="0" y="0"/>
            <a:chExt cx="12192000" cy="6892671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rcRect l="0" t="21851" r="0" b="2656"/>
            <a:stretch>
              <a:fillRect/>
            </a:stretch>
          </p:blipFill>
          <p:spPr>
            <a:xfrm>
              <a:off x="0" y="0"/>
              <a:ext cx="12192000" cy="6892671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0" y="0"/>
              <a:ext cx="12192000" cy="6892671"/>
            </a:xfrm>
            <a:prstGeom prst="rect">
              <a:avLst/>
            </a:prstGeom>
            <a:solidFill>
              <a:srgbClr val="FFFFFF">
                <a:alpha val="74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88454" y="3104293"/>
            <a:ext cx="4267581" cy="830961"/>
            <a:chOff x="588454" y="3104293"/>
            <a:chExt cx="4267581" cy="830961"/>
          </a:xfrm>
        </p:grpSpPr>
        <p:sp>
          <p:nvSpPr>
            <p:cNvPr id="8" name="Rectangle 8"/>
            <p:cNvSpPr/>
            <p:nvPr/>
          </p:nvSpPr>
          <p:spPr>
            <a:xfrm>
              <a:off x="588454" y="3104293"/>
              <a:ext cx="4267581" cy="83096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8454" y="3104293"/>
              <a:ext cx="4267581" cy="8309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800" b="1" dirty="0">
                  <a:solidFill>
                    <a:srgbClr val="581969"/>
                  </a:solidFill>
                  <a:latin typeface="微软雅黑"/>
                  <a:ea typeface="Microsoft YaHei"/>
                  <a:cs typeface="微软雅黑"/>
                </a:rPr>
                <a:t>实验与启发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88454" y="4639532"/>
            <a:ext cx="4076128" cy="1023747"/>
            <a:chOff x="588454" y="4639532"/>
            <a:chExt cx="4076128" cy="1023747"/>
          </a:xfrm>
        </p:grpSpPr>
        <p:sp>
          <p:nvSpPr>
            <p:cNvPr id="11" name="Rectangle 11"/>
            <p:cNvSpPr/>
            <p:nvPr/>
          </p:nvSpPr>
          <p:spPr>
            <a:xfrm>
              <a:off x="588454" y="4639532"/>
              <a:ext cx="4076128" cy="10237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8454" y="4639532"/>
              <a:ext cx="4076128" cy="1023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微软雅黑"/>
                  <a:ea typeface="Microsoft YaHei"/>
                  <a:cs typeface="微软雅黑"/>
                </a:rPr>
                <a:t>从训练设置、翻译结果和消融实验回到论文贡献。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8454" y="1456563"/>
            <a:ext cx="2203228" cy="1631252"/>
            <a:chOff x="588454" y="1456563"/>
            <a:chExt cx="2203228" cy="1631252"/>
          </a:xfrm>
        </p:grpSpPr>
        <p:sp>
          <p:nvSpPr>
            <p:cNvPr id="14" name="Rectangle 14"/>
            <p:cNvSpPr/>
            <p:nvPr/>
          </p:nvSpPr>
          <p:spPr>
            <a:xfrm>
              <a:off x="588454" y="1456563"/>
              <a:ext cx="2203228" cy="163125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8454" y="1456563"/>
              <a:ext cx="2203228" cy="16312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0000" b="1" dirty="0">
                  <a:solidFill>
                    <a:srgbClr val="581969"/>
                  </a:solidFill>
                  <a:latin typeface="微软雅黑"/>
                  <a:ea typeface="Microsoft YaHei"/>
                  <a:cs typeface="微软雅黑"/>
                </a:rPr>
                <a:t>03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45252" y="0"/>
            <a:ext cx="3061716" cy="1530858"/>
            <a:chOff x="5445252" y="0"/>
            <a:chExt cx="3061716" cy="1530858"/>
          </a:xfrm>
        </p:grpSpPr>
        <p:sp>
          <p:nvSpPr>
            <p:cNvPr id="17" name="Freeform 17"/>
            <p:cNvSpPr/>
            <p:nvPr/>
          </p:nvSpPr>
          <p:spPr>
            <a:xfrm>
              <a:off x="5445252" y="0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1969"/>
            </a:solidFill>
            <a:ln>
              <a:noFill/>
            </a:ln>
          </p:spPr>
        </p:sp>
      </p:grp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5445252" y="0"/>
            <a:ext cx="6746748" cy="6858000"/>
            <a:chOff x="5445252" y="0"/>
            <a:chExt cx="6746748" cy="6858000"/>
          </a:xfrm>
        </p:grpSpPr>
        <p:sp>
          <p:nvSpPr>
            <p:cNvPr id="20" name="Freeform 20"/>
            <p:cNvSpPr/>
            <p:nvPr/>
          </p:nvSpPr>
          <p:spPr>
            <a:xfrm>
              <a:off x="9033510" y="0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079742" y="0"/>
              <a:ext cx="3380994" cy="3325368"/>
            </a:xfrm>
            <a:custGeom>
              <a:avLst/>
              <a:gdLst/>
              <a:ahLst/>
              <a:cxnLst/>
              <a:rect l="l" t="t" r="r" b="b"/>
              <a:pathLst>
                <a:path w="3380994" h="3325368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668000" y="111252"/>
              <a:ext cx="1524000" cy="3047238"/>
            </a:xfrm>
            <a:custGeom>
              <a:avLst/>
              <a:gdLst/>
              <a:ahLst/>
              <a:cxnLst/>
              <a:rect l="l" t="t" r="r" b="b"/>
              <a:pathLst>
                <a:path w="1524000" h="3047238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874252" y="1738884"/>
              <a:ext cx="3317748" cy="3380232"/>
            </a:xfrm>
            <a:custGeom>
              <a:avLst/>
              <a:gdLst/>
              <a:ahLst/>
              <a:cxnLst/>
              <a:rect l="l" t="t" r="r" b="b"/>
              <a:pathLst>
                <a:path w="3317748" h="3380232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0668000" y="3699510"/>
              <a:ext cx="1524000" cy="3047238"/>
            </a:xfrm>
            <a:custGeom>
              <a:avLst/>
              <a:gdLst/>
              <a:ahLst/>
              <a:cxnLst/>
              <a:rect l="l" t="t" r="r" b="b"/>
              <a:pathLst>
                <a:path w="1524000" h="3047238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033510" y="5327142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079742" y="3532632"/>
              <a:ext cx="3380994" cy="3325368"/>
            </a:xfrm>
            <a:custGeom>
              <a:avLst/>
              <a:gdLst/>
              <a:ahLst/>
              <a:cxnLst/>
              <a:rect l="l" t="t" r="r" b="b"/>
              <a:pathLst>
                <a:path w="3380994" h="3325368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80913" y="2233327"/>
              <a:ext cx="2390299" cy="2390394"/>
            </a:xfrm>
            <a:custGeom>
              <a:avLst/>
              <a:gdLst/>
              <a:ahLst/>
              <a:cxnLst/>
              <a:rect l="l" t="t" r="r" b="b"/>
              <a:pathLst>
                <a:path w="2390299" h="2390394">
                  <a:moveTo>
                    <a:pt x="0" y="0"/>
                  </a:moveTo>
                  <a:lnTo>
                    <a:pt x="2390299" y="0"/>
                  </a:lnTo>
                  <a:lnTo>
                    <a:pt x="2390299" y="2390394"/>
                  </a:lnTo>
                  <a:lnTo>
                    <a:pt x="0" y="2390394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445252" y="5327142"/>
              <a:ext cx="3061716" cy="1530858"/>
            </a:xfrm>
            <a:custGeom>
              <a:avLst/>
              <a:gdLst/>
              <a:ahLst/>
              <a:cxnLst/>
              <a:rect l="l" t="t" r="r" b="b"/>
              <a:pathLst>
                <a:path w="3061716" h="1530858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290370" y="3773043"/>
            <a:ext cx="2761583" cy="2052352"/>
            <a:chOff x="8290370" y="3773043"/>
            <a:chExt cx="2761583" cy="2052352"/>
          </a:xfrm>
        </p:grpSpPr>
        <p:sp>
          <p:nvSpPr>
            <p:cNvPr id="3" name="Rectangle 3"/>
            <p:cNvSpPr/>
            <p:nvPr/>
          </p:nvSpPr>
          <p:spPr>
            <a:xfrm>
              <a:off x="8290370" y="3773043"/>
              <a:ext cx="2761583" cy="2052352"/>
            </a:xfrm>
            <a:prstGeom prst="roundRect">
              <a:avLst>
                <a:gd name="adj" fmla="val 1392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0370" y="3773043"/>
              <a:ext cx="2761583" cy="2052352"/>
            </a:xfrm>
            <a:prstGeom prst="roundRect">
              <a:avLst>
                <a:gd name="adj" fmla="val 3021"/>
              </a:avLst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8290370" y="3773043"/>
              <a:ext cx="2761583" cy="2052352"/>
            </a:xfrm>
            <a:prstGeom prst="roundRect">
              <a:avLst>
                <a:gd name="adj" fmla="val 3021"/>
              </a:avLst>
            </a:prstGeom>
            <a:noFill/>
            <a:ln>
              <a:noFill/>
            </a:ln>
            <a:effectLst>
              <a:outerShdw blurRad="253936" dist="126968" dir="0" algn="l" rotWithShape="0">
                <a:srgbClr val="912C8D">
                  <a:alpha val="11250"/>
                </a:srgbClr>
              </a:outerShdw>
            </a:effectLst>
          </p:spPr>
        </p:sp>
      </p:grpSp>
      <p:grpSp>
        <p:nvGrpSpPr>
          <p:cNvPr id="8" name="Group 8"/>
          <p:cNvGrpSpPr/>
          <p:nvPr/>
        </p:nvGrpSpPr>
        <p:grpSpPr>
          <a:xfrm>
            <a:off x="8284940" y="3773043"/>
            <a:ext cx="2766917" cy="2052352"/>
            <a:chOff x="8284940" y="3773043"/>
            <a:chExt cx="2766917" cy="2052352"/>
          </a:xfrm>
        </p:grpSpPr>
        <p:sp>
          <p:nvSpPr>
            <p:cNvPr id="7" name="Rectangle 7"/>
            <p:cNvSpPr/>
            <p:nvPr/>
          </p:nvSpPr>
          <p:spPr>
            <a:xfrm>
              <a:off x="8284940" y="3773043"/>
              <a:ext cx="2766917" cy="2052352"/>
            </a:xfrm>
            <a:prstGeom prst="roundRect">
              <a:avLst>
                <a:gd name="adj" fmla="val 3021"/>
              </a:avLst>
            </a:prstGeom>
            <a:solidFill>
              <a:srgbClr val="68A4C6">
                <a:alpha val="67000"/>
              </a:srgbClr>
            </a:solidFill>
            <a:ln>
              <a:noFill/>
            </a:ln>
            <a:effectLst>
              <a:outerShdw blurRad="253936" dist="126968" dir="0" algn="l" rotWithShape="0">
                <a:srgbClr val="912C8D">
                  <a:alpha val="11250"/>
                </a:srgbClr>
              </a:outerShdw>
            </a:effectLst>
          </p:spPr>
        </p:sp>
      </p:grpSp>
      <p:grpSp>
        <p:nvGrpSpPr>
          <p:cNvPr id="12" name="Group 12"/>
          <p:cNvGrpSpPr/>
          <p:nvPr/>
        </p:nvGrpSpPr>
        <p:grpSpPr>
          <a:xfrm>
            <a:off x="5256181" y="1460182"/>
            <a:ext cx="2761583" cy="2052352"/>
            <a:chOff x="5256181" y="1460182"/>
            <a:chExt cx="2761583" cy="2052352"/>
          </a:xfrm>
        </p:grpSpPr>
        <p:sp>
          <p:nvSpPr>
            <p:cNvPr id="9" name="Rectangle 9"/>
            <p:cNvSpPr/>
            <p:nvPr/>
          </p:nvSpPr>
          <p:spPr>
            <a:xfrm>
              <a:off x="5256181" y="1460182"/>
              <a:ext cx="2761583" cy="2052352"/>
            </a:xfrm>
            <a:prstGeom prst="roundRect">
              <a:avLst>
                <a:gd name="adj" fmla="val 1392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6181" y="1460182"/>
              <a:ext cx="2761583" cy="2052352"/>
            </a:xfrm>
            <a:prstGeom prst="roundRect">
              <a:avLst>
                <a:gd name="adj" fmla="val 3021"/>
              </a:avLst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5256181" y="1460182"/>
              <a:ext cx="2761583" cy="2052352"/>
            </a:xfrm>
            <a:prstGeom prst="roundRect">
              <a:avLst>
                <a:gd name="adj" fmla="val 3021"/>
              </a:avLst>
            </a:prstGeom>
            <a:noFill/>
            <a:ln>
              <a:noFill/>
            </a:ln>
            <a:effectLst>
              <a:outerShdw blurRad="253936" dist="126968" dir="0" algn="l" rotWithShape="0">
                <a:srgbClr val="912C8D">
                  <a:alpha val="11250"/>
                </a:srgbClr>
              </a:outerShdw>
            </a:effectLst>
          </p:spPr>
        </p:sp>
      </p:grpSp>
      <p:grpSp>
        <p:nvGrpSpPr>
          <p:cNvPr id="14" name="Group 14"/>
          <p:cNvGrpSpPr/>
          <p:nvPr/>
        </p:nvGrpSpPr>
        <p:grpSpPr>
          <a:xfrm>
            <a:off x="5250847" y="1445800"/>
            <a:ext cx="2761583" cy="2066639"/>
            <a:chOff x="5250847" y="1445800"/>
            <a:chExt cx="2761583" cy="2066639"/>
          </a:xfrm>
        </p:grpSpPr>
        <p:sp>
          <p:nvSpPr>
            <p:cNvPr id="13" name="Rectangle 13"/>
            <p:cNvSpPr/>
            <p:nvPr/>
          </p:nvSpPr>
          <p:spPr>
            <a:xfrm>
              <a:off x="5250847" y="1445800"/>
              <a:ext cx="2761583" cy="2066639"/>
            </a:xfrm>
            <a:prstGeom prst="roundRect">
              <a:avLst>
                <a:gd name="adj" fmla="val 3019"/>
              </a:avLst>
            </a:prstGeom>
            <a:solidFill>
              <a:srgbClr val="441351">
                <a:alpha val="70000"/>
              </a:srgbClr>
            </a:solidFill>
            <a:ln>
              <a:noFill/>
            </a:ln>
            <a:effectLst>
              <a:outerShdw blurRad="253936" dist="126968" dir="0" algn="l" rotWithShape="0">
                <a:srgbClr val="912C8D">
                  <a:alpha val="11250"/>
                </a:srgbClr>
              </a:outerShdw>
            </a:effectLst>
          </p:spPr>
        </p:sp>
      </p:grpSp>
      <p:grpSp>
        <p:nvGrpSpPr>
          <p:cNvPr id="19" name="Group 19"/>
          <p:cNvGrpSpPr/>
          <p:nvPr/>
        </p:nvGrpSpPr>
        <p:grpSpPr>
          <a:xfrm>
            <a:off x="1565624" y="2213324"/>
            <a:ext cx="3335369" cy="3103816"/>
            <a:chOff x="1565624" y="2213324"/>
            <a:chExt cx="3335369" cy="3103816"/>
          </a:xfrm>
        </p:grpSpPr>
        <p:sp>
          <p:nvSpPr>
            <p:cNvPr id="15" name="Rectangle 15"/>
            <p:cNvSpPr/>
            <p:nvPr/>
          </p:nvSpPr>
          <p:spPr>
            <a:xfrm>
              <a:off x="1565624" y="2213324"/>
              <a:ext cx="3335369" cy="310381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37757" y="2260097"/>
              <a:ext cx="1135811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WMT EN-DE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37757" y="3136397"/>
              <a:ext cx="107241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4.5M pairs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37757" y="4012697"/>
              <a:ext cx="173910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WMT EN-FR｜36M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56181" y="3773043"/>
            <a:ext cx="2761583" cy="2052352"/>
            <a:chOff x="5256181" y="3773043"/>
            <a:chExt cx="2761583" cy="2052352"/>
          </a:xfrm>
        </p:grpSpPr>
        <p:sp>
          <p:nvSpPr>
            <p:cNvPr id="20" name="Rectangle 20"/>
            <p:cNvSpPr/>
            <p:nvPr/>
          </p:nvSpPr>
          <p:spPr>
            <a:xfrm>
              <a:off x="5256181" y="3773043"/>
              <a:ext cx="2761583" cy="2052352"/>
            </a:xfrm>
            <a:prstGeom prst="roundRect">
              <a:avLst>
                <a:gd name="adj" fmla="val 3021"/>
              </a:avLst>
            </a:prstGeom>
            <a:solidFill>
              <a:srgbClr val="FFFFFF"/>
            </a:solidFill>
            <a:ln>
              <a:noFill/>
            </a:ln>
            <a:effectLst>
              <a:glow rad="19050">
                <a:srgbClr val="68A4C6">
                  <a:alpha val="40000"/>
                </a:srgbClr>
              </a:glow>
            </a:effectLst>
          </p:spPr>
        </p:sp>
      </p:grpSp>
      <p:grpSp>
        <p:nvGrpSpPr>
          <p:cNvPr id="23" name="Group 23"/>
          <p:cNvGrpSpPr/>
          <p:nvPr/>
        </p:nvGrpSpPr>
        <p:grpSpPr>
          <a:xfrm>
            <a:off x="8290274" y="1460182"/>
            <a:ext cx="2761583" cy="2052352"/>
            <a:chOff x="8290274" y="1460182"/>
            <a:chExt cx="2761583" cy="2052352"/>
          </a:xfrm>
        </p:grpSpPr>
        <p:sp>
          <p:nvSpPr>
            <p:cNvPr id="22" name="Rectangle 22"/>
            <p:cNvSpPr/>
            <p:nvPr/>
          </p:nvSpPr>
          <p:spPr>
            <a:xfrm>
              <a:off x="8290274" y="1460182"/>
              <a:ext cx="2761583" cy="2052352"/>
            </a:xfrm>
            <a:prstGeom prst="roundRect">
              <a:avLst>
                <a:gd name="adj" fmla="val 3021"/>
              </a:avLst>
            </a:prstGeom>
            <a:solidFill>
              <a:srgbClr val="FFFFFF"/>
            </a:solidFill>
            <a:ln>
              <a:noFill/>
            </a:ln>
            <a:effectLst>
              <a:glow rad="19050">
                <a:srgbClr val="6C2280">
                  <a:alpha val="40000"/>
                </a:srgbClr>
              </a:glo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5294376" y="2040446"/>
            <a:ext cx="2672048" cy="491490"/>
            <a:chOff x="5294376" y="2040446"/>
            <a:chExt cx="2672048" cy="491490"/>
          </a:xfrm>
        </p:grpSpPr>
        <p:sp>
          <p:nvSpPr>
            <p:cNvPr id="24" name="Rectangle 24"/>
            <p:cNvSpPr/>
            <p:nvPr/>
          </p:nvSpPr>
          <p:spPr>
            <a:xfrm>
              <a:off x="5294376" y="2040446"/>
              <a:ext cx="2672048" cy="49149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94376" y="2040446"/>
              <a:ext cx="2672048" cy="4914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Optimization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25560" y="2473547"/>
            <a:ext cx="1997774" cy="702945"/>
            <a:chOff x="5625560" y="2473547"/>
            <a:chExt cx="1997774" cy="702945"/>
          </a:xfrm>
        </p:grpSpPr>
        <p:sp>
          <p:nvSpPr>
            <p:cNvPr id="27" name="Rectangle 27"/>
            <p:cNvSpPr/>
            <p:nvPr/>
          </p:nvSpPr>
          <p:spPr>
            <a:xfrm>
              <a:off x="5625560" y="2473547"/>
              <a:ext cx="1997774" cy="7029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25560" y="2473547"/>
              <a:ext cx="1997774" cy="702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400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Adam + warmup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16413" y="2348008"/>
            <a:ext cx="343948" cy="344804"/>
            <a:chOff x="1016413" y="2348008"/>
            <a:chExt cx="343948" cy="344804"/>
          </a:xfrm>
        </p:grpSpPr>
        <p:sp>
          <p:nvSpPr>
            <p:cNvPr id="30" name="Freeform 30"/>
            <p:cNvSpPr/>
            <p:nvPr/>
          </p:nvSpPr>
          <p:spPr>
            <a:xfrm>
              <a:off x="1100995" y="2592419"/>
              <a:ext cx="172022" cy="100393"/>
            </a:xfrm>
            <a:custGeom>
              <a:avLst/>
              <a:gdLst/>
              <a:ahLst/>
              <a:cxnLst/>
              <a:rect l="l" t="t" r="r" b="b"/>
              <a:pathLst>
                <a:path w="172022" h="100393">
                  <a:moveTo>
                    <a:pt x="0" y="0"/>
                  </a:moveTo>
                  <a:lnTo>
                    <a:pt x="14954" y="92964"/>
                  </a:lnTo>
                  <a:cubicBezTo>
                    <a:pt x="16764" y="97631"/>
                    <a:pt x="19526" y="100393"/>
                    <a:pt x="26098" y="100393"/>
                  </a:cubicBezTo>
                  <a:lnTo>
                    <a:pt x="146875" y="100393"/>
                  </a:lnTo>
                  <a:cubicBezTo>
                    <a:pt x="151543" y="100393"/>
                    <a:pt x="156210" y="97631"/>
                    <a:pt x="157162" y="92964"/>
                  </a:cubicBezTo>
                  <a:lnTo>
                    <a:pt x="172022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073182" y="2510695"/>
              <a:ext cx="232315" cy="60389"/>
            </a:xfrm>
            <a:custGeom>
              <a:avLst/>
              <a:gdLst/>
              <a:ahLst/>
              <a:cxnLst/>
              <a:rect l="l" t="t" r="r" b="b"/>
              <a:pathLst>
                <a:path w="232315" h="60389">
                  <a:moveTo>
                    <a:pt x="36195" y="0"/>
                  </a:moveTo>
                  <a:cubicBezTo>
                    <a:pt x="14859" y="0"/>
                    <a:pt x="0" y="19431"/>
                    <a:pt x="8382" y="40862"/>
                  </a:cubicBezTo>
                  <a:cubicBezTo>
                    <a:pt x="8382" y="50197"/>
                    <a:pt x="16669" y="56674"/>
                    <a:pt x="26003" y="59436"/>
                  </a:cubicBezTo>
                  <a:cubicBezTo>
                    <a:pt x="27813" y="60389"/>
                    <a:pt x="31528" y="60389"/>
                    <a:pt x="35243" y="60389"/>
                  </a:cubicBezTo>
                  <a:lnTo>
                    <a:pt x="196120" y="60389"/>
                  </a:lnTo>
                  <a:cubicBezTo>
                    <a:pt x="199835" y="60389"/>
                    <a:pt x="202597" y="59436"/>
                    <a:pt x="205359" y="59436"/>
                  </a:cubicBezTo>
                  <a:cubicBezTo>
                    <a:pt x="214694" y="56674"/>
                    <a:pt x="222123" y="50197"/>
                    <a:pt x="225838" y="40862"/>
                  </a:cubicBezTo>
                  <a:cubicBezTo>
                    <a:pt x="232315" y="19431"/>
                    <a:pt x="217456" y="0"/>
                    <a:pt x="197929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16413" y="2348008"/>
              <a:ext cx="343948" cy="203549"/>
            </a:xfrm>
            <a:custGeom>
              <a:avLst/>
              <a:gdLst/>
              <a:ahLst/>
              <a:cxnLst/>
              <a:rect l="l" t="t" r="r" b="b"/>
              <a:pathLst>
                <a:path w="343948" h="203549">
                  <a:moveTo>
                    <a:pt x="29813" y="0"/>
                  </a:moveTo>
                  <a:cubicBezTo>
                    <a:pt x="14002" y="0"/>
                    <a:pt x="0" y="13907"/>
                    <a:pt x="0" y="30670"/>
                  </a:cubicBezTo>
                  <a:lnTo>
                    <a:pt x="0" y="171926"/>
                  </a:lnTo>
                  <a:cubicBezTo>
                    <a:pt x="0" y="188690"/>
                    <a:pt x="14002" y="203549"/>
                    <a:pt x="29813" y="203549"/>
                  </a:cubicBezTo>
                  <a:lnTo>
                    <a:pt x="41910" y="203549"/>
                  </a:lnTo>
                  <a:cubicBezTo>
                    <a:pt x="40958" y="199835"/>
                    <a:pt x="40958" y="196120"/>
                    <a:pt x="40958" y="193358"/>
                  </a:cubicBezTo>
                  <a:cubicBezTo>
                    <a:pt x="40958" y="165449"/>
                    <a:pt x="62294" y="143161"/>
                    <a:pt x="90202" y="143161"/>
                  </a:cubicBezTo>
                  <a:lnTo>
                    <a:pt x="111633" y="143161"/>
                  </a:lnTo>
                  <a:cubicBezTo>
                    <a:pt x="115348" y="126397"/>
                    <a:pt x="125540" y="114300"/>
                    <a:pt x="139446" y="106871"/>
                  </a:cubicBezTo>
                  <a:cubicBezTo>
                    <a:pt x="133922" y="99441"/>
                    <a:pt x="130207" y="92012"/>
                    <a:pt x="130207" y="81820"/>
                  </a:cubicBezTo>
                  <a:cubicBezTo>
                    <a:pt x="130207" y="59436"/>
                    <a:pt x="148781" y="40862"/>
                    <a:pt x="171069" y="40862"/>
                  </a:cubicBezTo>
                  <a:cubicBezTo>
                    <a:pt x="192405" y="40862"/>
                    <a:pt x="211074" y="59436"/>
                    <a:pt x="211074" y="81820"/>
                  </a:cubicBezTo>
                  <a:cubicBezTo>
                    <a:pt x="211074" y="91059"/>
                    <a:pt x="208216" y="100394"/>
                    <a:pt x="201740" y="106871"/>
                  </a:cubicBezTo>
                  <a:cubicBezTo>
                    <a:pt x="215741" y="114300"/>
                    <a:pt x="226886" y="126397"/>
                    <a:pt x="229648" y="143161"/>
                  </a:cubicBezTo>
                  <a:lnTo>
                    <a:pt x="250984" y="143161"/>
                  </a:lnTo>
                  <a:cubicBezTo>
                    <a:pt x="278892" y="143161"/>
                    <a:pt x="301181" y="165449"/>
                    <a:pt x="301181" y="193358"/>
                  </a:cubicBezTo>
                  <a:cubicBezTo>
                    <a:pt x="301181" y="196120"/>
                    <a:pt x="301181" y="199835"/>
                    <a:pt x="299371" y="203549"/>
                  </a:cubicBezTo>
                  <a:lnTo>
                    <a:pt x="312325" y="203549"/>
                  </a:lnTo>
                  <a:cubicBezTo>
                    <a:pt x="329089" y="203549"/>
                    <a:pt x="342995" y="189643"/>
                    <a:pt x="342995" y="171926"/>
                  </a:cubicBezTo>
                  <a:lnTo>
                    <a:pt x="342995" y="30670"/>
                  </a:lnTo>
                  <a:cubicBezTo>
                    <a:pt x="343948" y="13907"/>
                    <a:pt x="330041" y="0"/>
                    <a:pt x="313277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148429" y="2471642"/>
              <a:ext cx="77152" cy="20383"/>
            </a:xfrm>
            <a:custGeom>
              <a:avLst/>
              <a:gdLst/>
              <a:ahLst/>
              <a:cxnLst/>
              <a:rect l="l" t="t" r="r" b="b"/>
              <a:pathLst>
                <a:path w="77152" h="20383">
                  <a:moveTo>
                    <a:pt x="29718" y="0"/>
                  </a:moveTo>
                  <a:cubicBezTo>
                    <a:pt x="16764" y="0"/>
                    <a:pt x="4667" y="9239"/>
                    <a:pt x="0" y="20383"/>
                  </a:cubicBezTo>
                  <a:lnTo>
                    <a:pt x="77152" y="20383"/>
                  </a:lnTo>
                  <a:cubicBezTo>
                    <a:pt x="73438" y="7429"/>
                    <a:pt x="62294" y="0"/>
                    <a:pt x="49244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168908" y="2411158"/>
              <a:ext cx="39052" cy="39053"/>
            </a:xfrm>
            <a:custGeom>
              <a:avLst/>
              <a:gdLst/>
              <a:ahLst/>
              <a:cxnLst/>
              <a:rect l="l" t="t" r="r" b="b"/>
              <a:pathLst>
                <a:path w="39052" h="39053">
                  <a:moveTo>
                    <a:pt x="19526" y="0"/>
                  </a:moveTo>
                  <a:cubicBezTo>
                    <a:pt x="7430" y="0"/>
                    <a:pt x="0" y="9335"/>
                    <a:pt x="0" y="19526"/>
                  </a:cubicBezTo>
                  <a:cubicBezTo>
                    <a:pt x="0" y="29813"/>
                    <a:pt x="9239" y="39053"/>
                    <a:pt x="19526" y="39053"/>
                  </a:cubicBezTo>
                  <a:cubicBezTo>
                    <a:pt x="29718" y="39053"/>
                    <a:pt x="39052" y="29813"/>
                    <a:pt x="39052" y="19526"/>
                  </a:cubicBezTo>
                  <a:cubicBezTo>
                    <a:pt x="39052" y="7525"/>
                    <a:pt x="29718" y="0"/>
                    <a:pt x="19526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21270" y="3323463"/>
            <a:ext cx="343852" cy="344805"/>
            <a:chOff x="1021270" y="3323463"/>
            <a:chExt cx="343852" cy="344805"/>
          </a:xfrm>
        </p:grpSpPr>
        <p:sp>
          <p:nvSpPr>
            <p:cNvPr id="36" name="Freeform 36"/>
            <p:cNvSpPr/>
            <p:nvPr/>
          </p:nvSpPr>
          <p:spPr>
            <a:xfrm>
              <a:off x="1105852" y="3567874"/>
              <a:ext cx="171926" cy="100394"/>
            </a:xfrm>
            <a:custGeom>
              <a:avLst/>
              <a:gdLst/>
              <a:ahLst/>
              <a:cxnLst/>
              <a:rect l="l" t="t" r="r" b="b"/>
              <a:pathLst>
                <a:path w="171926" h="100394">
                  <a:moveTo>
                    <a:pt x="0" y="0"/>
                  </a:moveTo>
                  <a:lnTo>
                    <a:pt x="14859" y="92964"/>
                  </a:lnTo>
                  <a:cubicBezTo>
                    <a:pt x="16669" y="97631"/>
                    <a:pt x="19526" y="100394"/>
                    <a:pt x="26003" y="100394"/>
                  </a:cubicBezTo>
                  <a:lnTo>
                    <a:pt x="146876" y="100394"/>
                  </a:lnTo>
                  <a:cubicBezTo>
                    <a:pt x="151543" y="100394"/>
                    <a:pt x="156115" y="97631"/>
                    <a:pt x="157067" y="92964"/>
                  </a:cubicBezTo>
                  <a:lnTo>
                    <a:pt x="171926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77944" y="3486150"/>
              <a:ext cx="232315" cy="60388"/>
            </a:xfrm>
            <a:custGeom>
              <a:avLst/>
              <a:gdLst/>
              <a:ahLst/>
              <a:cxnLst/>
              <a:rect l="l" t="t" r="r" b="b"/>
              <a:pathLst>
                <a:path w="232315" h="60388">
                  <a:moveTo>
                    <a:pt x="36290" y="0"/>
                  </a:moveTo>
                  <a:cubicBezTo>
                    <a:pt x="14859" y="0"/>
                    <a:pt x="0" y="19431"/>
                    <a:pt x="8382" y="40862"/>
                  </a:cubicBezTo>
                  <a:cubicBezTo>
                    <a:pt x="8382" y="50101"/>
                    <a:pt x="16764" y="56674"/>
                    <a:pt x="26003" y="59436"/>
                  </a:cubicBezTo>
                  <a:cubicBezTo>
                    <a:pt x="27908" y="60388"/>
                    <a:pt x="31623" y="60388"/>
                    <a:pt x="35338" y="60388"/>
                  </a:cubicBezTo>
                  <a:lnTo>
                    <a:pt x="196120" y="60388"/>
                  </a:lnTo>
                  <a:cubicBezTo>
                    <a:pt x="199835" y="60388"/>
                    <a:pt x="202597" y="59436"/>
                    <a:pt x="205454" y="59436"/>
                  </a:cubicBezTo>
                  <a:cubicBezTo>
                    <a:pt x="214694" y="56674"/>
                    <a:pt x="222123" y="50101"/>
                    <a:pt x="225838" y="40862"/>
                  </a:cubicBezTo>
                  <a:cubicBezTo>
                    <a:pt x="232315" y="19431"/>
                    <a:pt x="217456" y="0"/>
                    <a:pt x="198025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021270" y="3323463"/>
              <a:ext cx="343852" cy="203549"/>
            </a:xfrm>
            <a:custGeom>
              <a:avLst/>
              <a:gdLst/>
              <a:ahLst/>
              <a:cxnLst/>
              <a:rect l="l" t="t" r="r" b="b"/>
              <a:pathLst>
                <a:path w="343852" h="203549">
                  <a:moveTo>
                    <a:pt x="29718" y="0"/>
                  </a:moveTo>
                  <a:cubicBezTo>
                    <a:pt x="13907" y="0"/>
                    <a:pt x="0" y="13906"/>
                    <a:pt x="0" y="30670"/>
                  </a:cubicBezTo>
                  <a:lnTo>
                    <a:pt x="0" y="171926"/>
                  </a:lnTo>
                  <a:cubicBezTo>
                    <a:pt x="0" y="188690"/>
                    <a:pt x="13907" y="203549"/>
                    <a:pt x="29718" y="203549"/>
                  </a:cubicBezTo>
                  <a:lnTo>
                    <a:pt x="41815" y="203549"/>
                  </a:lnTo>
                  <a:cubicBezTo>
                    <a:pt x="40862" y="199834"/>
                    <a:pt x="40862" y="196120"/>
                    <a:pt x="40862" y="193262"/>
                  </a:cubicBezTo>
                  <a:cubicBezTo>
                    <a:pt x="40862" y="165449"/>
                    <a:pt x="62294" y="143161"/>
                    <a:pt x="90107" y="143161"/>
                  </a:cubicBezTo>
                  <a:lnTo>
                    <a:pt x="111538" y="143161"/>
                  </a:lnTo>
                  <a:cubicBezTo>
                    <a:pt x="115252" y="126397"/>
                    <a:pt x="125444" y="114300"/>
                    <a:pt x="139446" y="106870"/>
                  </a:cubicBezTo>
                  <a:cubicBezTo>
                    <a:pt x="133826" y="99441"/>
                    <a:pt x="130111" y="92011"/>
                    <a:pt x="130111" y="81820"/>
                  </a:cubicBezTo>
                  <a:cubicBezTo>
                    <a:pt x="130111" y="59436"/>
                    <a:pt x="148685" y="40862"/>
                    <a:pt x="170974" y="40862"/>
                  </a:cubicBezTo>
                  <a:cubicBezTo>
                    <a:pt x="192405" y="40862"/>
                    <a:pt x="210979" y="59436"/>
                    <a:pt x="210979" y="81820"/>
                  </a:cubicBezTo>
                  <a:cubicBezTo>
                    <a:pt x="210979" y="91059"/>
                    <a:pt x="208217" y="100393"/>
                    <a:pt x="201644" y="106870"/>
                  </a:cubicBezTo>
                  <a:cubicBezTo>
                    <a:pt x="215646" y="114300"/>
                    <a:pt x="226790" y="126397"/>
                    <a:pt x="229552" y="143161"/>
                  </a:cubicBezTo>
                  <a:lnTo>
                    <a:pt x="250984" y="143161"/>
                  </a:lnTo>
                  <a:cubicBezTo>
                    <a:pt x="278797" y="143161"/>
                    <a:pt x="301085" y="165449"/>
                    <a:pt x="301085" y="193262"/>
                  </a:cubicBezTo>
                  <a:cubicBezTo>
                    <a:pt x="301085" y="196120"/>
                    <a:pt x="301085" y="199834"/>
                    <a:pt x="299275" y="203549"/>
                  </a:cubicBezTo>
                  <a:lnTo>
                    <a:pt x="312325" y="203549"/>
                  </a:lnTo>
                  <a:cubicBezTo>
                    <a:pt x="328993" y="203549"/>
                    <a:pt x="342995" y="189547"/>
                    <a:pt x="342995" y="171926"/>
                  </a:cubicBezTo>
                  <a:lnTo>
                    <a:pt x="342995" y="30670"/>
                  </a:lnTo>
                  <a:cubicBezTo>
                    <a:pt x="343852" y="13906"/>
                    <a:pt x="329946" y="0"/>
                    <a:pt x="313182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153287" y="3447098"/>
              <a:ext cx="77057" cy="20384"/>
            </a:xfrm>
            <a:custGeom>
              <a:avLst/>
              <a:gdLst/>
              <a:ahLst/>
              <a:cxnLst/>
              <a:rect l="l" t="t" r="r" b="b"/>
              <a:pathLst>
                <a:path w="77057" h="20384">
                  <a:moveTo>
                    <a:pt x="29718" y="0"/>
                  </a:moveTo>
                  <a:cubicBezTo>
                    <a:pt x="16669" y="0"/>
                    <a:pt x="4572" y="9239"/>
                    <a:pt x="0" y="20384"/>
                  </a:cubicBezTo>
                  <a:lnTo>
                    <a:pt x="77057" y="20384"/>
                  </a:lnTo>
                  <a:cubicBezTo>
                    <a:pt x="73343" y="7430"/>
                    <a:pt x="62198" y="0"/>
                    <a:pt x="49244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173670" y="3386614"/>
              <a:ext cx="39052" cy="39052"/>
            </a:xfrm>
            <a:custGeom>
              <a:avLst/>
              <a:gdLst/>
              <a:ahLst/>
              <a:cxnLst/>
              <a:rect l="l" t="t" r="r" b="b"/>
              <a:pathLst>
                <a:path w="39052" h="39052">
                  <a:moveTo>
                    <a:pt x="19526" y="0"/>
                  </a:moveTo>
                  <a:cubicBezTo>
                    <a:pt x="7430" y="0"/>
                    <a:pt x="0" y="9334"/>
                    <a:pt x="0" y="19526"/>
                  </a:cubicBezTo>
                  <a:cubicBezTo>
                    <a:pt x="0" y="29813"/>
                    <a:pt x="9335" y="39052"/>
                    <a:pt x="19526" y="39052"/>
                  </a:cubicBezTo>
                  <a:cubicBezTo>
                    <a:pt x="29718" y="39052"/>
                    <a:pt x="39052" y="29813"/>
                    <a:pt x="39052" y="19526"/>
                  </a:cubicBezTo>
                  <a:cubicBezTo>
                    <a:pt x="39052" y="7525"/>
                    <a:pt x="29718" y="0"/>
                    <a:pt x="19526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469285" y="1684592"/>
            <a:ext cx="324612" cy="324517"/>
            <a:chOff x="6469285" y="1684592"/>
            <a:chExt cx="324612" cy="324517"/>
          </a:xfrm>
        </p:grpSpPr>
        <p:sp>
          <p:nvSpPr>
            <p:cNvPr id="42" name="Freeform 42"/>
            <p:cNvSpPr/>
            <p:nvPr/>
          </p:nvSpPr>
          <p:spPr>
            <a:xfrm>
              <a:off x="6469285" y="1684592"/>
              <a:ext cx="324612" cy="324517"/>
            </a:xfrm>
            <a:custGeom>
              <a:avLst/>
              <a:gdLst/>
              <a:ahLst/>
              <a:cxnLst/>
              <a:rect l="l" t="t" r="r" b="b"/>
              <a:pathLst>
                <a:path w="324612" h="324517">
                  <a:moveTo>
                    <a:pt x="275844" y="80772"/>
                  </a:moveTo>
                  <a:lnTo>
                    <a:pt x="275844" y="48768"/>
                  </a:lnTo>
                  <a:lnTo>
                    <a:pt x="113443" y="48768"/>
                  </a:lnTo>
                  <a:lnTo>
                    <a:pt x="113443" y="80772"/>
                  </a:lnTo>
                  <a:lnTo>
                    <a:pt x="275844" y="80772"/>
                  </a:lnTo>
                  <a:close/>
                  <a:moveTo>
                    <a:pt x="210979" y="211169"/>
                  </a:moveTo>
                  <a:lnTo>
                    <a:pt x="210979" y="178308"/>
                  </a:lnTo>
                  <a:lnTo>
                    <a:pt x="113443" y="178308"/>
                  </a:lnTo>
                  <a:lnTo>
                    <a:pt x="113443" y="211169"/>
                  </a:lnTo>
                  <a:lnTo>
                    <a:pt x="210979" y="211169"/>
                  </a:lnTo>
                  <a:close/>
                  <a:moveTo>
                    <a:pt x="275844" y="146209"/>
                  </a:moveTo>
                  <a:lnTo>
                    <a:pt x="275844" y="113633"/>
                  </a:lnTo>
                  <a:lnTo>
                    <a:pt x="113443" y="113633"/>
                  </a:lnTo>
                  <a:lnTo>
                    <a:pt x="113443" y="146209"/>
                  </a:lnTo>
                  <a:lnTo>
                    <a:pt x="275844" y="146209"/>
                  </a:lnTo>
                  <a:close/>
                  <a:moveTo>
                    <a:pt x="292608" y="0"/>
                  </a:moveTo>
                  <a:cubicBezTo>
                    <a:pt x="310134" y="0"/>
                    <a:pt x="324612" y="14478"/>
                    <a:pt x="324612" y="32004"/>
                  </a:cubicBezTo>
                  <a:lnTo>
                    <a:pt x="324612" y="227076"/>
                  </a:lnTo>
                  <a:cubicBezTo>
                    <a:pt x="324612" y="244602"/>
                    <a:pt x="310134" y="259937"/>
                    <a:pt x="292608" y="259937"/>
                  </a:cubicBezTo>
                  <a:lnTo>
                    <a:pt x="97536" y="259937"/>
                  </a:lnTo>
                  <a:cubicBezTo>
                    <a:pt x="80010" y="259937"/>
                    <a:pt x="64675" y="244602"/>
                    <a:pt x="64675" y="227076"/>
                  </a:cubicBezTo>
                  <a:lnTo>
                    <a:pt x="64675" y="32004"/>
                  </a:lnTo>
                  <a:cubicBezTo>
                    <a:pt x="64675" y="14478"/>
                    <a:pt x="80010" y="0"/>
                    <a:pt x="97536" y="0"/>
                  </a:cubicBezTo>
                  <a:lnTo>
                    <a:pt x="292608" y="0"/>
                  </a:lnTo>
                  <a:close/>
                  <a:moveTo>
                    <a:pt x="32099" y="64865"/>
                  </a:moveTo>
                  <a:lnTo>
                    <a:pt x="32099" y="292513"/>
                  </a:lnTo>
                  <a:lnTo>
                    <a:pt x="259651" y="292513"/>
                  </a:lnTo>
                  <a:lnTo>
                    <a:pt x="259651" y="324517"/>
                  </a:lnTo>
                  <a:lnTo>
                    <a:pt x="32099" y="324517"/>
                  </a:lnTo>
                  <a:cubicBezTo>
                    <a:pt x="14573" y="324517"/>
                    <a:pt x="0" y="310039"/>
                    <a:pt x="0" y="292513"/>
                  </a:cubicBezTo>
                  <a:lnTo>
                    <a:pt x="0" y="64865"/>
                  </a:lnTo>
                  <a:lnTo>
                    <a:pt x="32099" y="648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340280" y="2040446"/>
            <a:ext cx="2672048" cy="491490"/>
            <a:chOff x="8340280" y="2040446"/>
            <a:chExt cx="2672048" cy="491490"/>
          </a:xfrm>
        </p:grpSpPr>
        <p:sp>
          <p:nvSpPr>
            <p:cNvPr id="44" name="Rectangle 44"/>
            <p:cNvSpPr/>
            <p:nvPr/>
          </p:nvSpPr>
          <p:spPr>
            <a:xfrm>
              <a:off x="8340280" y="2040446"/>
              <a:ext cx="2672048" cy="49149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40280" y="2040446"/>
              <a:ext cx="2672048" cy="4914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Regularization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647081" y="2473547"/>
            <a:ext cx="2017681" cy="702945"/>
            <a:chOff x="8647081" y="2473547"/>
            <a:chExt cx="2017681" cy="702945"/>
          </a:xfrm>
        </p:grpSpPr>
        <p:sp>
          <p:nvSpPr>
            <p:cNvPr id="47" name="Rectangle 47"/>
            <p:cNvSpPr/>
            <p:nvPr/>
          </p:nvSpPr>
          <p:spPr>
            <a:xfrm>
              <a:off x="8647081" y="2473547"/>
              <a:ext cx="2017681" cy="7029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47081" y="2473547"/>
              <a:ext cx="2017681" cy="702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dropout=0.1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515284" y="1684592"/>
            <a:ext cx="324612" cy="324517"/>
            <a:chOff x="9515284" y="1684592"/>
            <a:chExt cx="324612" cy="324517"/>
          </a:xfrm>
        </p:grpSpPr>
        <p:sp>
          <p:nvSpPr>
            <p:cNvPr id="50" name="Freeform 50"/>
            <p:cNvSpPr/>
            <p:nvPr/>
          </p:nvSpPr>
          <p:spPr>
            <a:xfrm>
              <a:off x="9515284" y="1684592"/>
              <a:ext cx="324612" cy="324517"/>
            </a:xfrm>
            <a:custGeom>
              <a:avLst/>
              <a:gdLst/>
              <a:ahLst/>
              <a:cxnLst/>
              <a:rect l="l" t="t" r="r" b="b"/>
              <a:pathLst>
                <a:path w="324612" h="324517">
                  <a:moveTo>
                    <a:pt x="275844" y="80772"/>
                  </a:moveTo>
                  <a:lnTo>
                    <a:pt x="275844" y="48768"/>
                  </a:lnTo>
                  <a:lnTo>
                    <a:pt x="113347" y="48768"/>
                  </a:lnTo>
                  <a:lnTo>
                    <a:pt x="113347" y="80772"/>
                  </a:lnTo>
                  <a:lnTo>
                    <a:pt x="275844" y="80772"/>
                  </a:lnTo>
                  <a:close/>
                  <a:moveTo>
                    <a:pt x="210883" y="211169"/>
                  </a:moveTo>
                  <a:lnTo>
                    <a:pt x="210883" y="178308"/>
                  </a:lnTo>
                  <a:lnTo>
                    <a:pt x="113347" y="178308"/>
                  </a:lnTo>
                  <a:lnTo>
                    <a:pt x="113347" y="211169"/>
                  </a:lnTo>
                  <a:lnTo>
                    <a:pt x="210883" y="211169"/>
                  </a:lnTo>
                  <a:close/>
                  <a:moveTo>
                    <a:pt x="275844" y="146209"/>
                  </a:moveTo>
                  <a:lnTo>
                    <a:pt x="275844" y="113633"/>
                  </a:lnTo>
                  <a:lnTo>
                    <a:pt x="113347" y="113633"/>
                  </a:lnTo>
                  <a:lnTo>
                    <a:pt x="113347" y="146209"/>
                  </a:lnTo>
                  <a:lnTo>
                    <a:pt x="275844" y="146209"/>
                  </a:lnTo>
                  <a:close/>
                  <a:moveTo>
                    <a:pt x="292513" y="0"/>
                  </a:moveTo>
                  <a:cubicBezTo>
                    <a:pt x="310039" y="0"/>
                    <a:pt x="324612" y="14478"/>
                    <a:pt x="324612" y="32004"/>
                  </a:cubicBezTo>
                  <a:lnTo>
                    <a:pt x="324612" y="227076"/>
                  </a:lnTo>
                  <a:cubicBezTo>
                    <a:pt x="324612" y="244602"/>
                    <a:pt x="310039" y="259937"/>
                    <a:pt x="292513" y="259937"/>
                  </a:cubicBezTo>
                  <a:lnTo>
                    <a:pt x="97536" y="259937"/>
                  </a:lnTo>
                  <a:cubicBezTo>
                    <a:pt x="79915" y="259937"/>
                    <a:pt x="64675" y="244602"/>
                    <a:pt x="64675" y="227076"/>
                  </a:cubicBezTo>
                  <a:lnTo>
                    <a:pt x="64675" y="32004"/>
                  </a:lnTo>
                  <a:cubicBezTo>
                    <a:pt x="64675" y="14478"/>
                    <a:pt x="79915" y="0"/>
                    <a:pt x="97536" y="0"/>
                  </a:cubicBezTo>
                  <a:lnTo>
                    <a:pt x="292513" y="0"/>
                  </a:lnTo>
                  <a:close/>
                  <a:moveTo>
                    <a:pt x="32004" y="64865"/>
                  </a:moveTo>
                  <a:lnTo>
                    <a:pt x="32004" y="292513"/>
                  </a:lnTo>
                  <a:lnTo>
                    <a:pt x="259651" y="292513"/>
                  </a:lnTo>
                  <a:lnTo>
                    <a:pt x="259651" y="324517"/>
                  </a:lnTo>
                  <a:lnTo>
                    <a:pt x="32004" y="324517"/>
                  </a:lnTo>
                  <a:cubicBezTo>
                    <a:pt x="14478" y="324517"/>
                    <a:pt x="0" y="310039"/>
                    <a:pt x="0" y="292513"/>
                  </a:cubicBezTo>
                  <a:lnTo>
                    <a:pt x="0" y="64865"/>
                  </a:lnTo>
                  <a:lnTo>
                    <a:pt x="32004" y="64865"/>
                  </a:lnTo>
                  <a:close/>
                </a:path>
              </a:pathLst>
            </a:custGeom>
            <a:solidFill>
              <a:srgbClr val="772274"/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8340280" y="4387024"/>
            <a:ext cx="2672048" cy="491490"/>
            <a:chOff x="8340280" y="4387024"/>
            <a:chExt cx="2672048" cy="491490"/>
          </a:xfrm>
        </p:grpSpPr>
        <p:sp>
          <p:nvSpPr>
            <p:cNvPr id="52" name="Rectangle 52"/>
            <p:cNvSpPr/>
            <p:nvPr/>
          </p:nvSpPr>
          <p:spPr>
            <a:xfrm>
              <a:off x="8340280" y="4387024"/>
              <a:ext cx="2672048" cy="49149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40280" y="4387024"/>
              <a:ext cx="2672048" cy="4914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Hardware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647081" y="4820126"/>
            <a:ext cx="2017681" cy="702945"/>
            <a:chOff x="8647081" y="4820126"/>
            <a:chExt cx="2017681" cy="702945"/>
          </a:xfrm>
        </p:grpSpPr>
        <p:sp>
          <p:nvSpPr>
            <p:cNvPr id="55" name="Rectangle 55"/>
            <p:cNvSpPr/>
            <p:nvPr/>
          </p:nvSpPr>
          <p:spPr>
            <a:xfrm>
              <a:off x="8647081" y="4820126"/>
              <a:ext cx="2017681" cy="7029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47081" y="4820126"/>
              <a:ext cx="2017681" cy="702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400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8 P100 GPUs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515284" y="4031171"/>
            <a:ext cx="324612" cy="324517"/>
            <a:chOff x="9515284" y="4031171"/>
            <a:chExt cx="324612" cy="324517"/>
          </a:xfrm>
        </p:grpSpPr>
        <p:sp>
          <p:nvSpPr>
            <p:cNvPr id="58" name="Freeform 58"/>
            <p:cNvSpPr/>
            <p:nvPr/>
          </p:nvSpPr>
          <p:spPr>
            <a:xfrm>
              <a:off x="9515284" y="4031171"/>
              <a:ext cx="324612" cy="324517"/>
            </a:xfrm>
            <a:custGeom>
              <a:avLst/>
              <a:gdLst/>
              <a:ahLst/>
              <a:cxnLst/>
              <a:rect l="l" t="t" r="r" b="b"/>
              <a:pathLst>
                <a:path w="324612" h="324517">
                  <a:moveTo>
                    <a:pt x="275844" y="80772"/>
                  </a:moveTo>
                  <a:lnTo>
                    <a:pt x="275844" y="48768"/>
                  </a:lnTo>
                  <a:lnTo>
                    <a:pt x="113347" y="48768"/>
                  </a:lnTo>
                  <a:lnTo>
                    <a:pt x="113347" y="80772"/>
                  </a:lnTo>
                  <a:lnTo>
                    <a:pt x="275844" y="80772"/>
                  </a:lnTo>
                  <a:close/>
                  <a:moveTo>
                    <a:pt x="210883" y="211169"/>
                  </a:moveTo>
                  <a:lnTo>
                    <a:pt x="210883" y="178308"/>
                  </a:lnTo>
                  <a:lnTo>
                    <a:pt x="113347" y="178308"/>
                  </a:lnTo>
                  <a:lnTo>
                    <a:pt x="113347" y="211169"/>
                  </a:lnTo>
                  <a:lnTo>
                    <a:pt x="210883" y="211169"/>
                  </a:lnTo>
                  <a:close/>
                  <a:moveTo>
                    <a:pt x="275844" y="146304"/>
                  </a:moveTo>
                  <a:lnTo>
                    <a:pt x="275844" y="113633"/>
                  </a:lnTo>
                  <a:lnTo>
                    <a:pt x="113347" y="113633"/>
                  </a:lnTo>
                  <a:lnTo>
                    <a:pt x="113347" y="146304"/>
                  </a:lnTo>
                  <a:lnTo>
                    <a:pt x="275844" y="146304"/>
                  </a:lnTo>
                  <a:close/>
                  <a:moveTo>
                    <a:pt x="292513" y="0"/>
                  </a:moveTo>
                  <a:cubicBezTo>
                    <a:pt x="310039" y="0"/>
                    <a:pt x="324612" y="14478"/>
                    <a:pt x="324612" y="32004"/>
                  </a:cubicBezTo>
                  <a:lnTo>
                    <a:pt x="324612" y="227076"/>
                  </a:lnTo>
                  <a:cubicBezTo>
                    <a:pt x="324612" y="244602"/>
                    <a:pt x="310039" y="259937"/>
                    <a:pt x="292513" y="259937"/>
                  </a:cubicBezTo>
                  <a:lnTo>
                    <a:pt x="97536" y="259937"/>
                  </a:lnTo>
                  <a:cubicBezTo>
                    <a:pt x="79915" y="259937"/>
                    <a:pt x="64675" y="244602"/>
                    <a:pt x="64675" y="227076"/>
                  </a:cubicBezTo>
                  <a:lnTo>
                    <a:pt x="64675" y="32004"/>
                  </a:lnTo>
                  <a:cubicBezTo>
                    <a:pt x="64675" y="14478"/>
                    <a:pt x="79915" y="0"/>
                    <a:pt x="97536" y="0"/>
                  </a:cubicBezTo>
                  <a:lnTo>
                    <a:pt x="292513" y="0"/>
                  </a:lnTo>
                  <a:close/>
                  <a:moveTo>
                    <a:pt x="32004" y="64865"/>
                  </a:moveTo>
                  <a:lnTo>
                    <a:pt x="32004" y="292513"/>
                  </a:lnTo>
                  <a:lnTo>
                    <a:pt x="259651" y="292513"/>
                  </a:lnTo>
                  <a:lnTo>
                    <a:pt x="259651" y="324517"/>
                  </a:lnTo>
                  <a:lnTo>
                    <a:pt x="32004" y="324517"/>
                  </a:lnTo>
                  <a:cubicBezTo>
                    <a:pt x="14478" y="324517"/>
                    <a:pt x="0" y="310039"/>
                    <a:pt x="0" y="292513"/>
                  </a:cubicBezTo>
                  <a:lnTo>
                    <a:pt x="0" y="64865"/>
                  </a:lnTo>
                  <a:lnTo>
                    <a:pt x="32004" y="648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5294376" y="4387024"/>
            <a:ext cx="2672048" cy="491490"/>
            <a:chOff x="5294376" y="4387024"/>
            <a:chExt cx="2672048" cy="491490"/>
          </a:xfrm>
        </p:grpSpPr>
        <p:sp>
          <p:nvSpPr>
            <p:cNvPr id="60" name="Rectangle 60"/>
            <p:cNvSpPr/>
            <p:nvPr/>
          </p:nvSpPr>
          <p:spPr>
            <a:xfrm>
              <a:off x="5294376" y="4387024"/>
              <a:ext cx="2672048" cy="49149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94376" y="4387024"/>
              <a:ext cx="2672048" cy="4914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Inference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25560" y="4820126"/>
            <a:ext cx="1997774" cy="702945"/>
            <a:chOff x="5625560" y="4820126"/>
            <a:chExt cx="1997774" cy="702945"/>
          </a:xfrm>
        </p:grpSpPr>
        <p:sp>
          <p:nvSpPr>
            <p:cNvPr id="63" name="Rectangle 63"/>
            <p:cNvSpPr/>
            <p:nvPr/>
          </p:nvSpPr>
          <p:spPr>
            <a:xfrm>
              <a:off x="5625560" y="4820126"/>
              <a:ext cx="1997774" cy="7029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25560" y="4820126"/>
              <a:ext cx="1997774" cy="702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beam=4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469285" y="4031171"/>
            <a:ext cx="324612" cy="324517"/>
            <a:chOff x="6469285" y="4031171"/>
            <a:chExt cx="324612" cy="324517"/>
          </a:xfrm>
        </p:grpSpPr>
        <p:sp>
          <p:nvSpPr>
            <p:cNvPr id="66" name="Freeform 66"/>
            <p:cNvSpPr/>
            <p:nvPr/>
          </p:nvSpPr>
          <p:spPr>
            <a:xfrm>
              <a:off x="6469285" y="4031171"/>
              <a:ext cx="324612" cy="324517"/>
            </a:xfrm>
            <a:custGeom>
              <a:avLst/>
              <a:gdLst/>
              <a:ahLst/>
              <a:cxnLst/>
              <a:rect l="l" t="t" r="r" b="b"/>
              <a:pathLst>
                <a:path w="324612" h="324517">
                  <a:moveTo>
                    <a:pt x="275844" y="80772"/>
                  </a:moveTo>
                  <a:lnTo>
                    <a:pt x="275844" y="48768"/>
                  </a:lnTo>
                  <a:lnTo>
                    <a:pt x="113443" y="48768"/>
                  </a:lnTo>
                  <a:lnTo>
                    <a:pt x="113443" y="80772"/>
                  </a:lnTo>
                  <a:lnTo>
                    <a:pt x="275844" y="80772"/>
                  </a:lnTo>
                  <a:close/>
                  <a:moveTo>
                    <a:pt x="210979" y="211169"/>
                  </a:moveTo>
                  <a:lnTo>
                    <a:pt x="210979" y="178308"/>
                  </a:lnTo>
                  <a:lnTo>
                    <a:pt x="113443" y="178308"/>
                  </a:lnTo>
                  <a:lnTo>
                    <a:pt x="113443" y="211169"/>
                  </a:lnTo>
                  <a:lnTo>
                    <a:pt x="210979" y="211169"/>
                  </a:lnTo>
                  <a:close/>
                  <a:moveTo>
                    <a:pt x="275844" y="146304"/>
                  </a:moveTo>
                  <a:lnTo>
                    <a:pt x="275844" y="113633"/>
                  </a:lnTo>
                  <a:lnTo>
                    <a:pt x="113443" y="113633"/>
                  </a:lnTo>
                  <a:lnTo>
                    <a:pt x="113443" y="146304"/>
                  </a:lnTo>
                  <a:lnTo>
                    <a:pt x="275844" y="146304"/>
                  </a:lnTo>
                  <a:close/>
                  <a:moveTo>
                    <a:pt x="292608" y="0"/>
                  </a:moveTo>
                  <a:cubicBezTo>
                    <a:pt x="310134" y="0"/>
                    <a:pt x="324612" y="14478"/>
                    <a:pt x="324612" y="32004"/>
                  </a:cubicBezTo>
                  <a:lnTo>
                    <a:pt x="324612" y="227076"/>
                  </a:lnTo>
                  <a:cubicBezTo>
                    <a:pt x="324612" y="244602"/>
                    <a:pt x="310134" y="259937"/>
                    <a:pt x="292608" y="259937"/>
                  </a:cubicBezTo>
                  <a:lnTo>
                    <a:pt x="97536" y="259937"/>
                  </a:lnTo>
                  <a:cubicBezTo>
                    <a:pt x="80010" y="259937"/>
                    <a:pt x="64675" y="244602"/>
                    <a:pt x="64675" y="227076"/>
                  </a:cubicBezTo>
                  <a:lnTo>
                    <a:pt x="64675" y="32004"/>
                  </a:lnTo>
                  <a:cubicBezTo>
                    <a:pt x="64675" y="14478"/>
                    <a:pt x="80010" y="0"/>
                    <a:pt x="97536" y="0"/>
                  </a:cubicBezTo>
                  <a:lnTo>
                    <a:pt x="292608" y="0"/>
                  </a:lnTo>
                  <a:close/>
                  <a:moveTo>
                    <a:pt x="32099" y="64865"/>
                  </a:moveTo>
                  <a:lnTo>
                    <a:pt x="32099" y="292513"/>
                  </a:lnTo>
                  <a:lnTo>
                    <a:pt x="259651" y="292513"/>
                  </a:lnTo>
                  <a:lnTo>
                    <a:pt x="259651" y="324517"/>
                  </a:lnTo>
                  <a:lnTo>
                    <a:pt x="32099" y="324517"/>
                  </a:lnTo>
                  <a:cubicBezTo>
                    <a:pt x="14573" y="324517"/>
                    <a:pt x="0" y="310039"/>
                    <a:pt x="0" y="292513"/>
                  </a:cubicBezTo>
                  <a:lnTo>
                    <a:pt x="0" y="64865"/>
                  </a:lnTo>
                  <a:lnTo>
                    <a:pt x="32099" y="64865"/>
                  </a:ln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1015079" y="4263866"/>
            <a:ext cx="343852" cy="344806"/>
            <a:chOff x="1015079" y="4263866"/>
            <a:chExt cx="343852" cy="344806"/>
          </a:xfrm>
        </p:grpSpPr>
        <p:sp>
          <p:nvSpPr>
            <p:cNvPr id="68" name="Freeform 68"/>
            <p:cNvSpPr/>
            <p:nvPr/>
          </p:nvSpPr>
          <p:spPr>
            <a:xfrm>
              <a:off x="1099661" y="4508278"/>
              <a:ext cx="171926" cy="100394"/>
            </a:xfrm>
            <a:custGeom>
              <a:avLst/>
              <a:gdLst/>
              <a:ahLst/>
              <a:cxnLst/>
              <a:rect l="l" t="t" r="r" b="b"/>
              <a:pathLst>
                <a:path w="171926" h="100394">
                  <a:moveTo>
                    <a:pt x="0" y="0"/>
                  </a:moveTo>
                  <a:lnTo>
                    <a:pt x="14859" y="92964"/>
                  </a:lnTo>
                  <a:cubicBezTo>
                    <a:pt x="16669" y="97631"/>
                    <a:pt x="19526" y="100394"/>
                    <a:pt x="26003" y="100394"/>
                  </a:cubicBezTo>
                  <a:lnTo>
                    <a:pt x="146876" y="100394"/>
                  </a:lnTo>
                  <a:cubicBezTo>
                    <a:pt x="151447" y="100394"/>
                    <a:pt x="156115" y="97631"/>
                    <a:pt x="157067" y="92964"/>
                  </a:cubicBezTo>
                  <a:lnTo>
                    <a:pt x="171926" y="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1071753" y="4426458"/>
              <a:ext cx="232315" cy="60388"/>
            </a:xfrm>
            <a:custGeom>
              <a:avLst/>
              <a:gdLst/>
              <a:ahLst/>
              <a:cxnLst/>
              <a:rect l="l" t="t" r="r" b="b"/>
              <a:pathLst>
                <a:path w="232315" h="60388">
                  <a:moveTo>
                    <a:pt x="36290" y="0"/>
                  </a:moveTo>
                  <a:cubicBezTo>
                    <a:pt x="14859" y="0"/>
                    <a:pt x="0" y="19526"/>
                    <a:pt x="8382" y="40957"/>
                  </a:cubicBezTo>
                  <a:cubicBezTo>
                    <a:pt x="8382" y="50197"/>
                    <a:pt x="16764" y="56674"/>
                    <a:pt x="26003" y="59531"/>
                  </a:cubicBezTo>
                  <a:cubicBezTo>
                    <a:pt x="27908" y="60388"/>
                    <a:pt x="31623" y="60388"/>
                    <a:pt x="35338" y="60388"/>
                  </a:cubicBezTo>
                  <a:lnTo>
                    <a:pt x="196120" y="60388"/>
                  </a:lnTo>
                  <a:cubicBezTo>
                    <a:pt x="199835" y="60388"/>
                    <a:pt x="202597" y="59531"/>
                    <a:pt x="205454" y="59531"/>
                  </a:cubicBezTo>
                  <a:cubicBezTo>
                    <a:pt x="214694" y="56674"/>
                    <a:pt x="222123" y="50197"/>
                    <a:pt x="225838" y="40957"/>
                  </a:cubicBezTo>
                  <a:cubicBezTo>
                    <a:pt x="232315" y="19526"/>
                    <a:pt x="217456" y="0"/>
                    <a:pt x="198025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1015079" y="4263866"/>
              <a:ext cx="343852" cy="203549"/>
            </a:xfrm>
            <a:custGeom>
              <a:avLst/>
              <a:gdLst/>
              <a:ahLst/>
              <a:cxnLst/>
              <a:rect l="l" t="t" r="r" b="b"/>
              <a:pathLst>
                <a:path w="343852" h="203549">
                  <a:moveTo>
                    <a:pt x="29718" y="0"/>
                  </a:moveTo>
                  <a:cubicBezTo>
                    <a:pt x="13907" y="0"/>
                    <a:pt x="0" y="13907"/>
                    <a:pt x="0" y="30671"/>
                  </a:cubicBezTo>
                  <a:lnTo>
                    <a:pt x="0" y="171926"/>
                  </a:lnTo>
                  <a:cubicBezTo>
                    <a:pt x="0" y="188690"/>
                    <a:pt x="13907" y="203549"/>
                    <a:pt x="29718" y="203549"/>
                  </a:cubicBezTo>
                  <a:lnTo>
                    <a:pt x="41815" y="203549"/>
                  </a:lnTo>
                  <a:cubicBezTo>
                    <a:pt x="40862" y="199835"/>
                    <a:pt x="40862" y="196120"/>
                    <a:pt x="40862" y="193262"/>
                  </a:cubicBezTo>
                  <a:cubicBezTo>
                    <a:pt x="40862" y="165449"/>
                    <a:pt x="62294" y="143066"/>
                    <a:pt x="90107" y="143066"/>
                  </a:cubicBezTo>
                  <a:lnTo>
                    <a:pt x="111538" y="143066"/>
                  </a:lnTo>
                  <a:cubicBezTo>
                    <a:pt x="115253" y="126397"/>
                    <a:pt x="125444" y="114300"/>
                    <a:pt x="139351" y="106871"/>
                  </a:cubicBezTo>
                  <a:cubicBezTo>
                    <a:pt x="133826" y="99441"/>
                    <a:pt x="130112" y="92012"/>
                    <a:pt x="130112" y="81725"/>
                  </a:cubicBezTo>
                  <a:cubicBezTo>
                    <a:pt x="130112" y="59436"/>
                    <a:pt x="148685" y="40862"/>
                    <a:pt x="170974" y="40862"/>
                  </a:cubicBezTo>
                  <a:cubicBezTo>
                    <a:pt x="192405" y="40862"/>
                    <a:pt x="210979" y="59436"/>
                    <a:pt x="210979" y="81725"/>
                  </a:cubicBezTo>
                  <a:cubicBezTo>
                    <a:pt x="210979" y="91059"/>
                    <a:pt x="208217" y="100394"/>
                    <a:pt x="201644" y="106871"/>
                  </a:cubicBezTo>
                  <a:cubicBezTo>
                    <a:pt x="215646" y="114300"/>
                    <a:pt x="226790" y="126397"/>
                    <a:pt x="229552" y="143066"/>
                  </a:cubicBezTo>
                  <a:lnTo>
                    <a:pt x="250984" y="143066"/>
                  </a:lnTo>
                  <a:cubicBezTo>
                    <a:pt x="278797" y="143066"/>
                    <a:pt x="301085" y="165449"/>
                    <a:pt x="301085" y="193262"/>
                  </a:cubicBezTo>
                  <a:cubicBezTo>
                    <a:pt x="301085" y="196120"/>
                    <a:pt x="301085" y="199835"/>
                    <a:pt x="299276" y="203549"/>
                  </a:cubicBezTo>
                  <a:lnTo>
                    <a:pt x="312230" y="203549"/>
                  </a:lnTo>
                  <a:cubicBezTo>
                    <a:pt x="328994" y="203549"/>
                    <a:pt x="342995" y="189548"/>
                    <a:pt x="342995" y="171926"/>
                  </a:cubicBezTo>
                  <a:lnTo>
                    <a:pt x="342995" y="30671"/>
                  </a:lnTo>
                  <a:cubicBezTo>
                    <a:pt x="343852" y="13907"/>
                    <a:pt x="329946" y="0"/>
                    <a:pt x="313182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1147000" y="4387406"/>
              <a:ext cx="77153" cy="20479"/>
            </a:xfrm>
            <a:custGeom>
              <a:avLst/>
              <a:gdLst/>
              <a:ahLst/>
              <a:cxnLst/>
              <a:rect l="l" t="t" r="r" b="b"/>
              <a:pathLst>
                <a:path w="77153" h="20479">
                  <a:moveTo>
                    <a:pt x="29813" y="0"/>
                  </a:moveTo>
                  <a:cubicBezTo>
                    <a:pt x="16764" y="0"/>
                    <a:pt x="4667" y="9335"/>
                    <a:pt x="0" y="20479"/>
                  </a:cubicBezTo>
                  <a:lnTo>
                    <a:pt x="77153" y="20479"/>
                  </a:lnTo>
                  <a:cubicBezTo>
                    <a:pt x="73438" y="7429"/>
                    <a:pt x="62293" y="0"/>
                    <a:pt x="49339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1167479" y="4327017"/>
              <a:ext cx="39053" cy="39053"/>
            </a:xfrm>
            <a:custGeom>
              <a:avLst/>
              <a:gdLst/>
              <a:ahLst/>
              <a:cxnLst/>
              <a:rect l="l" t="t" r="r" b="b"/>
              <a:pathLst>
                <a:path w="39053" h="39053">
                  <a:moveTo>
                    <a:pt x="19526" y="0"/>
                  </a:moveTo>
                  <a:cubicBezTo>
                    <a:pt x="7430" y="0"/>
                    <a:pt x="0" y="9335"/>
                    <a:pt x="0" y="19526"/>
                  </a:cubicBezTo>
                  <a:cubicBezTo>
                    <a:pt x="0" y="29813"/>
                    <a:pt x="9335" y="39053"/>
                    <a:pt x="19526" y="39053"/>
                  </a:cubicBezTo>
                  <a:cubicBezTo>
                    <a:pt x="29718" y="39053"/>
                    <a:pt x="39053" y="29813"/>
                    <a:pt x="39053" y="19526"/>
                  </a:cubicBezTo>
                  <a:cubicBezTo>
                    <a:pt x="39053" y="7430"/>
                    <a:pt x="29718" y="0"/>
                    <a:pt x="19526" y="0"/>
                  </a:cubicBezTo>
                  <a:close/>
                </a:path>
              </a:pathLst>
            </a:custGeom>
            <a:noFill/>
            <a:ln>
              <a:noFill/>
            </a:ln>
          </p:spPr>
        </p:sp>
      </p:grpSp>
      <p:sp>
        <p:nvSpPr>
          <p:cNvPr id="74" name="Rectangle 7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7" name="Group 77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75" name="Rectangle 75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训练：并行翻译设置</a:t>
              </a:r>
            </a:p>
          </p:txBody>
        </p:sp>
      </p:grpSp>
      <p:sp>
        <p:nvSpPr>
          <p:cNvPr id="78" name="Line 78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79" name="Image 79"/>
          <p:cNvPicPr>
            <a:picLocks noChangeAspect="1"/>
          </p:cNvPicPr>
          <p:nvPr/>
        </p:nvPicPr>
        <p:blipFill>
          <a:blip r:embed="rId5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142810" y="4504277"/>
            <a:ext cx="9751981" cy="356426"/>
            <a:chOff x="1142810" y="4504277"/>
            <a:chExt cx="9751981" cy="356426"/>
          </a:xfrm>
        </p:grpSpPr>
        <p:sp>
          <p:nvSpPr>
            <p:cNvPr id="3" name="Freeform 3"/>
            <p:cNvSpPr/>
            <p:nvPr/>
          </p:nvSpPr>
          <p:spPr>
            <a:xfrm>
              <a:off x="1142810" y="4504277"/>
              <a:ext cx="9751981" cy="356426"/>
            </a:xfrm>
            <a:custGeom>
              <a:avLst/>
              <a:gdLst/>
              <a:ahLst/>
              <a:cxnLst/>
              <a:rect l="l" t="t" r="r" b="b"/>
              <a:pathLst>
                <a:path w="9751981" h="356426">
                  <a:moveTo>
                    <a:pt x="9751981" y="3143"/>
                  </a:moveTo>
                  <a:cubicBezTo>
                    <a:pt x="8255032" y="231362"/>
                    <a:pt x="6608635" y="356426"/>
                    <a:pt x="4881753" y="356426"/>
                  </a:cubicBezTo>
                  <a:cubicBezTo>
                    <a:pt x="3150203" y="356426"/>
                    <a:pt x="1499235" y="228219"/>
                    <a:pt x="0" y="0"/>
                  </a:cubicBezTo>
                </a:path>
              </a:pathLst>
            </a:custGeom>
            <a:noFill/>
            <a:ln w="19050" cap="flat">
              <a:solidFill>
                <a:srgbClr val="3C3652"/>
              </a:solidFill>
              <a:miter lim="800000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142810" y="1459802"/>
            <a:ext cx="2188845" cy="2985326"/>
            <a:chOff x="1142810" y="1459802"/>
            <a:chExt cx="2188845" cy="2985326"/>
          </a:xfrm>
        </p:grpSpPr>
        <p:sp>
          <p:nvSpPr>
            <p:cNvPr id="5" name="Rectangle 5"/>
            <p:cNvSpPr/>
            <p:nvPr/>
          </p:nvSpPr>
          <p:spPr>
            <a:xfrm>
              <a:off x="1142810" y="1459802"/>
              <a:ext cx="2188845" cy="2985230"/>
            </a:xfrm>
            <a:prstGeom prst="roundRect">
              <a:avLst>
                <a:gd name="adj" fmla="val 1305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2810" y="1459802"/>
              <a:ext cx="2188845" cy="2985230"/>
            </a:xfrm>
            <a:custGeom>
              <a:avLst/>
              <a:gdLst/>
              <a:ahLst/>
              <a:cxnLst/>
              <a:rect l="l" t="t" r="r" b="b"/>
              <a:pathLst>
                <a:path w="2188845" h="2985230">
                  <a:moveTo>
                    <a:pt x="2188750" y="0"/>
                  </a:moveTo>
                  <a:lnTo>
                    <a:pt x="2188750" y="2985326"/>
                  </a:lnTo>
                  <a:cubicBezTo>
                    <a:pt x="1433227" y="2936843"/>
                    <a:pt x="701802" y="2872359"/>
                    <a:pt x="0" y="2791682"/>
                  </a:cubicBezTo>
                  <a:lnTo>
                    <a:pt x="0" y="0"/>
                  </a:lnTo>
                  <a:lnTo>
                    <a:pt x="2188750" y="0"/>
                  </a:lnTo>
                  <a:close/>
                </a:path>
              </a:pathLst>
            </a:custGeom>
          </p:spPr>
        </p:pic>
        <p:sp>
          <p:nvSpPr>
            <p:cNvPr id="7" name="Freeform 7"/>
            <p:cNvSpPr/>
            <p:nvPr/>
          </p:nvSpPr>
          <p:spPr>
            <a:xfrm>
              <a:off x="1142810" y="1459802"/>
              <a:ext cx="2188750" cy="2985326"/>
            </a:xfrm>
            <a:custGeom>
              <a:avLst/>
              <a:gdLst/>
              <a:ahLst/>
              <a:cxnLst/>
              <a:rect l="l" t="t" r="r" b="b"/>
              <a:pathLst>
                <a:path w="2188750" h="2985326">
                  <a:moveTo>
                    <a:pt x="2188750" y="0"/>
                  </a:moveTo>
                  <a:lnTo>
                    <a:pt x="2188750" y="2985326"/>
                  </a:lnTo>
                  <a:cubicBezTo>
                    <a:pt x="1433227" y="2936843"/>
                    <a:pt x="701802" y="2872359"/>
                    <a:pt x="0" y="2791682"/>
                  </a:cubicBezTo>
                  <a:lnTo>
                    <a:pt x="0" y="0"/>
                  </a:lnTo>
                  <a:lnTo>
                    <a:pt x="2188750" y="0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663791" y="1459802"/>
            <a:ext cx="2188845" cy="3087529"/>
            <a:chOff x="3663791" y="1459802"/>
            <a:chExt cx="2188845" cy="3087529"/>
          </a:xfrm>
        </p:grpSpPr>
        <p:sp>
          <p:nvSpPr>
            <p:cNvPr id="9" name="Rectangle 9"/>
            <p:cNvSpPr/>
            <p:nvPr/>
          </p:nvSpPr>
          <p:spPr>
            <a:xfrm>
              <a:off x="3663791" y="1459802"/>
              <a:ext cx="2188845" cy="3087434"/>
            </a:xfrm>
            <a:prstGeom prst="roundRect">
              <a:avLst>
                <a:gd name="adj" fmla="val 1305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63791" y="1459802"/>
              <a:ext cx="2188845" cy="3087434"/>
            </a:xfrm>
            <a:custGeom>
              <a:avLst/>
              <a:gdLst/>
              <a:ahLst/>
              <a:cxnLst/>
              <a:rect l="l" t="t" r="r" b="b"/>
              <a:pathLst>
                <a:path w="2188845" h="3087434">
                  <a:moveTo>
                    <a:pt x="2188845" y="0"/>
                  </a:moveTo>
                  <a:lnTo>
                    <a:pt x="2188845" y="3087529"/>
                  </a:lnTo>
                  <a:cubicBezTo>
                    <a:pt x="1441323" y="3071336"/>
                    <a:pt x="709898" y="3039046"/>
                    <a:pt x="0" y="2996089"/>
                  </a:cubicBezTo>
                  <a:lnTo>
                    <a:pt x="0" y="0"/>
                  </a:lnTo>
                  <a:lnTo>
                    <a:pt x="2188845" y="0"/>
                  </a:lnTo>
                  <a:close/>
                </a:path>
              </a:pathLst>
            </a:custGeom>
          </p:spPr>
        </p:pic>
        <p:sp>
          <p:nvSpPr>
            <p:cNvPr id="11" name="Freeform 11"/>
            <p:cNvSpPr/>
            <p:nvPr/>
          </p:nvSpPr>
          <p:spPr>
            <a:xfrm>
              <a:off x="3663791" y="1459802"/>
              <a:ext cx="2188845" cy="3087529"/>
            </a:xfrm>
            <a:custGeom>
              <a:avLst/>
              <a:gdLst/>
              <a:ahLst/>
              <a:cxnLst/>
              <a:rect l="l" t="t" r="r" b="b"/>
              <a:pathLst>
                <a:path w="2188845" h="3087529">
                  <a:moveTo>
                    <a:pt x="2188845" y="0"/>
                  </a:moveTo>
                  <a:lnTo>
                    <a:pt x="2188845" y="3087529"/>
                  </a:lnTo>
                  <a:cubicBezTo>
                    <a:pt x="1441323" y="3071336"/>
                    <a:pt x="709898" y="3039046"/>
                    <a:pt x="0" y="2996089"/>
                  </a:cubicBezTo>
                  <a:lnTo>
                    <a:pt x="0" y="0"/>
                  </a:lnTo>
                  <a:lnTo>
                    <a:pt x="2188845" y="0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184868" y="1459802"/>
            <a:ext cx="2188845" cy="3087529"/>
            <a:chOff x="6184868" y="1459802"/>
            <a:chExt cx="2188845" cy="3087529"/>
          </a:xfrm>
        </p:grpSpPr>
        <p:sp>
          <p:nvSpPr>
            <p:cNvPr id="13" name="Rectangle 13"/>
            <p:cNvSpPr/>
            <p:nvPr/>
          </p:nvSpPr>
          <p:spPr>
            <a:xfrm>
              <a:off x="6184868" y="1459802"/>
              <a:ext cx="2188845" cy="3087434"/>
            </a:xfrm>
            <a:prstGeom prst="roundRect">
              <a:avLst>
                <a:gd name="adj" fmla="val 1305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4868" y="1459802"/>
              <a:ext cx="2188845" cy="3087434"/>
            </a:xfrm>
            <a:custGeom>
              <a:avLst/>
              <a:gdLst/>
              <a:ahLst/>
              <a:cxnLst/>
              <a:rect l="l" t="t" r="r" b="b"/>
              <a:pathLst>
                <a:path w="2188845" h="3087434">
                  <a:moveTo>
                    <a:pt x="2188845" y="0"/>
                  </a:moveTo>
                  <a:lnTo>
                    <a:pt x="2188845" y="2996089"/>
                  </a:lnTo>
                  <a:cubicBezTo>
                    <a:pt x="1478947" y="3041809"/>
                    <a:pt x="747522" y="3071336"/>
                    <a:pt x="0" y="3087529"/>
                  </a:cubicBezTo>
                  <a:lnTo>
                    <a:pt x="0" y="0"/>
                  </a:lnTo>
                  <a:lnTo>
                    <a:pt x="2188845" y="0"/>
                  </a:lnTo>
                  <a:close/>
                </a:path>
              </a:pathLst>
            </a:custGeom>
          </p:spPr>
        </p:pic>
        <p:sp>
          <p:nvSpPr>
            <p:cNvPr id="15" name="Freeform 15"/>
            <p:cNvSpPr/>
            <p:nvPr/>
          </p:nvSpPr>
          <p:spPr>
            <a:xfrm>
              <a:off x="6184868" y="1459802"/>
              <a:ext cx="2188845" cy="3087529"/>
            </a:xfrm>
            <a:custGeom>
              <a:avLst/>
              <a:gdLst/>
              <a:ahLst/>
              <a:cxnLst/>
              <a:rect l="l" t="t" r="r" b="b"/>
              <a:pathLst>
                <a:path w="2188845" h="3087529">
                  <a:moveTo>
                    <a:pt x="2188845" y="0"/>
                  </a:moveTo>
                  <a:lnTo>
                    <a:pt x="2188845" y="2996089"/>
                  </a:lnTo>
                  <a:cubicBezTo>
                    <a:pt x="1478947" y="3041809"/>
                    <a:pt x="747522" y="3071336"/>
                    <a:pt x="0" y="3087529"/>
                  </a:cubicBezTo>
                  <a:lnTo>
                    <a:pt x="0" y="0"/>
                  </a:lnTo>
                  <a:lnTo>
                    <a:pt x="2188845" y="0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705945" y="1459802"/>
            <a:ext cx="2188845" cy="2987992"/>
            <a:chOff x="8705945" y="1459802"/>
            <a:chExt cx="2188845" cy="2987992"/>
          </a:xfrm>
        </p:grpSpPr>
        <p:sp>
          <p:nvSpPr>
            <p:cNvPr id="17" name="Rectangle 17"/>
            <p:cNvSpPr/>
            <p:nvPr/>
          </p:nvSpPr>
          <p:spPr>
            <a:xfrm>
              <a:off x="8705945" y="1459802"/>
              <a:ext cx="2188845" cy="2987897"/>
            </a:xfrm>
            <a:prstGeom prst="roundRect">
              <a:avLst>
                <a:gd name="adj" fmla="val 1305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05945" y="1459802"/>
              <a:ext cx="2188845" cy="2987897"/>
            </a:xfrm>
            <a:custGeom>
              <a:avLst/>
              <a:gdLst/>
              <a:ahLst/>
              <a:cxnLst/>
              <a:rect l="l" t="t" r="r" b="b"/>
              <a:pathLst>
                <a:path w="2188845" h="2987897">
                  <a:moveTo>
                    <a:pt x="2188845" y="0"/>
                  </a:moveTo>
                  <a:lnTo>
                    <a:pt x="2188845" y="2794349"/>
                  </a:lnTo>
                  <a:cubicBezTo>
                    <a:pt x="1487043" y="2872359"/>
                    <a:pt x="752951" y="2936843"/>
                    <a:pt x="0" y="2987992"/>
                  </a:cubicBezTo>
                  <a:lnTo>
                    <a:pt x="0" y="0"/>
                  </a:lnTo>
                  <a:lnTo>
                    <a:pt x="2188845" y="0"/>
                  </a:lnTo>
                  <a:close/>
                </a:path>
              </a:pathLst>
            </a:custGeom>
          </p:spPr>
        </p:pic>
        <p:sp>
          <p:nvSpPr>
            <p:cNvPr id="19" name="Freeform 19"/>
            <p:cNvSpPr/>
            <p:nvPr/>
          </p:nvSpPr>
          <p:spPr>
            <a:xfrm>
              <a:off x="8705945" y="1459802"/>
              <a:ext cx="2188845" cy="2987992"/>
            </a:xfrm>
            <a:custGeom>
              <a:avLst/>
              <a:gdLst/>
              <a:ahLst/>
              <a:cxnLst/>
              <a:rect l="l" t="t" r="r" b="b"/>
              <a:pathLst>
                <a:path w="2188845" h="2987992">
                  <a:moveTo>
                    <a:pt x="2188845" y="0"/>
                  </a:moveTo>
                  <a:lnTo>
                    <a:pt x="2188845" y="2794349"/>
                  </a:lnTo>
                  <a:cubicBezTo>
                    <a:pt x="1487043" y="2872359"/>
                    <a:pt x="752951" y="2936843"/>
                    <a:pt x="0" y="2987992"/>
                  </a:cubicBezTo>
                  <a:lnTo>
                    <a:pt x="0" y="0"/>
                  </a:lnTo>
                  <a:lnTo>
                    <a:pt x="2188845" y="0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347216" y="5079873"/>
            <a:ext cx="1789367" cy="1023747"/>
            <a:chOff x="1347216" y="5079873"/>
            <a:chExt cx="1789367" cy="1023747"/>
          </a:xfrm>
        </p:grpSpPr>
        <p:sp>
          <p:nvSpPr>
            <p:cNvPr id="21" name="Rectangle 21"/>
            <p:cNvSpPr/>
            <p:nvPr/>
          </p:nvSpPr>
          <p:spPr>
            <a:xfrm>
              <a:off x="1347216" y="5079873"/>
              <a:ext cx="1789367" cy="10237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47216" y="5079873"/>
              <a:ext cx="1789367" cy="1023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400" dirty="0">
                  <a:solidFill>
                    <a:srgbClr val="404040"/>
                  </a:solidFill>
                  <a:latin typeface="微软雅黑"/>
                  <a:ea typeface="Microsoft YaHei"/>
                  <a:cs typeface="微软雅黑"/>
                </a:rPr>
                <a:t>28.4 BLEU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20360" y="4558094"/>
            <a:ext cx="233648" cy="233648"/>
            <a:chOff x="2120360" y="4558094"/>
            <a:chExt cx="233648" cy="233648"/>
          </a:xfrm>
        </p:grpSpPr>
        <p:sp>
          <p:nvSpPr>
            <p:cNvPr id="24" name="Freeform 24"/>
            <p:cNvSpPr/>
            <p:nvPr/>
          </p:nvSpPr>
          <p:spPr>
            <a:xfrm>
              <a:off x="2120360" y="4558094"/>
              <a:ext cx="233648" cy="233648"/>
            </a:xfrm>
            <a:custGeom>
              <a:avLst/>
              <a:gdLst/>
              <a:ahLst/>
              <a:cxnLst/>
              <a:rect l="l" t="t" r="r" b="b"/>
              <a:pathLst>
                <a:path w="233648" h="233648">
                  <a:moveTo>
                    <a:pt x="233648" y="116776"/>
                  </a:moveTo>
                  <a:cubicBezTo>
                    <a:pt x="233648" y="181356"/>
                    <a:pt x="181356" y="233648"/>
                    <a:pt x="116776" y="233648"/>
                  </a:cubicBezTo>
                  <a:cubicBezTo>
                    <a:pt x="52292" y="233648"/>
                    <a:pt x="0" y="181356"/>
                    <a:pt x="0" y="116776"/>
                  </a:cubicBezTo>
                  <a:cubicBezTo>
                    <a:pt x="0" y="52292"/>
                    <a:pt x="52292" y="0"/>
                    <a:pt x="116776" y="0"/>
                  </a:cubicBezTo>
                  <a:cubicBezTo>
                    <a:pt x="181356" y="0"/>
                    <a:pt x="233648" y="52292"/>
                    <a:pt x="233648" y="116776"/>
                  </a:cubicBez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176558" y="4614291"/>
              <a:ext cx="121253" cy="121158"/>
            </a:xfrm>
            <a:custGeom>
              <a:avLst/>
              <a:gdLst/>
              <a:ahLst/>
              <a:cxnLst/>
              <a:rect l="l" t="t" r="r" b="b"/>
              <a:pathLst>
                <a:path w="121253" h="121158">
                  <a:moveTo>
                    <a:pt x="121253" y="60579"/>
                  </a:moveTo>
                  <a:cubicBezTo>
                    <a:pt x="121253" y="94012"/>
                    <a:pt x="94107" y="121158"/>
                    <a:pt x="60674" y="121158"/>
                  </a:cubicBezTo>
                  <a:cubicBezTo>
                    <a:pt x="27146" y="121158"/>
                    <a:pt x="0" y="94012"/>
                    <a:pt x="0" y="60579"/>
                  </a:cubicBezTo>
                  <a:cubicBezTo>
                    <a:pt x="0" y="27146"/>
                    <a:pt x="27146" y="0"/>
                    <a:pt x="60674" y="0"/>
                  </a:cubicBezTo>
                  <a:cubicBezTo>
                    <a:pt x="94107" y="0"/>
                    <a:pt x="121253" y="27146"/>
                    <a:pt x="121253" y="605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645057" y="4712113"/>
            <a:ext cx="233648" cy="233648"/>
            <a:chOff x="4645057" y="4712113"/>
            <a:chExt cx="233648" cy="233648"/>
          </a:xfrm>
        </p:grpSpPr>
        <p:sp>
          <p:nvSpPr>
            <p:cNvPr id="27" name="Freeform 27"/>
            <p:cNvSpPr/>
            <p:nvPr/>
          </p:nvSpPr>
          <p:spPr>
            <a:xfrm>
              <a:off x="4645057" y="4712113"/>
              <a:ext cx="233648" cy="233648"/>
            </a:xfrm>
            <a:custGeom>
              <a:avLst/>
              <a:gdLst/>
              <a:ahLst/>
              <a:cxnLst/>
              <a:rect l="l" t="t" r="r" b="b"/>
              <a:pathLst>
                <a:path w="233648" h="233648">
                  <a:moveTo>
                    <a:pt x="233648" y="116777"/>
                  </a:moveTo>
                  <a:cubicBezTo>
                    <a:pt x="233648" y="181356"/>
                    <a:pt x="181356" y="233648"/>
                    <a:pt x="116872" y="233648"/>
                  </a:cubicBezTo>
                  <a:cubicBezTo>
                    <a:pt x="52292" y="233648"/>
                    <a:pt x="0" y="181356"/>
                    <a:pt x="0" y="116777"/>
                  </a:cubicBezTo>
                  <a:cubicBezTo>
                    <a:pt x="0" y="52292"/>
                    <a:pt x="52292" y="0"/>
                    <a:pt x="116872" y="0"/>
                  </a:cubicBezTo>
                  <a:cubicBezTo>
                    <a:pt x="181356" y="0"/>
                    <a:pt x="233648" y="52292"/>
                    <a:pt x="233648" y="116777"/>
                  </a:cubicBez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701350" y="4768310"/>
              <a:ext cx="121158" cy="121158"/>
            </a:xfrm>
            <a:custGeom>
              <a:avLst/>
              <a:gdLst/>
              <a:ahLst/>
              <a:cxnLst/>
              <a:rect l="l" t="t" r="r" b="b"/>
              <a:pathLst>
                <a:path w="121158" h="121158">
                  <a:moveTo>
                    <a:pt x="121158" y="60579"/>
                  </a:moveTo>
                  <a:cubicBezTo>
                    <a:pt x="121158" y="94012"/>
                    <a:pt x="94012" y="121158"/>
                    <a:pt x="60579" y="121158"/>
                  </a:cubicBezTo>
                  <a:cubicBezTo>
                    <a:pt x="27051" y="121158"/>
                    <a:pt x="0" y="94012"/>
                    <a:pt x="0" y="60579"/>
                  </a:cubicBezTo>
                  <a:cubicBezTo>
                    <a:pt x="0" y="27146"/>
                    <a:pt x="27051" y="0"/>
                    <a:pt x="60579" y="0"/>
                  </a:cubicBezTo>
                  <a:cubicBezTo>
                    <a:pt x="94012" y="0"/>
                    <a:pt x="121158" y="27146"/>
                    <a:pt x="121158" y="605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171372" y="4729258"/>
            <a:ext cx="233744" cy="233648"/>
            <a:chOff x="7171372" y="4729258"/>
            <a:chExt cx="233744" cy="233648"/>
          </a:xfrm>
        </p:grpSpPr>
        <p:sp>
          <p:nvSpPr>
            <p:cNvPr id="30" name="Freeform 30"/>
            <p:cNvSpPr/>
            <p:nvPr/>
          </p:nvSpPr>
          <p:spPr>
            <a:xfrm>
              <a:off x="7171372" y="4729258"/>
              <a:ext cx="233744" cy="233648"/>
            </a:xfrm>
            <a:custGeom>
              <a:avLst/>
              <a:gdLst/>
              <a:ahLst/>
              <a:cxnLst/>
              <a:rect l="l" t="t" r="r" b="b"/>
              <a:pathLst>
                <a:path w="233744" h="233648">
                  <a:moveTo>
                    <a:pt x="233744" y="116776"/>
                  </a:moveTo>
                  <a:cubicBezTo>
                    <a:pt x="233744" y="181356"/>
                    <a:pt x="181451" y="233648"/>
                    <a:pt x="116872" y="233648"/>
                  </a:cubicBezTo>
                  <a:cubicBezTo>
                    <a:pt x="52388" y="233648"/>
                    <a:pt x="0" y="181356"/>
                    <a:pt x="0" y="116776"/>
                  </a:cubicBezTo>
                  <a:cubicBezTo>
                    <a:pt x="0" y="52292"/>
                    <a:pt x="52388" y="0"/>
                    <a:pt x="116872" y="0"/>
                  </a:cubicBezTo>
                  <a:cubicBezTo>
                    <a:pt x="181451" y="0"/>
                    <a:pt x="233744" y="52292"/>
                    <a:pt x="233744" y="116776"/>
                  </a:cubicBez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227665" y="4785455"/>
              <a:ext cx="121158" cy="121158"/>
            </a:xfrm>
            <a:custGeom>
              <a:avLst/>
              <a:gdLst/>
              <a:ahLst/>
              <a:cxnLst/>
              <a:rect l="l" t="t" r="r" b="b"/>
              <a:pathLst>
                <a:path w="121158" h="121158">
                  <a:moveTo>
                    <a:pt x="121158" y="60579"/>
                  </a:moveTo>
                  <a:cubicBezTo>
                    <a:pt x="121158" y="94107"/>
                    <a:pt x="94012" y="121158"/>
                    <a:pt x="60579" y="121158"/>
                  </a:cubicBezTo>
                  <a:cubicBezTo>
                    <a:pt x="27146" y="121158"/>
                    <a:pt x="0" y="94107"/>
                    <a:pt x="0" y="60579"/>
                  </a:cubicBezTo>
                  <a:cubicBezTo>
                    <a:pt x="0" y="27146"/>
                    <a:pt x="27146" y="0"/>
                    <a:pt x="60579" y="0"/>
                  </a:cubicBezTo>
                  <a:cubicBezTo>
                    <a:pt x="94012" y="0"/>
                    <a:pt x="121158" y="27146"/>
                    <a:pt x="121158" y="605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695307" y="4551807"/>
            <a:ext cx="233648" cy="233648"/>
            <a:chOff x="9695307" y="4551807"/>
            <a:chExt cx="233648" cy="233648"/>
          </a:xfrm>
        </p:grpSpPr>
        <p:sp>
          <p:nvSpPr>
            <p:cNvPr id="33" name="Freeform 33"/>
            <p:cNvSpPr/>
            <p:nvPr/>
          </p:nvSpPr>
          <p:spPr>
            <a:xfrm>
              <a:off x="9695307" y="4551807"/>
              <a:ext cx="233648" cy="233648"/>
            </a:xfrm>
            <a:custGeom>
              <a:avLst/>
              <a:gdLst/>
              <a:ahLst/>
              <a:cxnLst/>
              <a:rect l="l" t="t" r="r" b="b"/>
              <a:pathLst>
                <a:path w="233648" h="233648">
                  <a:moveTo>
                    <a:pt x="233648" y="116872"/>
                  </a:moveTo>
                  <a:cubicBezTo>
                    <a:pt x="233648" y="181356"/>
                    <a:pt x="181356" y="233648"/>
                    <a:pt x="116872" y="233648"/>
                  </a:cubicBezTo>
                  <a:cubicBezTo>
                    <a:pt x="52292" y="233648"/>
                    <a:pt x="0" y="181356"/>
                    <a:pt x="0" y="116872"/>
                  </a:cubicBezTo>
                  <a:cubicBezTo>
                    <a:pt x="0" y="52292"/>
                    <a:pt x="52292" y="0"/>
                    <a:pt x="116872" y="0"/>
                  </a:cubicBezTo>
                  <a:cubicBezTo>
                    <a:pt x="181356" y="0"/>
                    <a:pt x="233648" y="52292"/>
                    <a:pt x="233648" y="116872"/>
                  </a:cubicBez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751600" y="4608004"/>
              <a:ext cx="121158" cy="121253"/>
            </a:xfrm>
            <a:custGeom>
              <a:avLst/>
              <a:gdLst/>
              <a:ahLst/>
              <a:cxnLst/>
              <a:rect l="l" t="t" r="r" b="b"/>
              <a:pathLst>
                <a:path w="121158" h="121253">
                  <a:moveTo>
                    <a:pt x="121158" y="60674"/>
                  </a:moveTo>
                  <a:cubicBezTo>
                    <a:pt x="121158" y="94107"/>
                    <a:pt x="94012" y="121253"/>
                    <a:pt x="60579" y="121253"/>
                  </a:cubicBezTo>
                  <a:cubicBezTo>
                    <a:pt x="27051" y="121253"/>
                    <a:pt x="0" y="94107"/>
                    <a:pt x="0" y="60674"/>
                  </a:cubicBezTo>
                  <a:cubicBezTo>
                    <a:pt x="0" y="27146"/>
                    <a:pt x="27051" y="0"/>
                    <a:pt x="60579" y="0"/>
                  </a:cubicBezTo>
                  <a:cubicBezTo>
                    <a:pt x="94012" y="0"/>
                    <a:pt x="121158" y="27146"/>
                    <a:pt x="121158" y="606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868293" y="5079873"/>
            <a:ext cx="1788224" cy="1061847"/>
            <a:chOff x="3868293" y="5079873"/>
            <a:chExt cx="1788224" cy="1061847"/>
          </a:xfrm>
        </p:grpSpPr>
        <p:sp>
          <p:nvSpPr>
            <p:cNvPr id="36" name="Rectangle 36"/>
            <p:cNvSpPr/>
            <p:nvPr/>
          </p:nvSpPr>
          <p:spPr>
            <a:xfrm>
              <a:off x="3868293" y="5079873"/>
              <a:ext cx="1788224" cy="10618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68293" y="5079873"/>
              <a:ext cx="1788224" cy="10618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EN-DE 超过此前系统 2 BLEU+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98324" y="5079873"/>
            <a:ext cx="1788795" cy="1061847"/>
            <a:chOff x="6398324" y="5079873"/>
            <a:chExt cx="1788795" cy="1061847"/>
          </a:xfrm>
        </p:grpSpPr>
        <p:sp>
          <p:nvSpPr>
            <p:cNvPr id="39" name="Rectangle 39"/>
            <p:cNvSpPr/>
            <p:nvPr/>
          </p:nvSpPr>
          <p:spPr>
            <a:xfrm>
              <a:off x="6398324" y="5079873"/>
              <a:ext cx="1788795" cy="10618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8324" y="5079873"/>
              <a:ext cx="1788795" cy="10618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41.8 BLEU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922258" y="5079873"/>
            <a:ext cx="1806035" cy="1061847"/>
            <a:chOff x="8922258" y="5079873"/>
            <a:chExt cx="1806035" cy="1061847"/>
          </a:xfrm>
        </p:grpSpPr>
        <p:sp>
          <p:nvSpPr>
            <p:cNvPr id="42" name="Rectangle 42"/>
            <p:cNvSpPr/>
            <p:nvPr/>
          </p:nvSpPr>
          <p:spPr>
            <a:xfrm>
              <a:off x="8922258" y="5079873"/>
              <a:ext cx="1806035" cy="106184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22258" y="5079873"/>
              <a:ext cx="1806035" cy="10618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EN-FR big：8 GPU，3.5 天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8" name="Group 48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46" name="Rectangle 46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结果：质量与成本</a:t>
              </a:r>
            </a:p>
          </p:txBody>
        </p:sp>
      </p:grpSp>
      <p:sp>
        <p:nvSpPr>
          <p:cNvPr id="49" name="Line 49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50" name="Image 50"/>
          <p:cNvPicPr>
            <a:picLocks noChangeAspect="1"/>
          </p:cNvPicPr>
          <p:nvPr/>
        </p:nvPicPr>
        <p:blipFill>
          <a:blip r:embed="rId7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886968" y="1408652"/>
            <a:ext cx="2320862" cy="2636806"/>
            <a:chOff x="886968" y="1408652"/>
            <a:chExt cx="2320862" cy="2636806"/>
          </a:xfrm>
        </p:grpSpPr>
        <p:sp>
          <p:nvSpPr>
            <p:cNvPr id="3" name="Rectangle 3"/>
            <p:cNvSpPr/>
            <p:nvPr/>
          </p:nvSpPr>
          <p:spPr>
            <a:xfrm>
              <a:off x="886968" y="1408652"/>
              <a:ext cx="2320862" cy="2636806"/>
            </a:xfrm>
            <a:prstGeom prst="roundRect">
              <a:avLst>
                <a:gd name="adj" fmla="val 1231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968" y="1989353"/>
              <a:ext cx="2320862" cy="1475405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742122" y="1197197"/>
            <a:ext cx="594360" cy="594360"/>
            <a:chOff x="1742122" y="1197197"/>
            <a:chExt cx="594360" cy="594360"/>
          </a:xfrm>
        </p:grpSpPr>
        <p:sp>
          <p:nvSpPr>
            <p:cNvPr id="6" name="Freeform 6"/>
            <p:cNvSpPr/>
            <p:nvPr/>
          </p:nvSpPr>
          <p:spPr>
            <a:xfrm>
              <a:off x="1742122" y="1197197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594360" y="297180"/>
                  </a:moveTo>
                  <a:cubicBezTo>
                    <a:pt x="594360" y="461296"/>
                    <a:pt x="461296" y="594360"/>
                    <a:pt x="297180" y="594360"/>
                  </a:cubicBezTo>
                  <a:cubicBezTo>
                    <a:pt x="133064" y="594360"/>
                    <a:pt x="0" y="461296"/>
                    <a:pt x="0" y="297180"/>
                  </a:cubicBezTo>
                  <a:cubicBezTo>
                    <a:pt x="0" y="133064"/>
                    <a:pt x="133064" y="0"/>
                    <a:pt x="297180" y="0"/>
                  </a:cubicBezTo>
                  <a:cubicBezTo>
                    <a:pt x="461296" y="0"/>
                    <a:pt x="594360" y="133064"/>
                    <a:pt x="594360" y="297180"/>
                  </a:cubicBez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940004" y="1424324"/>
              <a:ext cx="208042" cy="139506"/>
              <a:chOff x="1940004" y="1424324"/>
              <a:chExt cx="208042" cy="13950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940004" y="1424324"/>
                <a:ext cx="198741" cy="100419"/>
              </a:xfrm>
              <a:custGeom>
                <a:avLst/>
                <a:gdLst/>
                <a:ahLst/>
                <a:cxnLst/>
                <a:rect l="l" t="t" r="r" b="b"/>
                <a:pathLst>
                  <a:path w="198741" h="100419">
                    <a:moveTo>
                      <a:pt x="192763" y="59338"/>
                    </a:moveTo>
                    <a:cubicBezTo>
                      <a:pt x="196405" y="57740"/>
                      <a:pt x="198741" y="54121"/>
                      <a:pt x="198698" y="50144"/>
                    </a:cubicBezTo>
                    <a:cubicBezTo>
                      <a:pt x="198655" y="46167"/>
                      <a:pt x="196241" y="42600"/>
                      <a:pt x="192565" y="41081"/>
                    </a:cubicBezTo>
                    <a:lnTo>
                      <a:pt x="107534" y="2386"/>
                    </a:lnTo>
                    <a:cubicBezTo>
                      <a:pt x="102303" y="0"/>
                      <a:pt x="96295" y="0"/>
                      <a:pt x="91064" y="2386"/>
                    </a:cubicBezTo>
                    <a:lnTo>
                      <a:pt x="6033" y="41081"/>
                    </a:lnTo>
                    <a:cubicBezTo>
                      <a:pt x="2375" y="42640"/>
                      <a:pt x="0" y="46233"/>
                      <a:pt x="0" y="50209"/>
                    </a:cubicBezTo>
                    <a:cubicBezTo>
                      <a:pt x="0" y="54186"/>
                      <a:pt x="2375" y="57779"/>
                      <a:pt x="6033" y="59338"/>
                    </a:cubicBezTo>
                    <a:lnTo>
                      <a:pt x="91064" y="98033"/>
                    </a:lnTo>
                    <a:cubicBezTo>
                      <a:pt x="96295" y="100419"/>
                      <a:pt x="102303" y="100419"/>
                      <a:pt x="107534" y="98033"/>
                    </a:cubicBezTo>
                    <a:close/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138521" y="1474533"/>
                <a:ext cx="9525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9531">
                    <a:moveTo>
                      <a:pt x="0" y="0"/>
                    </a:moveTo>
                    <a:lnTo>
                      <a:pt x="0" y="59531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79771" y="1499338"/>
                <a:ext cx="119062" cy="6449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64492">
                    <a:moveTo>
                      <a:pt x="0" y="0"/>
                    </a:moveTo>
                    <a:lnTo>
                      <a:pt x="0" y="34727"/>
                    </a:lnTo>
                    <a:cubicBezTo>
                      <a:pt x="0" y="51166"/>
                      <a:pt x="26653" y="64492"/>
                      <a:pt x="59531" y="64492"/>
                    </a:cubicBezTo>
                    <a:cubicBezTo>
                      <a:pt x="92409" y="64492"/>
                      <a:pt x="119062" y="51166"/>
                      <a:pt x="119062" y="34727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998125" y="4515993"/>
            <a:ext cx="2232088" cy="1385030"/>
            <a:chOff x="998125" y="4515993"/>
            <a:chExt cx="2232088" cy="1385030"/>
          </a:xfrm>
        </p:grpSpPr>
        <p:sp>
          <p:nvSpPr>
            <p:cNvPr id="12" name="Rectangle 12"/>
            <p:cNvSpPr/>
            <p:nvPr/>
          </p:nvSpPr>
          <p:spPr>
            <a:xfrm>
              <a:off x="998125" y="4515993"/>
              <a:ext cx="2232088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45775" y="4515993"/>
              <a:ext cx="1984438" cy="1385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404040"/>
                  </a:solidFill>
                  <a:latin typeface="微软雅黑"/>
                  <a:ea typeface="Microsoft YaHei"/>
                  <a:cs typeface="微软雅黑"/>
                </a:rPr>
                <a:t>head 过少或过多会损伤效果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88111" y="3821049"/>
            <a:ext cx="2319814" cy="512254"/>
            <a:chOff x="888111" y="3821049"/>
            <a:chExt cx="2319814" cy="512254"/>
          </a:xfrm>
        </p:grpSpPr>
        <p:sp>
          <p:nvSpPr>
            <p:cNvPr id="15" name="Freeform 15"/>
            <p:cNvSpPr/>
            <p:nvPr/>
          </p:nvSpPr>
          <p:spPr>
            <a:xfrm>
              <a:off x="888111" y="3821049"/>
              <a:ext cx="2319718" cy="512254"/>
            </a:xfrm>
            <a:custGeom>
              <a:avLst/>
              <a:gdLst/>
              <a:ahLst/>
              <a:cxnLst/>
              <a:rect l="l" t="t" r="r" b="b"/>
              <a:pathLst>
                <a:path w="2319718" h="512254">
                  <a:moveTo>
                    <a:pt x="0" y="0"/>
                  </a:moveTo>
                  <a:lnTo>
                    <a:pt x="2319718" y="0"/>
                  </a:lnTo>
                  <a:lnTo>
                    <a:pt x="2319718" y="303752"/>
                  </a:lnTo>
                  <a:cubicBezTo>
                    <a:pt x="2319718" y="419576"/>
                    <a:pt x="2271236" y="512254"/>
                    <a:pt x="2213610" y="512254"/>
                  </a:cubicBezTo>
                  <a:lnTo>
                    <a:pt x="106108" y="512254"/>
                  </a:lnTo>
                  <a:cubicBezTo>
                    <a:pt x="47149" y="512254"/>
                    <a:pt x="0" y="419576"/>
                    <a:pt x="0" y="3037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8111" y="3821049"/>
              <a:ext cx="2319814" cy="5122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Head count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9753" y="4551426"/>
            <a:ext cx="149733" cy="149733"/>
            <a:chOff x="1069753" y="4551426"/>
            <a:chExt cx="149733" cy="149733"/>
          </a:xfrm>
        </p:grpSpPr>
        <p:sp>
          <p:nvSpPr>
            <p:cNvPr id="18" name="Ellipse 18"/>
            <p:cNvSpPr/>
            <p:nvPr/>
          </p:nvSpPr>
          <p:spPr>
            <a:xfrm>
              <a:off x="1069753" y="4551426"/>
              <a:ext cx="149733" cy="14973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03186" y="4586192"/>
              <a:ext cx="84201" cy="80200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573304" y="3250502"/>
            <a:ext cx="2321147" cy="2635853"/>
            <a:chOff x="3573304" y="3250502"/>
            <a:chExt cx="2321147" cy="2635853"/>
          </a:xfrm>
        </p:grpSpPr>
        <p:sp>
          <p:nvSpPr>
            <p:cNvPr id="21" name="Rectangle 21"/>
            <p:cNvSpPr/>
            <p:nvPr/>
          </p:nvSpPr>
          <p:spPr>
            <a:xfrm>
              <a:off x="3573304" y="3250502"/>
              <a:ext cx="2321147" cy="2635853"/>
            </a:xfrm>
            <a:prstGeom prst="roundRect">
              <a:avLst>
                <a:gd name="adj" fmla="val 1231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97714" y="3250502"/>
              <a:ext cx="2072326" cy="2635853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>
            <a:off x="4434173" y="5484590"/>
            <a:ext cx="594360" cy="594360"/>
            <a:chOff x="4434173" y="5484590"/>
            <a:chExt cx="594360" cy="594360"/>
          </a:xfrm>
        </p:grpSpPr>
        <p:sp>
          <p:nvSpPr>
            <p:cNvPr id="24" name="Freeform 24"/>
            <p:cNvSpPr/>
            <p:nvPr/>
          </p:nvSpPr>
          <p:spPr>
            <a:xfrm>
              <a:off x="4434173" y="548459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594360" y="297180"/>
                  </a:moveTo>
                  <a:cubicBezTo>
                    <a:pt x="594360" y="461296"/>
                    <a:pt x="461296" y="594360"/>
                    <a:pt x="297180" y="594360"/>
                  </a:cubicBezTo>
                  <a:cubicBezTo>
                    <a:pt x="133064" y="594360"/>
                    <a:pt x="0" y="461296"/>
                    <a:pt x="0" y="297180"/>
                  </a:cubicBezTo>
                  <a:cubicBezTo>
                    <a:pt x="0" y="133064"/>
                    <a:pt x="133064" y="0"/>
                    <a:pt x="297180" y="0"/>
                  </a:cubicBezTo>
                  <a:cubicBezTo>
                    <a:pt x="461296" y="0"/>
                    <a:pt x="594360" y="133064"/>
                    <a:pt x="594360" y="297180"/>
                  </a:cubicBezTo>
                  <a:close/>
                </a:path>
              </a:pathLst>
            </a:custGeom>
            <a:solidFill>
              <a:srgbClr val="7561D6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642056" y="5682552"/>
              <a:ext cx="178594" cy="198437"/>
              <a:chOff x="4642056" y="5682552"/>
              <a:chExt cx="178594" cy="19843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691666" y="5682552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71041" y="5682552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642056" y="5702395"/>
                <a:ext cx="178594" cy="178594"/>
              </a:xfrm>
              <a:prstGeom prst="roundRect">
                <a:avLst>
                  <a:gd name="adj" fmla="val 11111"/>
                </a:avLst>
              </a:pr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42056" y="5761926"/>
                <a:ext cx="1785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9525">
                    <a:moveTo>
                      <a:pt x="0" y="0"/>
                    </a:moveTo>
                    <a:lnTo>
                      <a:pt x="178594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91666" y="580161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731353" y="580161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71041" y="580161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691666" y="584130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731353" y="584130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771041" y="584130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</p:grpSp>
      </p:grpSp>
      <p:grpSp>
        <p:nvGrpSpPr>
          <p:cNvPr id="39" name="Group 39"/>
          <p:cNvGrpSpPr/>
          <p:nvPr/>
        </p:nvGrpSpPr>
        <p:grpSpPr>
          <a:xfrm>
            <a:off x="3573304" y="2958941"/>
            <a:ext cx="2321147" cy="506254"/>
            <a:chOff x="3573304" y="2958941"/>
            <a:chExt cx="2321147" cy="506254"/>
          </a:xfrm>
        </p:grpSpPr>
        <p:sp>
          <p:nvSpPr>
            <p:cNvPr id="37" name="Freeform 37"/>
            <p:cNvSpPr/>
            <p:nvPr/>
          </p:nvSpPr>
          <p:spPr>
            <a:xfrm>
              <a:off x="3573304" y="2958941"/>
              <a:ext cx="2321052" cy="506159"/>
            </a:xfrm>
            <a:custGeom>
              <a:avLst/>
              <a:gdLst/>
              <a:ahLst/>
              <a:cxnLst/>
              <a:rect l="l" t="t" r="r" b="b"/>
              <a:pathLst>
                <a:path w="2321052" h="506159">
                  <a:moveTo>
                    <a:pt x="106204" y="0"/>
                  </a:moveTo>
                  <a:lnTo>
                    <a:pt x="2214848" y="0"/>
                  </a:lnTo>
                  <a:cubicBezTo>
                    <a:pt x="2273903" y="0"/>
                    <a:pt x="2321052" y="83344"/>
                    <a:pt x="2321052" y="187643"/>
                  </a:cubicBezTo>
                  <a:lnTo>
                    <a:pt x="2321052" y="506159"/>
                  </a:lnTo>
                  <a:lnTo>
                    <a:pt x="0" y="506159"/>
                  </a:lnTo>
                  <a:lnTo>
                    <a:pt x="0" y="187643"/>
                  </a:lnTo>
                  <a:cubicBezTo>
                    <a:pt x="0" y="83344"/>
                    <a:pt x="48482" y="0"/>
                    <a:pt x="106204" y="0"/>
                  </a:cubicBezTo>
                  <a:close/>
                </a:path>
              </a:pathLst>
            </a:custGeom>
            <a:solidFill>
              <a:srgbClr val="7561D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73304" y="2958941"/>
              <a:ext cx="2321147" cy="5062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Key/value size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606165" y="1379506"/>
            <a:ext cx="2188654" cy="1385030"/>
            <a:chOff x="3606165" y="1379506"/>
            <a:chExt cx="2188654" cy="1385030"/>
          </a:xfrm>
        </p:grpSpPr>
        <p:sp>
          <p:nvSpPr>
            <p:cNvPr id="40" name="Rectangle 40"/>
            <p:cNvSpPr/>
            <p:nvPr/>
          </p:nvSpPr>
          <p:spPr>
            <a:xfrm>
              <a:off x="3606165" y="1379506"/>
              <a:ext cx="2188654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53815" y="1379506"/>
              <a:ext cx="1941004" cy="1385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维度过小会损伤质量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696462" y="1419796"/>
            <a:ext cx="140018" cy="140018"/>
            <a:chOff x="3696462" y="1419796"/>
            <a:chExt cx="140018" cy="140018"/>
          </a:xfrm>
        </p:grpSpPr>
        <p:sp>
          <p:nvSpPr>
            <p:cNvPr id="43" name="Ellipse 43"/>
            <p:cNvSpPr/>
            <p:nvPr/>
          </p:nvSpPr>
          <p:spPr>
            <a:xfrm>
              <a:off x="3696462" y="1419796"/>
              <a:ext cx="140018" cy="140018"/>
            </a:xfrm>
            <a:prstGeom prst="ellipse">
              <a:avLst/>
            </a:prstGeom>
            <a:solidFill>
              <a:srgbClr val="C4BCEE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726466" y="1449800"/>
              <a:ext cx="80010" cy="80010"/>
            </a:xfrm>
            <a:prstGeom prst="ellipse">
              <a:avLst/>
            </a:prstGeom>
            <a:solidFill>
              <a:srgbClr val="7561D6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284214" y="1412653"/>
            <a:ext cx="2320862" cy="2634234"/>
            <a:chOff x="6284214" y="1412653"/>
            <a:chExt cx="2320862" cy="2634234"/>
          </a:xfrm>
        </p:grpSpPr>
        <p:sp>
          <p:nvSpPr>
            <p:cNvPr id="46" name="Rectangle 46"/>
            <p:cNvSpPr/>
            <p:nvPr/>
          </p:nvSpPr>
          <p:spPr>
            <a:xfrm>
              <a:off x="6284214" y="1412653"/>
              <a:ext cx="2320862" cy="2634234"/>
            </a:xfrm>
            <a:prstGeom prst="roundRect">
              <a:avLst>
                <a:gd name="adj" fmla="val 1231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4214" y="2619515"/>
              <a:ext cx="2320862" cy="220509"/>
            </a:xfrm>
            <a:prstGeom prst="rect">
              <a:avLst/>
            </a:prstGeom>
          </p:spPr>
        </p:pic>
      </p:grpSp>
      <p:grpSp>
        <p:nvGrpSpPr>
          <p:cNvPr id="53" name="Group 53"/>
          <p:cNvGrpSpPr/>
          <p:nvPr/>
        </p:nvGrpSpPr>
        <p:grpSpPr>
          <a:xfrm>
            <a:off x="7120509" y="1201579"/>
            <a:ext cx="614172" cy="594360"/>
            <a:chOff x="7120509" y="1201579"/>
            <a:chExt cx="614172" cy="594360"/>
          </a:xfrm>
        </p:grpSpPr>
        <p:sp>
          <p:nvSpPr>
            <p:cNvPr id="49" name="Freeform 49"/>
            <p:cNvSpPr/>
            <p:nvPr/>
          </p:nvSpPr>
          <p:spPr>
            <a:xfrm>
              <a:off x="7120509" y="1201579"/>
              <a:ext cx="614172" cy="594360"/>
            </a:xfrm>
            <a:custGeom>
              <a:avLst/>
              <a:gdLst/>
              <a:ahLst/>
              <a:cxnLst/>
              <a:rect l="l" t="t" r="r" b="b"/>
              <a:pathLst>
                <a:path w="614172" h="594360">
                  <a:moveTo>
                    <a:pt x="614172" y="297180"/>
                  </a:moveTo>
                  <a:cubicBezTo>
                    <a:pt x="614172" y="461296"/>
                    <a:pt x="476726" y="594360"/>
                    <a:pt x="307086" y="594360"/>
                  </a:cubicBezTo>
                  <a:cubicBezTo>
                    <a:pt x="137541" y="594360"/>
                    <a:pt x="0" y="461296"/>
                    <a:pt x="0" y="297180"/>
                  </a:cubicBezTo>
                  <a:cubicBezTo>
                    <a:pt x="0" y="133064"/>
                    <a:pt x="137541" y="0"/>
                    <a:pt x="307086" y="0"/>
                  </a:cubicBezTo>
                  <a:cubicBezTo>
                    <a:pt x="476726" y="0"/>
                    <a:pt x="614172" y="133064"/>
                    <a:pt x="614172" y="297180"/>
                  </a:cubicBez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48220" y="1409462"/>
              <a:ext cx="158750" cy="178594"/>
              <a:chOff x="7348220" y="1409462"/>
              <a:chExt cx="158750" cy="178594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377986" y="1409462"/>
                <a:ext cx="99219" cy="99219"/>
              </a:xfrm>
              <a:prstGeom prst="ellipse">
                <a:avLst/>
              </a:pr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348220" y="1508681"/>
                <a:ext cx="15875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79375">
                    <a:moveTo>
                      <a:pt x="158750" y="79375"/>
                    </a:moveTo>
                    <a:cubicBezTo>
                      <a:pt x="158750" y="35537"/>
                      <a:pt x="123213" y="0"/>
                      <a:pt x="79375" y="0"/>
                    </a:cubicBezTo>
                    <a:cubicBezTo>
                      <a:pt x="35537" y="0"/>
                      <a:pt x="0" y="35537"/>
                      <a:pt x="0" y="79375"/>
                    </a:cubicBez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</p:grpSp>
      </p:grpSp>
      <p:grpSp>
        <p:nvGrpSpPr>
          <p:cNvPr id="56" name="Group 56"/>
          <p:cNvGrpSpPr/>
          <p:nvPr/>
        </p:nvGrpSpPr>
        <p:grpSpPr>
          <a:xfrm>
            <a:off x="6279832" y="3825430"/>
            <a:ext cx="2325434" cy="509778"/>
            <a:chOff x="6279832" y="3825430"/>
            <a:chExt cx="2325434" cy="509778"/>
          </a:xfrm>
        </p:grpSpPr>
        <p:sp>
          <p:nvSpPr>
            <p:cNvPr id="54" name="Freeform 54"/>
            <p:cNvSpPr/>
            <p:nvPr/>
          </p:nvSpPr>
          <p:spPr>
            <a:xfrm>
              <a:off x="6279832" y="3825430"/>
              <a:ext cx="2325434" cy="509683"/>
            </a:xfrm>
            <a:custGeom>
              <a:avLst/>
              <a:gdLst/>
              <a:ahLst/>
              <a:cxnLst/>
              <a:rect l="l" t="t" r="r" b="b"/>
              <a:pathLst>
                <a:path w="2325434" h="509683">
                  <a:moveTo>
                    <a:pt x="0" y="0"/>
                  </a:moveTo>
                  <a:lnTo>
                    <a:pt x="2325434" y="0"/>
                  </a:lnTo>
                  <a:lnTo>
                    <a:pt x="2325434" y="302228"/>
                  </a:lnTo>
                  <a:cubicBezTo>
                    <a:pt x="2325434" y="417481"/>
                    <a:pt x="2276856" y="509683"/>
                    <a:pt x="2219039" y="509683"/>
                  </a:cubicBezTo>
                  <a:lnTo>
                    <a:pt x="106394" y="509683"/>
                  </a:lnTo>
                  <a:cubicBezTo>
                    <a:pt x="47339" y="509683"/>
                    <a:pt x="0" y="417481"/>
                    <a:pt x="0" y="30222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8A4C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79832" y="3825430"/>
              <a:ext cx="2325434" cy="5097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Dropout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384988" y="4515993"/>
            <a:ext cx="2222278" cy="1385030"/>
            <a:chOff x="6384988" y="4515993"/>
            <a:chExt cx="2222278" cy="1385030"/>
          </a:xfrm>
        </p:grpSpPr>
        <p:sp>
          <p:nvSpPr>
            <p:cNvPr id="57" name="Rectangle 57"/>
            <p:cNvSpPr/>
            <p:nvPr/>
          </p:nvSpPr>
          <p:spPr>
            <a:xfrm>
              <a:off x="6384988" y="4515993"/>
              <a:ext cx="2222278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32638" y="4515993"/>
              <a:ext cx="1974628" cy="1385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正则化可抑制过拟合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470523" y="4556284"/>
            <a:ext cx="140018" cy="140018"/>
            <a:chOff x="6470523" y="4556284"/>
            <a:chExt cx="140018" cy="140018"/>
          </a:xfrm>
        </p:grpSpPr>
        <p:sp>
          <p:nvSpPr>
            <p:cNvPr id="60" name="Ellipse 60"/>
            <p:cNvSpPr/>
            <p:nvPr/>
          </p:nvSpPr>
          <p:spPr>
            <a:xfrm>
              <a:off x="6470523" y="4556284"/>
              <a:ext cx="140018" cy="14001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500527" y="4586288"/>
              <a:ext cx="80010" cy="80010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8927687" y="3250502"/>
            <a:ext cx="2329339" cy="2629090"/>
            <a:chOff x="8927687" y="3250502"/>
            <a:chExt cx="2329339" cy="2629090"/>
          </a:xfrm>
        </p:grpSpPr>
        <p:sp>
          <p:nvSpPr>
            <p:cNvPr id="63" name="Rectangle 63"/>
            <p:cNvSpPr/>
            <p:nvPr/>
          </p:nvSpPr>
          <p:spPr>
            <a:xfrm>
              <a:off x="8927687" y="3250502"/>
              <a:ext cx="2329339" cy="2629090"/>
            </a:xfrm>
            <a:prstGeom prst="roundRect">
              <a:avLst>
                <a:gd name="adj" fmla="val 1227"/>
              </a:avLst>
            </a:prstGeom>
            <a:noFill/>
            <a:ln w="11430">
              <a:solidFill>
                <a:srgbClr val="E5DDE8">
                  <a:alpha val="78000"/>
                </a:srgbClr>
              </a:solidFill>
            </a:ln>
          </p:spPr>
        </p:sp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27687" y="4461058"/>
              <a:ext cx="2329339" cy="207977"/>
            </a:xfrm>
            <a:prstGeom prst="rect">
              <a:avLst/>
            </a:prstGeom>
          </p:spPr>
        </p:pic>
      </p:grpSp>
      <p:grpSp>
        <p:nvGrpSpPr>
          <p:cNvPr id="71" name="Group 71"/>
          <p:cNvGrpSpPr/>
          <p:nvPr/>
        </p:nvGrpSpPr>
        <p:grpSpPr>
          <a:xfrm>
            <a:off x="9782842" y="5484590"/>
            <a:ext cx="615601" cy="594360"/>
            <a:chOff x="9782842" y="5484590"/>
            <a:chExt cx="615601" cy="594360"/>
          </a:xfrm>
        </p:grpSpPr>
        <p:sp>
          <p:nvSpPr>
            <p:cNvPr id="66" name="Freeform 66"/>
            <p:cNvSpPr/>
            <p:nvPr/>
          </p:nvSpPr>
          <p:spPr>
            <a:xfrm>
              <a:off x="9782842" y="5484590"/>
              <a:ext cx="615601" cy="594360"/>
            </a:xfrm>
            <a:custGeom>
              <a:avLst/>
              <a:gdLst/>
              <a:ahLst/>
              <a:cxnLst/>
              <a:rect l="l" t="t" r="r" b="b"/>
              <a:pathLst>
                <a:path w="615601" h="594360">
                  <a:moveTo>
                    <a:pt x="615601" y="297180"/>
                  </a:moveTo>
                  <a:cubicBezTo>
                    <a:pt x="615601" y="461296"/>
                    <a:pt x="477774" y="594360"/>
                    <a:pt x="307848" y="594360"/>
                  </a:cubicBezTo>
                  <a:cubicBezTo>
                    <a:pt x="137827" y="594360"/>
                    <a:pt x="0" y="461296"/>
                    <a:pt x="0" y="297180"/>
                  </a:cubicBezTo>
                  <a:cubicBezTo>
                    <a:pt x="0" y="133064"/>
                    <a:pt x="137827" y="0"/>
                    <a:pt x="307848" y="0"/>
                  </a:cubicBezTo>
                  <a:cubicBezTo>
                    <a:pt x="477774" y="0"/>
                    <a:pt x="615601" y="133064"/>
                    <a:pt x="615601" y="297180"/>
                  </a:cubicBezTo>
                  <a:close/>
                </a:path>
              </a:pathLst>
            </a:custGeom>
            <a:solidFill>
              <a:srgbClr val="6A69B6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9991471" y="5692473"/>
              <a:ext cx="198438" cy="178594"/>
              <a:chOff x="9991471" y="5692473"/>
              <a:chExt cx="198438" cy="1785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10090690" y="5732161"/>
                <a:ext cx="9525" cy="1389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8906">
                    <a:moveTo>
                      <a:pt x="0" y="0"/>
                    </a:moveTo>
                    <a:lnTo>
                      <a:pt x="0" y="138906"/>
                    </a:lnTo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991471" y="5692473"/>
                <a:ext cx="99219" cy="178594"/>
              </a:xfrm>
              <a:custGeom>
                <a:avLst/>
                <a:gdLst/>
                <a:ahLst/>
                <a:cxnLst/>
                <a:rect l="l" t="t" r="r" b="b"/>
                <a:pathLst>
                  <a:path w="99219" h="178594">
                    <a:moveTo>
                      <a:pt x="9922" y="148828"/>
                    </a:moveTo>
                    <a:cubicBezTo>
                      <a:pt x="4442" y="148828"/>
                      <a:pt x="0" y="144386"/>
                      <a:pt x="0" y="138906"/>
                    </a:cubicBezTo>
                    <a:lnTo>
                      <a:pt x="0" y="9922"/>
                    </a:lnTo>
                    <a:cubicBezTo>
                      <a:pt x="0" y="4442"/>
                      <a:pt x="4442" y="0"/>
                      <a:pt x="9922" y="0"/>
                    </a:cubicBezTo>
                    <a:lnTo>
                      <a:pt x="59531" y="0"/>
                    </a:lnTo>
                    <a:cubicBezTo>
                      <a:pt x="81450" y="0"/>
                      <a:pt x="99219" y="17769"/>
                      <a:pt x="99219" y="39687"/>
                    </a:cubicBezTo>
                    <a:lnTo>
                      <a:pt x="99219" y="178594"/>
                    </a:lnTo>
                    <a:cubicBezTo>
                      <a:pt x="99219" y="156675"/>
                      <a:pt x="81450" y="138906"/>
                      <a:pt x="59531" y="138906"/>
                    </a:cubicBezTo>
                    <a:close/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0090690" y="5692473"/>
                <a:ext cx="99219" cy="178594"/>
              </a:xfrm>
              <a:custGeom>
                <a:avLst/>
                <a:gdLst/>
                <a:ahLst/>
                <a:cxnLst/>
                <a:rect l="l" t="t" r="r" b="b"/>
                <a:pathLst>
                  <a:path w="99219" h="178594">
                    <a:moveTo>
                      <a:pt x="89297" y="148828"/>
                    </a:moveTo>
                    <a:cubicBezTo>
                      <a:pt x="94777" y="148828"/>
                      <a:pt x="99219" y="144386"/>
                      <a:pt x="99219" y="138906"/>
                    </a:cubicBezTo>
                    <a:lnTo>
                      <a:pt x="99219" y="9922"/>
                    </a:lnTo>
                    <a:cubicBezTo>
                      <a:pt x="99219" y="4442"/>
                      <a:pt x="94777" y="0"/>
                      <a:pt x="89297" y="0"/>
                    </a:cubicBezTo>
                    <a:lnTo>
                      <a:pt x="39688" y="0"/>
                    </a:lnTo>
                    <a:cubicBezTo>
                      <a:pt x="17769" y="0"/>
                      <a:pt x="0" y="17769"/>
                      <a:pt x="0" y="39687"/>
                    </a:cubicBezTo>
                    <a:lnTo>
                      <a:pt x="0" y="178594"/>
                    </a:lnTo>
                    <a:cubicBezTo>
                      <a:pt x="0" y="156675"/>
                      <a:pt x="17769" y="138906"/>
                      <a:pt x="39688" y="138906"/>
                    </a:cubicBezTo>
                    <a:close/>
                  </a:path>
                </a:pathLst>
              </a:custGeom>
              <a:noFill/>
              <a:ln w="17145">
                <a:solidFill>
                  <a:srgbClr val="FFFFFF"/>
                </a:solidFill>
              </a:ln>
            </p:spPr>
          </p:sp>
        </p:grpSp>
      </p:grpSp>
      <p:grpSp>
        <p:nvGrpSpPr>
          <p:cNvPr id="74" name="Group 74"/>
          <p:cNvGrpSpPr/>
          <p:nvPr/>
        </p:nvGrpSpPr>
        <p:grpSpPr>
          <a:xfrm>
            <a:off x="8927687" y="2958941"/>
            <a:ext cx="2329339" cy="509683"/>
            <a:chOff x="8927687" y="2958941"/>
            <a:chExt cx="2329339" cy="509683"/>
          </a:xfrm>
        </p:grpSpPr>
        <p:sp>
          <p:nvSpPr>
            <p:cNvPr id="72" name="Freeform 72"/>
            <p:cNvSpPr/>
            <p:nvPr/>
          </p:nvSpPr>
          <p:spPr>
            <a:xfrm>
              <a:off x="8927687" y="2958941"/>
              <a:ext cx="2329339" cy="509683"/>
            </a:xfrm>
            <a:custGeom>
              <a:avLst/>
              <a:gdLst/>
              <a:ahLst/>
              <a:cxnLst/>
              <a:rect l="l" t="t" r="r" b="b"/>
              <a:pathLst>
                <a:path w="2329339" h="509683">
                  <a:moveTo>
                    <a:pt x="106585" y="0"/>
                  </a:moveTo>
                  <a:lnTo>
                    <a:pt x="2222754" y="0"/>
                  </a:lnTo>
                  <a:cubicBezTo>
                    <a:pt x="2281999" y="0"/>
                    <a:pt x="2329339" y="83915"/>
                    <a:pt x="2329339" y="188976"/>
                  </a:cubicBezTo>
                  <a:lnTo>
                    <a:pt x="2329339" y="509683"/>
                  </a:lnTo>
                  <a:lnTo>
                    <a:pt x="0" y="509683"/>
                  </a:lnTo>
                  <a:lnTo>
                    <a:pt x="0" y="188976"/>
                  </a:lnTo>
                  <a:cubicBezTo>
                    <a:pt x="0" y="83915"/>
                    <a:pt x="48673" y="0"/>
                    <a:pt x="106585" y="0"/>
                  </a:cubicBezTo>
                  <a:close/>
                </a:path>
              </a:pathLst>
            </a:custGeom>
            <a:solidFill>
              <a:srgbClr val="6A69B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927687" y="2958941"/>
              <a:ext cx="2329339" cy="509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PE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983408" y="1366552"/>
            <a:ext cx="2198084" cy="1385030"/>
            <a:chOff x="8983408" y="1366552"/>
            <a:chExt cx="2198084" cy="1385030"/>
          </a:xfrm>
        </p:grpSpPr>
        <p:sp>
          <p:nvSpPr>
            <p:cNvPr id="75" name="Rectangle 75"/>
            <p:cNvSpPr/>
            <p:nvPr/>
          </p:nvSpPr>
          <p:spPr>
            <a:xfrm>
              <a:off x="8983408" y="1366552"/>
              <a:ext cx="2198084" cy="138503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231058" y="1366552"/>
              <a:ext cx="1950434" cy="1385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learned 与 sinusoidal 接近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73706" y="1406843"/>
            <a:ext cx="140018" cy="140018"/>
            <a:chOff x="9073706" y="1406843"/>
            <a:chExt cx="140018" cy="140018"/>
          </a:xfrm>
        </p:grpSpPr>
        <p:sp>
          <p:nvSpPr>
            <p:cNvPr id="78" name="Ellipse 78"/>
            <p:cNvSpPr/>
            <p:nvPr/>
          </p:nvSpPr>
          <p:spPr>
            <a:xfrm>
              <a:off x="9073706" y="1406843"/>
              <a:ext cx="140018" cy="14001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9103709" y="1436846"/>
              <a:ext cx="80010" cy="80010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</p:sp>
      </p:grpSp>
      <p:sp>
        <p:nvSpPr>
          <p:cNvPr id="81" name="Rectangle 8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4" name="Group 84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82" name="Rectangle 82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消融：容量与正则</a:t>
              </a:r>
            </a:p>
          </p:txBody>
        </p:sp>
      </p:grpSp>
      <p:sp>
        <p:nvSpPr>
          <p:cNvPr id="85" name="Line 85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86" name="Image 86"/>
          <p:cNvPicPr>
            <a:picLocks noChangeAspect="1"/>
          </p:cNvPicPr>
          <p:nvPr/>
        </p:nvPicPr>
        <p:blipFill>
          <a:blip r:embed="rId7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5884831" y="1256728"/>
            <a:ext cx="5231797" cy="4944142"/>
            <a:chOff x="5884831" y="1256728"/>
            <a:chExt cx="5231797" cy="4944142"/>
          </a:xfrm>
        </p:grpSpPr>
        <p:sp>
          <p:nvSpPr>
            <p:cNvPr id="3" name="Freeform 3"/>
            <p:cNvSpPr/>
            <p:nvPr/>
          </p:nvSpPr>
          <p:spPr>
            <a:xfrm>
              <a:off x="5884831" y="1256728"/>
              <a:ext cx="5231797" cy="4944142"/>
            </a:xfrm>
            <a:custGeom>
              <a:avLst/>
              <a:gdLst/>
              <a:ahLst/>
              <a:cxnLst/>
              <a:rect l="l" t="t" r="r" b="b"/>
              <a:pathLst>
                <a:path w="5231797" h="4944142">
                  <a:moveTo>
                    <a:pt x="5227130" y="4640008"/>
                  </a:moveTo>
                  <a:lnTo>
                    <a:pt x="5227130" y="303562"/>
                  </a:lnTo>
                  <a:cubicBezTo>
                    <a:pt x="5231797" y="135922"/>
                    <a:pt x="5083492" y="667"/>
                    <a:pt x="4938808" y="4477"/>
                  </a:cubicBezTo>
                  <a:lnTo>
                    <a:pt x="1199579" y="4477"/>
                  </a:lnTo>
                  <a:cubicBezTo>
                    <a:pt x="1062418" y="0"/>
                    <a:pt x="941165" y="114300"/>
                    <a:pt x="917734" y="240697"/>
                  </a:cubicBezTo>
                  <a:lnTo>
                    <a:pt x="624078" y="1649159"/>
                  </a:lnTo>
                  <a:cubicBezTo>
                    <a:pt x="884872" y="1789462"/>
                    <a:pt x="1077087" y="2162175"/>
                    <a:pt x="1065943" y="2466975"/>
                  </a:cubicBezTo>
                  <a:cubicBezTo>
                    <a:pt x="1088803" y="2975039"/>
                    <a:pt x="644652" y="3392805"/>
                    <a:pt x="258508" y="3401759"/>
                  </a:cubicBezTo>
                  <a:lnTo>
                    <a:pt x="13526" y="4577144"/>
                  </a:lnTo>
                  <a:cubicBezTo>
                    <a:pt x="8858" y="4597432"/>
                    <a:pt x="6477" y="4631722"/>
                    <a:pt x="7049" y="4638675"/>
                  </a:cubicBezTo>
                  <a:cubicBezTo>
                    <a:pt x="0" y="4803172"/>
                    <a:pt x="148304" y="4944142"/>
                    <a:pt x="295370" y="4939094"/>
                  </a:cubicBezTo>
                  <a:lnTo>
                    <a:pt x="4938808" y="4939094"/>
                  </a:lnTo>
                  <a:cubicBezTo>
                    <a:pt x="5100542" y="4944142"/>
                    <a:pt x="5231225" y="4790504"/>
                    <a:pt x="5227130" y="46400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41364" dist="38121" dir="8100000" algn="tr" rotWithShape="0">
                <a:srgbClr val="68A4C6">
                  <a:alpha val="30000"/>
                </a:srgbClr>
              </a:outerShdw>
            </a:effectLst>
          </p:spPr>
        </p:sp>
      </p:grpSp>
      <p:grpSp>
        <p:nvGrpSpPr>
          <p:cNvPr id="8" name="Group 8"/>
          <p:cNvGrpSpPr/>
          <p:nvPr/>
        </p:nvGrpSpPr>
        <p:grpSpPr>
          <a:xfrm>
            <a:off x="5230749" y="2922842"/>
            <a:ext cx="1600867" cy="1600867"/>
            <a:chOff x="5230749" y="2922842"/>
            <a:chExt cx="1600867" cy="1600867"/>
          </a:xfrm>
        </p:grpSpPr>
        <p:sp>
          <p:nvSpPr>
            <p:cNvPr id="5" name="Freeform 5"/>
            <p:cNvSpPr/>
            <p:nvPr/>
          </p:nvSpPr>
          <p:spPr>
            <a:xfrm>
              <a:off x="5230749" y="2922842"/>
              <a:ext cx="1600867" cy="1600867"/>
            </a:xfrm>
            <a:custGeom>
              <a:avLst/>
              <a:gdLst/>
              <a:ahLst/>
              <a:cxnLst/>
              <a:rect l="l" t="t" r="r" b="b"/>
              <a:pathLst>
                <a:path w="1600867" h="1600867">
                  <a:moveTo>
                    <a:pt x="1600867" y="800386"/>
                  </a:moveTo>
                  <a:cubicBezTo>
                    <a:pt x="1600867" y="1242441"/>
                    <a:pt x="1242536" y="1600867"/>
                    <a:pt x="800481" y="1600867"/>
                  </a:cubicBezTo>
                  <a:cubicBezTo>
                    <a:pt x="358426" y="1600867"/>
                    <a:pt x="0" y="1242441"/>
                    <a:pt x="0" y="800386"/>
                  </a:cubicBezTo>
                  <a:cubicBezTo>
                    <a:pt x="0" y="358331"/>
                    <a:pt x="358426" y="0"/>
                    <a:pt x="800481" y="0"/>
                  </a:cubicBezTo>
                  <a:cubicBezTo>
                    <a:pt x="1242536" y="0"/>
                    <a:pt x="1600867" y="358331"/>
                    <a:pt x="1600867" y="800386"/>
                  </a:cubicBezTo>
                  <a:close/>
                </a:path>
              </a:pathLst>
            </a:custGeom>
            <a:gradFill>
              <a:gsLst>
                <a:gs pos="0">
                  <a:srgbClr val="260825"/>
                </a:gs>
                <a:gs pos="50000">
                  <a:srgbClr val="551352"/>
                </a:gs>
                <a:gs pos="100000">
                  <a:srgbClr val="7D1C7A"/>
                </a:gs>
              </a:gsLst>
              <a:lin ang="5400000" scaled="1"/>
            </a:gradFill>
            <a:ln>
              <a:noFill/>
            </a:ln>
            <a:effectLst>
              <a:outerShdw blurRad="101536" dist="38121" dir="2700000" algn="tl" rotWithShape="0">
                <a:srgbClr val="6D216A">
                  <a:alpha val="22500"/>
                </a:srgbClr>
              </a:outerShdw>
            </a:effectLst>
          </p:spPr>
        </p:sp>
        <p:sp>
          <p:nvSpPr>
            <p:cNvPr id="6" name="TextBox 6"/>
            <p:cNvSpPr txBox="1"/>
            <p:nvPr/>
          </p:nvSpPr>
          <p:spPr>
            <a:xfrm>
              <a:off x="5896716" y="3418427"/>
              <a:ext cx="26902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84613" y="3723227"/>
              <a:ext cx="89323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Core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44246" y="2495169"/>
            <a:ext cx="4395502" cy="3179445"/>
            <a:chOff x="6544246" y="2495169"/>
            <a:chExt cx="4395502" cy="3179445"/>
          </a:xfrm>
        </p:grpSpPr>
        <p:sp>
          <p:nvSpPr>
            <p:cNvPr id="9" name="Rectangle 9"/>
            <p:cNvSpPr/>
            <p:nvPr/>
          </p:nvSpPr>
          <p:spPr>
            <a:xfrm flipH="1">
              <a:off x="6544246" y="2495169"/>
              <a:ext cx="4395502" cy="3179445"/>
            </a:xfrm>
            <a:prstGeom prst="rect">
              <a:avLst/>
            </a:prstGeom>
            <a:noFill/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36212" y="1256062"/>
            <a:ext cx="5231797" cy="4944142"/>
            <a:chOff x="936212" y="1256062"/>
            <a:chExt cx="5231797" cy="4944142"/>
          </a:xfrm>
        </p:grpSpPr>
        <p:sp>
          <p:nvSpPr>
            <p:cNvPr id="11" name="Freeform 11"/>
            <p:cNvSpPr/>
            <p:nvPr/>
          </p:nvSpPr>
          <p:spPr>
            <a:xfrm>
              <a:off x="936212" y="1256062"/>
              <a:ext cx="5231797" cy="4944142"/>
            </a:xfrm>
            <a:custGeom>
              <a:avLst/>
              <a:gdLst/>
              <a:ahLst/>
              <a:cxnLst/>
              <a:rect l="l" t="t" r="r" b="b"/>
              <a:pathLst>
                <a:path w="5231797" h="4944142">
                  <a:moveTo>
                    <a:pt x="4762" y="304133"/>
                  </a:moveTo>
                  <a:lnTo>
                    <a:pt x="4762" y="4640580"/>
                  </a:lnTo>
                  <a:cubicBezTo>
                    <a:pt x="0" y="4808220"/>
                    <a:pt x="148304" y="4943475"/>
                    <a:pt x="292989" y="4939665"/>
                  </a:cubicBezTo>
                  <a:lnTo>
                    <a:pt x="4032218" y="4939665"/>
                  </a:lnTo>
                  <a:cubicBezTo>
                    <a:pt x="4169378" y="4944142"/>
                    <a:pt x="4290632" y="4829842"/>
                    <a:pt x="4314158" y="4703445"/>
                  </a:cubicBezTo>
                  <a:lnTo>
                    <a:pt x="4607719" y="3294983"/>
                  </a:lnTo>
                  <a:cubicBezTo>
                    <a:pt x="4346924" y="3154680"/>
                    <a:pt x="4154710" y="2781967"/>
                    <a:pt x="4165854" y="2477167"/>
                  </a:cubicBezTo>
                  <a:cubicBezTo>
                    <a:pt x="4142994" y="1969103"/>
                    <a:pt x="4587145" y="1551337"/>
                    <a:pt x="4973384" y="1542383"/>
                  </a:cubicBezTo>
                  <a:lnTo>
                    <a:pt x="5218271" y="366998"/>
                  </a:lnTo>
                  <a:cubicBezTo>
                    <a:pt x="5223034" y="346710"/>
                    <a:pt x="5225320" y="312420"/>
                    <a:pt x="5224748" y="305467"/>
                  </a:cubicBezTo>
                  <a:cubicBezTo>
                    <a:pt x="5231797" y="140970"/>
                    <a:pt x="5083492" y="0"/>
                    <a:pt x="4936426" y="5048"/>
                  </a:cubicBezTo>
                  <a:lnTo>
                    <a:pt x="292989" y="5048"/>
                  </a:lnTo>
                  <a:cubicBezTo>
                    <a:pt x="131254" y="0"/>
                    <a:pt x="571" y="153638"/>
                    <a:pt x="4762" y="304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39636" dist="63446" dir="2700000" algn="tl" rotWithShape="0">
                <a:srgbClr val="6A69B6">
                  <a:alpha val="56250"/>
                </a:srgbClr>
              </a:outerShdw>
            </a:effectLst>
          </p:spPr>
        </p:sp>
      </p:grpSp>
      <p:grpSp>
        <p:nvGrpSpPr>
          <p:cNvPr id="14" name="Group 14"/>
          <p:cNvGrpSpPr/>
          <p:nvPr/>
        </p:nvGrpSpPr>
        <p:grpSpPr>
          <a:xfrm>
            <a:off x="1036606" y="2524316"/>
            <a:ext cx="4395502" cy="3179445"/>
            <a:chOff x="1036606" y="2524316"/>
            <a:chExt cx="4395502" cy="3179445"/>
          </a:xfrm>
        </p:grpSpPr>
        <p:sp>
          <p:nvSpPr>
            <p:cNvPr id="13" name="Rectangle 13"/>
            <p:cNvSpPr/>
            <p:nvPr/>
          </p:nvSpPr>
          <p:spPr>
            <a:xfrm>
              <a:off x="1036606" y="2524316"/>
              <a:ext cx="4395502" cy="3179445"/>
            </a:xfrm>
            <a:prstGeom prst="rect">
              <a:avLst/>
            </a:prstGeom>
            <a:noFill/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427512" y="1609725"/>
            <a:ext cx="1689640" cy="463296"/>
            <a:chOff x="1427512" y="1609725"/>
            <a:chExt cx="1689640" cy="463296"/>
          </a:xfrm>
        </p:grpSpPr>
        <p:sp>
          <p:nvSpPr>
            <p:cNvPr id="15" name="Rectangle 15"/>
            <p:cNvSpPr/>
            <p:nvPr/>
          </p:nvSpPr>
          <p:spPr>
            <a:xfrm>
              <a:off x="1427512" y="1609725"/>
              <a:ext cx="1689640" cy="463296"/>
            </a:xfrm>
            <a:prstGeom prst="roundRect">
              <a:avLst>
                <a:gd name="adj" fmla="val 50000"/>
              </a:avLst>
            </a:prstGeom>
            <a:solidFill>
              <a:srgbClr val="912C8D"/>
            </a:solidFill>
            <a:ln>
              <a:noFill/>
            </a:ln>
            <a:effectLst>
              <a:outerShdw blurRad="50864" dist="38100" dir="5400000" algn="ctr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1427512" y="1609725"/>
              <a:ext cx="1689640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Architecture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32846" y="2209419"/>
            <a:ext cx="3160490" cy="1584960"/>
            <a:chOff x="1432846" y="2209419"/>
            <a:chExt cx="3160490" cy="1584960"/>
          </a:xfrm>
        </p:grpSpPr>
        <p:sp>
          <p:nvSpPr>
            <p:cNvPr id="18" name="Rectangle 18"/>
            <p:cNvSpPr/>
            <p:nvPr/>
          </p:nvSpPr>
          <p:spPr>
            <a:xfrm>
              <a:off x="1432846" y="2209419"/>
              <a:ext cx="3160490" cy="15849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752629" y="2256192"/>
              <a:ext cx="1655258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移除 recurrence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52629" y="2789592"/>
              <a:ext cx="123806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Computation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27512" y="3884200"/>
            <a:ext cx="1709547" cy="463296"/>
            <a:chOff x="1427512" y="3884200"/>
            <a:chExt cx="1709547" cy="463296"/>
          </a:xfrm>
        </p:grpSpPr>
        <p:sp>
          <p:nvSpPr>
            <p:cNvPr id="22" name="Rectangle 22"/>
            <p:cNvSpPr/>
            <p:nvPr/>
          </p:nvSpPr>
          <p:spPr>
            <a:xfrm>
              <a:off x="1427512" y="3884200"/>
              <a:ext cx="1709547" cy="463296"/>
            </a:xfrm>
            <a:prstGeom prst="roundRect">
              <a:avLst>
                <a:gd name="adj" fmla="val 50000"/>
              </a:avLst>
            </a:prstGeom>
            <a:solidFill>
              <a:srgbClr val="7561D6"/>
            </a:solidFill>
            <a:ln>
              <a:noFill/>
            </a:ln>
            <a:effectLst>
              <a:outerShdw blurRad="50864" dist="38100" dir="5400000" algn="ctr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1427512" y="3884200"/>
              <a:ext cx="1709547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并行训练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03398" y="1609725"/>
            <a:ext cx="1699546" cy="463296"/>
            <a:chOff x="8903398" y="1609725"/>
            <a:chExt cx="1699546" cy="463296"/>
          </a:xfrm>
        </p:grpSpPr>
        <p:sp>
          <p:nvSpPr>
            <p:cNvPr id="25" name="Rectangle 25"/>
            <p:cNvSpPr/>
            <p:nvPr/>
          </p:nvSpPr>
          <p:spPr>
            <a:xfrm>
              <a:off x="8903398" y="1609725"/>
              <a:ext cx="1699546" cy="463296"/>
            </a:xfrm>
            <a:prstGeom prst="roundRect">
              <a:avLst>
                <a:gd name="adj" fmla="val 50000"/>
              </a:avLst>
            </a:prstGeom>
            <a:solidFill>
              <a:srgbClr val="68A4C6"/>
            </a:solidFill>
            <a:ln>
              <a:noFill/>
            </a:ln>
            <a:effectLst>
              <a:outerShdw blurRad="50864" dist="38100" dir="5400000" algn="ctr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8903398" y="1609725"/>
              <a:ext cx="1699546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Effect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903398" y="3854387"/>
            <a:ext cx="1689640" cy="463296"/>
            <a:chOff x="8903398" y="3854387"/>
            <a:chExt cx="1689640" cy="463296"/>
          </a:xfrm>
        </p:grpSpPr>
        <p:sp>
          <p:nvSpPr>
            <p:cNvPr id="28" name="Rectangle 28"/>
            <p:cNvSpPr/>
            <p:nvPr/>
          </p:nvSpPr>
          <p:spPr>
            <a:xfrm>
              <a:off x="8903398" y="3854387"/>
              <a:ext cx="1689640" cy="463296"/>
            </a:xfrm>
            <a:prstGeom prst="roundRect">
              <a:avLst>
                <a:gd name="adj" fmla="val 50000"/>
              </a:avLst>
            </a:prstGeom>
            <a:solidFill>
              <a:srgbClr val="6A69B6"/>
            </a:solidFill>
            <a:ln>
              <a:noFill/>
            </a:ln>
            <a:effectLst>
              <a:outerShdw blurRad="50864" dist="38100" dir="5400000" algn="ctr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8903398" y="3854387"/>
              <a:ext cx="1689640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Microsoft YaHei"/>
                  <a:cs typeface="微软雅黑"/>
                </a:rPr>
                <a:t>质量与效率同步提升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47500" y="1587246"/>
            <a:ext cx="499015" cy="499015"/>
            <a:chOff x="5147500" y="1587246"/>
            <a:chExt cx="499015" cy="499015"/>
          </a:xfrm>
        </p:grpSpPr>
        <p:sp>
          <p:nvSpPr>
            <p:cNvPr id="31" name="Freeform 31"/>
            <p:cNvSpPr/>
            <p:nvPr/>
          </p:nvSpPr>
          <p:spPr>
            <a:xfrm>
              <a:off x="5147500" y="1587246"/>
              <a:ext cx="499015" cy="499015"/>
            </a:xfrm>
            <a:custGeom>
              <a:avLst/>
              <a:gdLst/>
              <a:ahLst/>
              <a:cxnLst/>
              <a:rect l="l" t="t" r="r" b="b"/>
              <a:pathLst>
                <a:path w="499015" h="499015">
                  <a:moveTo>
                    <a:pt x="248888" y="108299"/>
                  </a:moveTo>
                  <a:cubicBezTo>
                    <a:pt x="267462" y="108299"/>
                    <a:pt x="282416" y="121920"/>
                    <a:pt x="282416" y="140589"/>
                  </a:cubicBezTo>
                  <a:cubicBezTo>
                    <a:pt x="282416" y="159258"/>
                    <a:pt x="267462" y="174212"/>
                    <a:pt x="248888" y="174212"/>
                  </a:cubicBezTo>
                  <a:cubicBezTo>
                    <a:pt x="231458" y="174212"/>
                    <a:pt x="216503" y="159258"/>
                    <a:pt x="216503" y="140589"/>
                  </a:cubicBezTo>
                  <a:cubicBezTo>
                    <a:pt x="216503" y="121920"/>
                    <a:pt x="230219" y="108299"/>
                    <a:pt x="248888" y="108299"/>
                  </a:cubicBezTo>
                  <a:close/>
                  <a:moveTo>
                    <a:pt x="470344" y="32385"/>
                  </a:moveTo>
                  <a:lnTo>
                    <a:pt x="470344" y="206597"/>
                  </a:lnTo>
                  <a:lnTo>
                    <a:pt x="322326" y="206597"/>
                  </a:lnTo>
                  <a:cubicBezTo>
                    <a:pt x="314801" y="199168"/>
                    <a:pt x="306133" y="190405"/>
                    <a:pt x="297371" y="186690"/>
                  </a:cubicBezTo>
                  <a:cubicBezTo>
                    <a:pt x="308610" y="174212"/>
                    <a:pt x="316040" y="158020"/>
                    <a:pt x="316040" y="140589"/>
                  </a:cubicBezTo>
                  <a:cubicBezTo>
                    <a:pt x="316040" y="105823"/>
                    <a:pt x="286226" y="75914"/>
                    <a:pt x="250126" y="75914"/>
                  </a:cubicBezTo>
                  <a:cubicBezTo>
                    <a:pt x="215265" y="75914"/>
                    <a:pt x="185357" y="105823"/>
                    <a:pt x="185357" y="140589"/>
                  </a:cubicBezTo>
                  <a:cubicBezTo>
                    <a:pt x="185357" y="158020"/>
                    <a:pt x="191643" y="174212"/>
                    <a:pt x="204026" y="186690"/>
                  </a:cubicBezTo>
                  <a:cubicBezTo>
                    <a:pt x="194119" y="190405"/>
                    <a:pt x="185357" y="199168"/>
                    <a:pt x="179165" y="206597"/>
                  </a:cubicBezTo>
                  <a:lnTo>
                    <a:pt x="34766" y="206597"/>
                  </a:lnTo>
                  <a:lnTo>
                    <a:pt x="34766" y="32385"/>
                  </a:lnTo>
                  <a:close/>
                  <a:moveTo>
                    <a:pt x="248888" y="206597"/>
                  </a:moveTo>
                  <a:cubicBezTo>
                    <a:pt x="284893" y="206597"/>
                    <a:pt x="314801" y="236411"/>
                    <a:pt x="314801" y="271272"/>
                  </a:cubicBezTo>
                  <a:lnTo>
                    <a:pt x="184118" y="271272"/>
                  </a:lnTo>
                  <a:cubicBezTo>
                    <a:pt x="184118" y="236411"/>
                    <a:pt x="212789" y="206597"/>
                    <a:pt x="248888" y="206597"/>
                  </a:cubicBezTo>
                  <a:close/>
                  <a:moveTo>
                    <a:pt x="327279" y="304895"/>
                  </a:moveTo>
                  <a:lnTo>
                    <a:pt x="299847" y="467963"/>
                  </a:lnTo>
                  <a:lnTo>
                    <a:pt x="197834" y="467963"/>
                  </a:lnTo>
                  <a:lnTo>
                    <a:pt x="169164" y="304895"/>
                  </a:lnTo>
                  <a:close/>
                  <a:moveTo>
                    <a:pt x="16097" y="0"/>
                  </a:moveTo>
                  <a:cubicBezTo>
                    <a:pt x="6191" y="0"/>
                    <a:pt x="0" y="7430"/>
                    <a:pt x="0" y="14954"/>
                  </a:cubicBezTo>
                  <a:lnTo>
                    <a:pt x="0" y="221552"/>
                  </a:lnTo>
                  <a:cubicBezTo>
                    <a:pt x="0" y="231458"/>
                    <a:pt x="7430" y="237649"/>
                    <a:pt x="16097" y="237649"/>
                  </a:cubicBezTo>
                  <a:lnTo>
                    <a:pt x="156782" y="237649"/>
                  </a:lnTo>
                  <a:cubicBezTo>
                    <a:pt x="154210" y="248888"/>
                    <a:pt x="150495" y="258890"/>
                    <a:pt x="150495" y="270034"/>
                  </a:cubicBezTo>
                  <a:lnTo>
                    <a:pt x="118205" y="270034"/>
                  </a:lnTo>
                  <a:cubicBezTo>
                    <a:pt x="109442" y="270034"/>
                    <a:pt x="103251" y="277559"/>
                    <a:pt x="103251" y="286226"/>
                  </a:cubicBezTo>
                  <a:cubicBezTo>
                    <a:pt x="103251" y="294989"/>
                    <a:pt x="110681" y="302419"/>
                    <a:pt x="118205" y="302419"/>
                  </a:cubicBezTo>
                  <a:lnTo>
                    <a:pt x="136874" y="302419"/>
                  </a:lnTo>
                  <a:lnTo>
                    <a:pt x="167926" y="484061"/>
                  </a:lnTo>
                  <a:cubicBezTo>
                    <a:pt x="169164" y="492824"/>
                    <a:pt x="175451" y="499015"/>
                    <a:pt x="184118" y="499015"/>
                  </a:cubicBezTo>
                  <a:lnTo>
                    <a:pt x="314801" y="499015"/>
                  </a:lnTo>
                  <a:cubicBezTo>
                    <a:pt x="322326" y="499015"/>
                    <a:pt x="329756" y="492824"/>
                    <a:pt x="329756" y="484061"/>
                  </a:cubicBezTo>
                  <a:lnTo>
                    <a:pt x="360807" y="302419"/>
                  </a:lnTo>
                  <a:lnTo>
                    <a:pt x="379571" y="302419"/>
                  </a:lnTo>
                  <a:cubicBezTo>
                    <a:pt x="389477" y="302419"/>
                    <a:pt x="395669" y="294989"/>
                    <a:pt x="395669" y="284988"/>
                  </a:cubicBezTo>
                  <a:cubicBezTo>
                    <a:pt x="395669" y="276225"/>
                    <a:pt x="387001" y="270034"/>
                    <a:pt x="379571" y="270034"/>
                  </a:cubicBezTo>
                  <a:lnTo>
                    <a:pt x="347186" y="270034"/>
                  </a:lnTo>
                  <a:cubicBezTo>
                    <a:pt x="347186" y="258890"/>
                    <a:pt x="345948" y="247650"/>
                    <a:pt x="340900" y="237649"/>
                  </a:cubicBezTo>
                  <a:lnTo>
                    <a:pt x="482822" y="237649"/>
                  </a:lnTo>
                  <a:cubicBezTo>
                    <a:pt x="491490" y="237649"/>
                    <a:pt x="497776" y="228981"/>
                    <a:pt x="497776" y="221552"/>
                  </a:cubicBezTo>
                  <a:lnTo>
                    <a:pt x="497776" y="14954"/>
                  </a:lnTo>
                  <a:cubicBezTo>
                    <a:pt x="499015" y="7430"/>
                    <a:pt x="491490" y="0"/>
                    <a:pt x="484061" y="0"/>
                  </a:cubicBezTo>
                  <a:close/>
                </a:path>
              </a:pathLst>
            </a:cu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432846" y="4490561"/>
            <a:ext cx="3200686" cy="1584960"/>
            <a:chOff x="1432846" y="4490561"/>
            <a:chExt cx="3200686" cy="1584960"/>
          </a:xfrm>
        </p:grpSpPr>
        <p:sp>
          <p:nvSpPr>
            <p:cNvPr id="33" name="Rectangle 33"/>
            <p:cNvSpPr/>
            <p:nvPr/>
          </p:nvSpPr>
          <p:spPr>
            <a:xfrm>
              <a:off x="1432846" y="4490561"/>
              <a:ext cx="3200686" cy="15849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52629" y="4537334"/>
              <a:ext cx="1295326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Contribution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52629" y="5070734"/>
              <a:ext cx="2178795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Transformer 架构范式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78256" y="2203228"/>
            <a:ext cx="3261170" cy="1584960"/>
            <a:chOff x="7378256" y="2203228"/>
            <a:chExt cx="3261170" cy="1584960"/>
          </a:xfrm>
        </p:grpSpPr>
        <p:sp>
          <p:nvSpPr>
            <p:cNvPr id="37" name="Rectangle 37"/>
            <p:cNvSpPr/>
            <p:nvPr/>
          </p:nvSpPr>
          <p:spPr>
            <a:xfrm>
              <a:off x="7378256" y="2203228"/>
              <a:ext cx="3261170" cy="15849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98134" y="2250000"/>
              <a:ext cx="10662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Discussion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98134" y="2783400"/>
              <a:ext cx="199064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代价：O(n²) 注意力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378256" y="4484370"/>
            <a:ext cx="3261170" cy="1584960"/>
            <a:chOff x="7378256" y="4484370"/>
            <a:chExt cx="3261170" cy="1584960"/>
          </a:xfrm>
        </p:grpSpPr>
        <p:sp>
          <p:nvSpPr>
            <p:cNvPr id="41" name="Rectangle 41"/>
            <p:cNvSpPr/>
            <p:nvPr/>
          </p:nvSpPr>
          <p:spPr>
            <a:xfrm>
              <a:off x="7378256" y="4484370"/>
              <a:ext cx="3261170" cy="15849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98134" y="4531143"/>
              <a:ext cx="722708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Legacy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98134" y="5064543"/>
              <a:ext cx="2694151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后续模型继续优化效率与规模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06379" y="2296478"/>
            <a:ext cx="140018" cy="140018"/>
            <a:chOff x="1506379" y="2296478"/>
            <a:chExt cx="140018" cy="140018"/>
          </a:xfrm>
        </p:grpSpPr>
        <p:sp>
          <p:nvSpPr>
            <p:cNvPr id="45" name="Ellipse 45"/>
            <p:cNvSpPr/>
            <p:nvPr/>
          </p:nvSpPr>
          <p:spPr>
            <a:xfrm>
              <a:off x="1506379" y="2296478"/>
              <a:ext cx="140018" cy="14001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536382" y="2326481"/>
              <a:ext cx="80010" cy="80010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506379" y="2829877"/>
            <a:ext cx="140018" cy="140018"/>
            <a:chOff x="1506379" y="2829877"/>
            <a:chExt cx="140018" cy="140018"/>
          </a:xfrm>
        </p:grpSpPr>
        <p:sp>
          <p:nvSpPr>
            <p:cNvPr id="48" name="Ellipse 48"/>
            <p:cNvSpPr/>
            <p:nvPr/>
          </p:nvSpPr>
          <p:spPr>
            <a:xfrm>
              <a:off x="1506379" y="2829877"/>
              <a:ext cx="140018" cy="14001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536382" y="2859881"/>
              <a:ext cx="80010" cy="80010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7424738" y="2290286"/>
            <a:ext cx="140018" cy="140018"/>
            <a:chOff x="7424738" y="2290286"/>
            <a:chExt cx="140018" cy="140018"/>
          </a:xfrm>
        </p:grpSpPr>
        <p:sp>
          <p:nvSpPr>
            <p:cNvPr id="51" name="Ellipse 51"/>
            <p:cNvSpPr/>
            <p:nvPr/>
          </p:nvSpPr>
          <p:spPr>
            <a:xfrm>
              <a:off x="7424738" y="2290286"/>
              <a:ext cx="140018" cy="14001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454741" y="2320290"/>
              <a:ext cx="80010" cy="80010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424738" y="2823686"/>
            <a:ext cx="140018" cy="140018"/>
            <a:chOff x="7424738" y="2823686"/>
            <a:chExt cx="140018" cy="140018"/>
          </a:xfrm>
        </p:grpSpPr>
        <p:sp>
          <p:nvSpPr>
            <p:cNvPr id="54" name="Ellipse 54"/>
            <p:cNvSpPr/>
            <p:nvPr/>
          </p:nvSpPr>
          <p:spPr>
            <a:xfrm>
              <a:off x="7424738" y="2823686"/>
              <a:ext cx="140018" cy="14001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454741" y="2853690"/>
              <a:ext cx="80010" cy="80010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506379" y="4577620"/>
            <a:ext cx="140018" cy="140018"/>
            <a:chOff x="1506379" y="4577620"/>
            <a:chExt cx="140018" cy="140018"/>
          </a:xfrm>
        </p:grpSpPr>
        <p:sp>
          <p:nvSpPr>
            <p:cNvPr id="57" name="Ellipse 57"/>
            <p:cNvSpPr/>
            <p:nvPr/>
          </p:nvSpPr>
          <p:spPr>
            <a:xfrm>
              <a:off x="1506379" y="4577620"/>
              <a:ext cx="140018" cy="140018"/>
            </a:xfrm>
            <a:prstGeom prst="ellipse">
              <a:avLst/>
            </a:prstGeom>
            <a:solidFill>
              <a:srgbClr val="C4BCEE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536382" y="4607624"/>
              <a:ext cx="80010" cy="80010"/>
            </a:xfrm>
            <a:prstGeom prst="ellipse">
              <a:avLst/>
            </a:prstGeom>
            <a:solidFill>
              <a:srgbClr val="7561D6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506379" y="5111020"/>
            <a:ext cx="140018" cy="140018"/>
            <a:chOff x="1506379" y="5111020"/>
            <a:chExt cx="140018" cy="140018"/>
          </a:xfrm>
        </p:grpSpPr>
        <p:sp>
          <p:nvSpPr>
            <p:cNvPr id="60" name="Ellipse 60"/>
            <p:cNvSpPr/>
            <p:nvPr/>
          </p:nvSpPr>
          <p:spPr>
            <a:xfrm>
              <a:off x="1506379" y="5111020"/>
              <a:ext cx="140018" cy="140018"/>
            </a:xfrm>
            <a:prstGeom prst="ellipse">
              <a:avLst/>
            </a:prstGeom>
            <a:solidFill>
              <a:srgbClr val="C4BCEE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536382" y="5141024"/>
              <a:ext cx="80010" cy="80010"/>
            </a:xfrm>
            <a:prstGeom prst="ellipse">
              <a:avLst/>
            </a:prstGeom>
            <a:solidFill>
              <a:srgbClr val="7561D6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7424738" y="4571428"/>
            <a:ext cx="140018" cy="140018"/>
            <a:chOff x="7424738" y="4571428"/>
            <a:chExt cx="140018" cy="140018"/>
          </a:xfrm>
        </p:grpSpPr>
        <p:sp>
          <p:nvSpPr>
            <p:cNvPr id="63" name="Ellipse 63"/>
            <p:cNvSpPr/>
            <p:nvPr/>
          </p:nvSpPr>
          <p:spPr>
            <a:xfrm>
              <a:off x="7424738" y="4571428"/>
              <a:ext cx="140018" cy="14001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7454741" y="4601432"/>
              <a:ext cx="80010" cy="80010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7424738" y="5104828"/>
            <a:ext cx="140018" cy="140018"/>
            <a:chOff x="7424738" y="5104828"/>
            <a:chExt cx="140018" cy="140018"/>
          </a:xfrm>
        </p:grpSpPr>
        <p:sp>
          <p:nvSpPr>
            <p:cNvPr id="66" name="Ellipse 66"/>
            <p:cNvSpPr/>
            <p:nvPr/>
          </p:nvSpPr>
          <p:spPr>
            <a:xfrm>
              <a:off x="7424738" y="5104828"/>
              <a:ext cx="140018" cy="14001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7454741" y="5134832"/>
              <a:ext cx="80010" cy="80010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6357461" y="5384102"/>
            <a:ext cx="451961" cy="454533"/>
            <a:chOff x="6357461" y="5384102"/>
            <a:chExt cx="451961" cy="454533"/>
          </a:xfrm>
        </p:grpSpPr>
        <p:sp>
          <p:nvSpPr>
            <p:cNvPr id="69" name="Freeform 69"/>
            <p:cNvSpPr/>
            <p:nvPr/>
          </p:nvSpPr>
          <p:spPr>
            <a:xfrm>
              <a:off x="6629971" y="5384102"/>
              <a:ext cx="118682" cy="359854"/>
            </a:xfrm>
            <a:custGeom>
              <a:avLst/>
              <a:gdLst/>
              <a:ahLst/>
              <a:cxnLst/>
              <a:rect l="l" t="t" r="r" b="b"/>
              <a:pathLst>
                <a:path w="118682" h="359854">
                  <a:moveTo>
                    <a:pt x="14573" y="282035"/>
                  </a:moveTo>
                  <a:cubicBezTo>
                    <a:pt x="15335" y="282321"/>
                    <a:pt x="16097" y="282416"/>
                    <a:pt x="16859" y="282511"/>
                  </a:cubicBezTo>
                  <a:cubicBezTo>
                    <a:pt x="16955" y="282511"/>
                    <a:pt x="17050" y="282511"/>
                    <a:pt x="17145" y="282511"/>
                  </a:cubicBezTo>
                  <a:cubicBezTo>
                    <a:pt x="17336" y="282511"/>
                    <a:pt x="17431" y="282416"/>
                    <a:pt x="17526" y="282416"/>
                  </a:cubicBezTo>
                  <a:cubicBezTo>
                    <a:pt x="18193" y="282416"/>
                    <a:pt x="18669" y="282321"/>
                    <a:pt x="19241" y="282131"/>
                  </a:cubicBezTo>
                  <a:cubicBezTo>
                    <a:pt x="19431" y="282035"/>
                    <a:pt x="19622" y="282035"/>
                    <a:pt x="19907" y="281940"/>
                  </a:cubicBezTo>
                  <a:cubicBezTo>
                    <a:pt x="20574" y="281559"/>
                    <a:pt x="21241" y="281178"/>
                    <a:pt x="21812" y="280607"/>
                  </a:cubicBezTo>
                  <a:lnTo>
                    <a:pt x="59341" y="242888"/>
                  </a:lnTo>
                  <a:lnTo>
                    <a:pt x="96869" y="280607"/>
                  </a:lnTo>
                  <a:cubicBezTo>
                    <a:pt x="97441" y="281178"/>
                    <a:pt x="98108" y="281559"/>
                    <a:pt x="98870" y="281845"/>
                  </a:cubicBezTo>
                  <a:cubicBezTo>
                    <a:pt x="99060" y="281940"/>
                    <a:pt x="99251" y="282035"/>
                    <a:pt x="99536" y="282131"/>
                  </a:cubicBezTo>
                  <a:cubicBezTo>
                    <a:pt x="100012" y="282321"/>
                    <a:pt x="100584" y="282416"/>
                    <a:pt x="101156" y="282416"/>
                  </a:cubicBezTo>
                  <a:cubicBezTo>
                    <a:pt x="101346" y="282416"/>
                    <a:pt x="101441" y="282511"/>
                    <a:pt x="101632" y="282511"/>
                  </a:cubicBezTo>
                  <a:cubicBezTo>
                    <a:pt x="101632" y="282511"/>
                    <a:pt x="101727" y="282416"/>
                    <a:pt x="101822" y="282416"/>
                  </a:cubicBezTo>
                  <a:cubicBezTo>
                    <a:pt x="102584" y="282416"/>
                    <a:pt x="103442" y="282321"/>
                    <a:pt x="104108" y="282035"/>
                  </a:cubicBezTo>
                  <a:cubicBezTo>
                    <a:pt x="104966" y="281654"/>
                    <a:pt x="105728" y="281178"/>
                    <a:pt x="106299" y="280511"/>
                  </a:cubicBezTo>
                  <a:cubicBezTo>
                    <a:pt x="107537" y="279368"/>
                    <a:pt x="108204" y="277654"/>
                    <a:pt x="108204" y="275844"/>
                  </a:cubicBezTo>
                  <a:lnTo>
                    <a:pt x="108204" y="6668"/>
                  </a:lnTo>
                  <a:cubicBezTo>
                    <a:pt x="108204" y="4858"/>
                    <a:pt x="107537" y="3143"/>
                    <a:pt x="106299" y="1905"/>
                  </a:cubicBezTo>
                  <a:cubicBezTo>
                    <a:pt x="105061" y="667"/>
                    <a:pt x="103346" y="0"/>
                    <a:pt x="101632" y="0"/>
                  </a:cubicBezTo>
                  <a:lnTo>
                    <a:pt x="17145" y="0"/>
                  </a:lnTo>
                  <a:cubicBezTo>
                    <a:pt x="16478" y="0"/>
                    <a:pt x="15907" y="190"/>
                    <a:pt x="15335" y="286"/>
                  </a:cubicBezTo>
                  <a:cubicBezTo>
                    <a:pt x="15050" y="381"/>
                    <a:pt x="14764" y="381"/>
                    <a:pt x="14573" y="476"/>
                  </a:cubicBezTo>
                  <a:cubicBezTo>
                    <a:pt x="12192" y="1524"/>
                    <a:pt x="10478" y="3905"/>
                    <a:pt x="10478" y="6668"/>
                  </a:cubicBezTo>
                  <a:lnTo>
                    <a:pt x="10478" y="275939"/>
                  </a:lnTo>
                  <a:cubicBezTo>
                    <a:pt x="10478" y="278606"/>
                    <a:pt x="12097" y="280988"/>
                    <a:pt x="14573" y="282035"/>
                  </a:cubicBezTo>
                  <a:close/>
                  <a:moveTo>
                    <a:pt x="112395" y="346615"/>
                  </a:moveTo>
                  <a:lnTo>
                    <a:pt x="6287" y="346615"/>
                  </a:lnTo>
                  <a:cubicBezTo>
                    <a:pt x="2858" y="346615"/>
                    <a:pt x="0" y="349472"/>
                    <a:pt x="0" y="352997"/>
                  </a:cubicBezTo>
                  <a:cubicBezTo>
                    <a:pt x="0" y="356425"/>
                    <a:pt x="2858" y="359283"/>
                    <a:pt x="6287" y="359854"/>
                  </a:cubicBezTo>
                  <a:lnTo>
                    <a:pt x="112395" y="359854"/>
                  </a:lnTo>
                  <a:cubicBezTo>
                    <a:pt x="115919" y="359283"/>
                    <a:pt x="118682" y="356425"/>
                    <a:pt x="118682" y="352997"/>
                  </a:cubicBezTo>
                  <a:cubicBezTo>
                    <a:pt x="118682" y="349472"/>
                    <a:pt x="115919" y="346615"/>
                    <a:pt x="112395" y="346615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6357461" y="5426012"/>
              <a:ext cx="451961" cy="412623"/>
            </a:xfrm>
            <a:custGeom>
              <a:avLst/>
              <a:gdLst/>
              <a:ahLst/>
              <a:cxnLst/>
              <a:rect l="l" t="t" r="r" b="b"/>
              <a:pathLst>
                <a:path w="451961" h="412623">
                  <a:moveTo>
                    <a:pt x="399574" y="6953"/>
                  </a:moveTo>
                  <a:lnTo>
                    <a:pt x="399574" y="39624"/>
                  </a:lnTo>
                  <a:cubicBezTo>
                    <a:pt x="410813" y="42767"/>
                    <a:pt x="417862" y="46196"/>
                    <a:pt x="420529" y="48863"/>
                  </a:cubicBezTo>
                  <a:lnTo>
                    <a:pt x="420529" y="377952"/>
                  </a:lnTo>
                  <a:cubicBezTo>
                    <a:pt x="364712" y="370237"/>
                    <a:pt x="297561" y="370237"/>
                    <a:pt x="241744" y="377952"/>
                  </a:cubicBezTo>
                  <a:lnTo>
                    <a:pt x="241744" y="48863"/>
                  </a:lnTo>
                  <a:cubicBezTo>
                    <a:pt x="244507" y="46101"/>
                    <a:pt x="252127" y="42386"/>
                    <a:pt x="264128" y="39148"/>
                  </a:cubicBezTo>
                  <a:lnTo>
                    <a:pt x="264128" y="6572"/>
                  </a:lnTo>
                  <a:cubicBezTo>
                    <a:pt x="248983" y="10097"/>
                    <a:pt x="235649" y="14859"/>
                    <a:pt x="226028" y="21431"/>
                  </a:cubicBezTo>
                  <a:cubicBezTo>
                    <a:pt x="203263" y="6001"/>
                    <a:pt x="159829" y="0"/>
                    <a:pt x="120872" y="0"/>
                  </a:cubicBezTo>
                  <a:cubicBezTo>
                    <a:pt x="65151" y="0"/>
                    <a:pt x="0" y="12287"/>
                    <a:pt x="0" y="46863"/>
                  </a:cubicBezTo>
                  <a:lnTo>
                    <a:pt x="0" y="396335"/>
                  </a:lnTo>
                  <a:cubicBezTo>
                    <a:pt x="0" y="401003"/>
                    <a:pt x="2095" y="405384"/>
                    <a:pt x="5620" y="408432"/>
                  </a:cubicBezTo>
                  <a:cubicBezTo>
                    <a:pt x="9144" y="411385"/>
                    <a:pt x="13906" y="412623"/>
                    <a:pt x="18478" y="411861"/>
                  </a:cubicBezTo>
                  <a:cubicBezTo>
                    <a:pt x="49339" y="406527"/>
                    <a:pt x="84772" y="403669"/>
                    <a:pt x="120872" y="403669"/>
                  </a:cubicBezTo>
                  <a:cubicBezTo>
                    <a:pt x="156972" y="403669"/>
                    <a:pt x="192405" y="406527"/>
                    <a:pt x="223361" y="411861"/>
                  </a:cubicBezTo>
                  <a:cubicBezTo>
                    <a:pt x="223742" y="411956"/>
                    <a:pt x="224218" y="411956"/>
                    <a:pt x="224599" y="411956"/>
                  </a:cubicBezTo>
                  <a:lnTo>
                    <a:pt x="225552" y="412051"/>
                  </a:lnTo>
                  <a:cubicBezTo>
                    <a:pt x="225742" y="412051"/>
                    <a:pt x="225838" y="412147"/>
                    <a:pt x="226028" y="412147"/>
                  </a:cubicBezTo>
                  <a:cubicBezTo>
                    <a:pt x="226885" y="412147"/>
                    <a:pt x="227743" y="412051"/>
                    <a:pt x="228505" y="411956"/>
                  </a:cubicBezTo>
                  <a:lnTo>
                    <a:pt x="228695" y="411956"/>
                  </a:lnTo>
                  <a:cubicBezTo>
                    <a:pt x="259556" y="406527"/>
                    <a:pt x="294989" y="403669"/>
                    <a:pt x="331089" y="403669"/>
                  </a:cubicBezTo>
                  <a:cubicBezTo>
                    <a:pt x="367284" y="403669"/>
                    <a:pt x="402717" y="406527"/>
                    <a:pt x="433578" y="411956"/>
                  </a:cubicBezTo>
                  <a:cubicBezTo>
                    <a:pt x="434435" y="412051"/>
                    <a:pt x="435388" y="412147"/>
                    <a:pt x="436245" y="412147"/>
                  </a:cubicBezTo>
                  <a:cubicBezTo>
                    <a:pt x="439960" y="412147"/>
                    <a:pt x="443579" y="410813"/>
                    <a:pt x="446341" y="408432"/>
                  </a:cubicBezTo>
                  <a:cubicBezTo>
                    <a:pt x="449961" y="405384"/>
                    <a:pt x="451961" y="401003"/>
                    <a:pt x="451961" y="396335"/>
                  </a:cubicBezTo>
                  <a:lnTo>
                    <a:pt x="451961" y="46863"/>
                  </a:lnTo>
                  <a:cubicBezTo>
                    <a:pt x="451961" y="26480"/>
                    <a:pt x="429482" y="13907"/>
                    <a:pt x="399574" y="6953"/>
                  </a:cubicBezTo>
                  <a:close/>
                  <a:moveTo>
                    <a:pt x="172879" y="297085"/>
                  </a:moveTo>
                  <a:lnTo>
                    <a:pt x="66770" y="297085"/>
                  </a:lnTo>
                  <a:cubicBezTo>
                    <a:pt x="63246" y="297085"/>
                    <a:pt x="60484" y="294227"/>
                    <a:pt x="60484" y="290798"/>
                  </a:cubicBezTo>
                  <a:cubicBezTo>
                    <a:pt x="60484" y="287274"/>
                    <a:pt x="63246" y="284417"/>
                    <a:pt x="66770" y="284417"/>
                  </a:cubicBezTo>
                  <a:lnTo>
                    <a:pt x="172879" y="284417"/>
                  </a:lnTo>
                  <a:cubicBezTo>
                    <a:pt x="176308" y="284417"/>
                    <a:pt x="179165" y="287274"/>
                    <a:pt x="179070" y="290798"/>
                  </a:cubicBezTo>
                  <a:cubicBezTo>
                    <a:pt x="179070" y="294227"/>
                    <a:pt x="176308" y="297085"/>
                    <a:pt x="172879" y="297085"/>
                  </a:cubicBezTo>
                  <a:close/>
                  <a:moveTo>
                    <a:pt x="172879" y="245078"/>
                  </a:moveTo>
                  <a:lnTo>
                    <a:pt x="66770" y="245078"/>
                  </a:lnTo>
                  <a:cubicBezTo>
                    <a:pt x="63246" y="245078"/>
                    <a:pt x="60484" y="242221"/>
                    <a:pt x="60484" y="238697"/>
                  </a:cubicBezTo>
                  <a:cubicBezTo>
                    <a:pt x="60484" y="235172"/>
                    <a:pt x="63246" y="232410"/>
                    <a:pt x="66770" y="232410"/>
                  </a:cubicBezTo>
                  <a:lnTo>
                    <a:pt x="172879" y="232410"/>
                  </a:lnTo>
                  <a:cubicBezTo>
                    <a:pt x="176308" y="232410"/>
                    <a:pt x="179070" y="235172"/>
                    <a:pt x="179070" y="238697"/>
                  </a:cubicBezTo>
                  <a:cubicBezTo>
                    <a:pt x="179070" y="242221"/>
                    <a:pt x="176308" y="245078"/>
                    <a:pt x="172879" y="245078"/>
                  </a:cubicBezTo>
                  <a:close/>
                  <a:moveTo>
                    <a:pt x="172879" y="192976"/>
                  </a:moveTo>
                  <a:lnTo>
                    <a:pt x="66770" y="192976"/>
                  </a:lnTo>
                  <a:cubicBezTo>
                    <a:pt x="63246" y="192976"/>
                    <a:pt x="60484" y="190119"/>
                    <a:pt x="60484" y="186690"/>
                  </a:cubicBezTo>
                  <a:cubicBezTo>
                    <a:pt x="60484" y="183166"/>
                    <a:pt x="63246" y="180308"/>
                    <a:pt x="66770" y="180308"/>
                  </a:cubicBezTo>
                  <a:lnTo>
                    <a:pt x="172879" y="180308"/>
                  </a:lnTo>
                  <a:cubicBezTo>
                    <a:pt x="176308" y="180308"/>
                    <a:pt x="179070" y="183166"/>
                    <a:pt x="179070" y="186690"/>
                  </a:cubicBezTo>
                  <a:cubicBezTo>
                    <a:pt x="179070" y="190119"/>
                    <a:pt x="176308" y="192976"/>
                    <a:pt x="172879" y="192976"/>
                  </a:cubicBezTo>
                  <a:close/>
                  <a:moveTo>
                    <a:pt x="172879" y="139446"/>
                  </a:moveTo>
                  <a:lnTo>
                    <a:pt x="66770" y="139446"/>
                  </a:lnTo>
                  <a:cubicBezTo>
                    <a:pt x="63246" y="139446"/>
                    <a:pt x="60484" y="136589"/>
                    <a:pt x="60484" y="133160"/>
                  </a:cubicBezTo>
                  <a:cubicBezTo>
                    <a:pt x="60484" y="129635"/>
                    <a:pt x="63246" y="126778"/>
                    <a:pt x="66770" y="126778"/>
                  </a:cubicBezTo>
                  <a:lnTo>
                    <a:pt x="172879" y="126778"/>
                  </a:lnTo>
                  <a:cubicBezTo>
                    <a:pt x="176308" y="126778"/>
                    <a:pt x="179070" y="129635"/>
                    <a:pt x="179070" y="133160"/>
                  </a:cubicBezTo>
                  <a:cubicBezTo>
                    <a:pt x="179070" y="136589"/>
                    <a:pt x="176308" y="139446"/>
                    <a:pt x="172879" y="139446"/>
                  </a:cubicBezTo>
                  <a:close/>
                </a:path>
              </a:pathLst>
            </a:custGeom>
            <a:noFill/>
            <a:ln>
              <a:noFill/>
            </a:ln>
          </p:spPr>
        </p:sp>
      </p:grpSp>
      <p:sp>
        <p:nvSpPr>
          <p:cNvPr id="72" name="Rectangle 7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5" name="Group 75"/>
          <p:cNvGrpSpPr/>
          <p:nvPr/>
        </p:nvGrpSpPr>
        <p:grpSpPr>
          <a:xfrm>
            <a:off x="363855" y="244888"/>
            <a:ext cx="4493514" cy="523208"/>
            <a:chOff x="363855" y="244888"/>
            <a:chExt cx="4493514" cy="523208"/>
          </a:xfrm>
        </p:grpSpPr>
        <p:sp>
          <p:nvSpPr>
            <p:cNvPr id="73" name="Rectangle 73"/>
            <p:cNvSpPr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63855" y="244888"/>
              <a:ext cx="4493514" cy="523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00" b="1" dirty="0">
                  <a:solidFill>
                    <a:srgbClr val="6C2280"/>
                  </a:solidFill>
                  <a:latin typeface="微软雅黑"/>
                  <a:ea typeface="Microsoft YaHei"/>
                  <a:cs typeface="微软雅黑"/>
                </a:rPr>
                <a:t>贡献：Attention 成为主干</a:t>
              </a:r>
            </a:p>
          </p:txBody>
        </p:sp>
      </p:grpSp>
      <p:sp>
        <p:nvSpPr>
          <p:cNvPr id="76" name="Line 76"/>
          <p:cNvSpPr/>
          <p:nvPr/>
        </p:nvSpPr>
        <p:spPr>
          <a:xfrm>
            <a:off x="454724" y="853630"/>
            <a:ext cx="11282553" cy="9525"/>
          </a:xfrm>
          <a:custGeom>
            <a:avLst/>
            <a:gdLst/>
            <a:ahLst/>
            <a:cxnLst/>
            <a:rect l="l" t="t" r="r" b="b"/>
            <a:pathLst>
              <a:path w="11282553" h="9525">
                <a:moveTo>
                  <a:pt x="0" y="0"/>
                </a:moveTo>
                <a:lnTo>
                  <a:pt x="11282553" y="0"/>
                </a:lnTo>
              </a:path>
            </a:pathLst>
          </a:custGeom>
          <a:noFill/>
          <a:ln w="9525">
            <a:solidFill>
              <a:srgbClr val="6C2280"/>
            </a:solidFill>
          </a:ln>
        </p:spPr>
      </p:sp>
      <p:pic>
        <p:nvPicPr>
          <p:cNvPr id="77" name="Image 77"/>
          <p:cNvPicPr>
            <a:picLocks noChangeAspect="1"/>
          </p:cNvPicPr>
          <p:nvPr/>
        </p:nvPicPr>
        <p:blipFill>
          <a:blip r:embed="rId3"/>
          <a:srcRect l="0" t="20586" r="0" b="27820"/>
          <a:stretch>
            <a:fillRect/>
          </a:stretch>
        </p:blipFill>
        <p:spPr>
          <a:xfrm>
            <a:off x="10254234" y="165259"/>
            <a:ext cx="1478852" cy="572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1884" t="17299" r="0" b="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41351"/>
                </a:gs>
                <a:gs pos="62000">
                  <a:srgbClr val="912C8D">
                    <a:alpha val="0"/>
                  </a:srgbClr>
                </a:gs>
              </a:gsLst>
              <a:lin ang="20480754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139916"/>
            <a:ext cx="12192000" cy="2885122"/>
            <a:chOff x="0" y="3139916"/>
            <a:chExt cx="12192000" cy="2885122"/>
          </a:xfrm>
        </p:grpSpPr>
        <p:sp>
          <p:nvSpPr>
            <p:cNvPr id="7" name="Rectangle 7"/>
            <p:cNvSpPr/>
            <p:nvPr/>
          </p:nvSpPr>
          <p:spPr>
            <a:xfrm>
              <a:off x="0" y="3139916"/>
              <a:ext cx="12192000" cy="2885122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996868" y="3547015"/>
            <a:ext cx="1840040" cy="711803"/>
            <a:chOff x="9996868" y="3547015"/>
            <a:chExt cx="1840040" cy="711803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rcRect l="0" t="20586" r="0" b="27820"/>
            <a:stretch>
              <a:fillRect/>
            </a:stretch>
          </p:blipFill>
          <p:spPr>
            <a:xfrm>
              <a:off x="9996868" y="3547015"/>
              <a:ext cx="1840040" cy="711803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50690" y="3563969"/>
            <a:ext cx="6488620" cy="369380"/>
            <a:chOff x="950690" y="3563969"/>
            <a:chExt cx="6488620" cy="369380"/>
          </a:xfrm>
        </p:grpSpPr>
        <p:sp>
          <p:nvSpPr>
            <p:cNvPr id="11" name="Rectangle 11"/>
            <p:cNvSpPr/>
            <p:nvPr/>
          </p:nvSpPr>
          <p:spPr>
            <a:xfrm>
              <a:off x="950690" y="3563969"/>
              <a:ext cx="6488620" cy="3693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50690" y="3563969"/>
              <a:ext cx="6488620" cy="369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441351"/>
                  </a:solidFill>
                  <a:latin typeface="微软雅黑"/>
                  <a:ea typeface="Microsoft YaHei"/>
                  <a:cs typeface="微软雅黑"/>
                </a:rPr>
                <a:t>论文精读｜Attention Is All You Need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2683" y="3965543"/>
            <a:ext cx="6340221" cy="830961"/>
            <a:chOff x="892683" y="3965543"/>
            <a:chExt cx="6340221" cy="830961"/>
          </a:xfrm>
        </p:grpSpPr>
        <p:sp>
          <p:nvSpPr>
            <p:cNvPr id="14" name="Rectangle 14"/>
            <p:cNvSpPr/>
            <p:nvPr/>
          </p:nvSpPr>
          <p:spPr>
            <a:xfrm>
              <a:off x="892683" y="3965543"/>
              <a:ext cx="6340221" cy="83096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2683" y="3965543"/>
              <a:ext cx="6340221" cy="8309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800" b="1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谢谢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0690" y="5159597"/>
            <a:ext cx="6718935" cy="461677"/>
            <a:chOff x="950690" y="5159597"/>
            <a:chExt cx="6718935" cy="461677"/>
          </a:xfrm>
        </p:grpSpPr>
        <p:sp>
          <p:nvSpPr>
            <p:cNvPr id="17" name="Rectangle 17"/>
            <p:cNvSpPr/>
            <p:nvPr/>
          </p:nvSpPr>
          <p:spPr>
            <a:xfrm>
              <a:off x="950690" y="5159597"/>
              <a:ext cx="6718935" cy="46167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0690" y="5159597"/>
              <a:ext cx="6718935" cy="4616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00" b="1" dirty="0">
                  <a:solidFill>
                    <a:srgbClr val="262626"/>
                  </a:solidFill>
                  <a:latin typeface="微软雅黑"/>
                  <a:ea typeface="Microsoft YaHei"/>
                  <a:cs typeface="微软雅黑"/>
                </a:rPr>
                <a:t>Q&amp;A｜Transformer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43273" y="5003482"/>
            <a:ext cx="5454682" cy="9525"/>
            <a:chOff x="1043273" y="5003482"/>
            <a:chExt cx="5454682" cy="9525"/>
          </a:xfrm>
        </p:grpSpPr>
        <p:sp>
          <p:nvSpPr>
            <p:cNvPr id="20" name="Line 20"/>
            <p:cNvSpPr/>
            <p:nvPr/>
          </p:nvSpPr>
          <p:spPr>
            <a:xfrm>
              <a:off x="1043273" y="5003482"/>
              <a:ext cx="5454682" cy="9525"/>
            </a:xfrm>
            <a:custGeom>
              <a:avLst/>
              <a:gdLst/>
              <a:ahLst/>
              <a:cxnLst/>
              <a:rect l="l" t="t" r="r" b="b"/>
              <a:pathLst>
                <a:path w="5454682" h="9525">
                  <a:moveTo>
                    <a:pt x="5454682" y="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441351">
                  <a:alpha val="79000"/>
                </a:srgbClr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