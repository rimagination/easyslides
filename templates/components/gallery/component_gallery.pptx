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comparison_pair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" y="1752600"/>
            <a:ext cx="4953000" cy="354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050" y="1752600"/>
            <a:ext cx="4953000" cy="104775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05050"/>
            <a:ext cx="4229100" cy="495299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Baseline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048000"/>
            <a:ext cx="42291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3371850"/>
            <a:ext cx="4229100" cy="12192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0">
                <a:solidFill>
                  <a:srgbClr val="4B5B6D"/>
                </a:solidFill>
                <a:latin typeface="Microsoft YaHei"/>
              </a:rPr>
              <a:t>Uses one indicator. It is easy to
explain, but misses regional
variation.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7950" y="1752600"/>
            <a:ext cx="4953000" cy="354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7950" y="1752600"/>
            <a:ext cx="4953000" cy="10477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9900" y="2305050"/>
            <a:ext cx="4229100" cy="495299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Improved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9900" y="3048000"/>
            <a:ext cx="42291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19900" y="3371850"/>
            <a:ext cx="4229100" cy="12192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0">
                <a:solidFill>
                  <a:srgbClr val="4B5B6D"/>
                </a:solidFill>
                <a:latin typeface="Microsoft YaHei"/>
              </a:rPr>
              <a:t>Combines multiple signals and
keeps contribution analysis
interpretable.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4049" y="5562600"/>
            <a:ext cx="8343900" cy="514350"/>
          </a:xfrm>
          <a:prstGeom prst="roundRect">
            <a:avLst/>
          </a:prstGeom>
          <a:solidFill>
            <a:srgbClr val="EFF6FB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5050" y="5638800"/>
            <a:ext cx="7581899" cy="3619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45F8F"/>
                </a:solidFill>
                <a:latin typeface="Microsoft YaHei"/>
              </a:rPr>
              <a:t>Use this layout when the two sides
are genuinely balanced.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comparison_pair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" y="1752600"/>
            <a:ext cx="4953000" cy="354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050" y="1752600"/>
            <a:ext cx="4953000" cy="104775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05050"/>
            <a:ext cx="4229100" cy="495299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Manual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048000"/>
            <a:ext cx="42291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3371850"/>
            <a:ext cx="4229100" cy="12192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0">
                <a:solidFill>
                  <a:srgbClr val="4B5B6D"/>
                </a:solidFill>
                <a:latin typeface="Microsoft YaHei"/>
              </a:rPr>
              <a:t>Low setup cost. Expert judgment
stays visible, but updates are
slow and hard to reproduce.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7950" y="1752600"/>
            <a:ext cx="4953000" cy="354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7950" y="1752600"/>
            <a:ext cx="4953000" cy="10477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9900" y="2305050"/>
            <a:ext cx="4229100" cy="495299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Automated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9900" y="3048000"/>
            <a:ext cx="42291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19900" y="3371850"/>
            <a:ext cx="4229100" cy="12192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0">
                <a:solidFill>
                  <a:srgbClr val="4B5B6D"/>
                </a:solidFill>
                <a:latin typeface="Microsoft YaHei"/>
              </a:rPr>
              <a:t>Higher setup cost. The pipeline
preserves traceability and updates
quickly across new inputs.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4049" y="5562600"/>
            <a:ext cx="8343900" cy="514350"/>
          </a:xfrm>
          <a:prstGeom prst="roundRect">
            <a:avLst/>
          </a:prstGeom>
          <a:solidFill>
            <a:srgbClr val="EFF6FB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5050" y="5638800"/>
            <a:ext cx="7581899" cy="3619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45F8F"/>
                </a:solidFill>
                <a:latin typeface="Microsoft YaHei"/>
              </a:rPr>
              <a:t>The choice turns on repeatability,
not only first-run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comparison_pair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overflow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" y="1752600"/>
            <a:ext cx="4953000" cy="354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050" y="1752600"/>
            <a:ext cx="4953000" cy="104775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05050"/>
            <a:ext cx="4229100" cy="495299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Overly long lef...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048000"/>
            <a:ext cx="42291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3371850"/>
            <a:ext cx="4229100" cy="12192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0">
                <a:solidFill>
                  <a:srgbClr val="4B5B6D"/>
                </a:solidFill>
                <a:latin typeface="Microsoft YaHei"/>
              </a:rPr>
              <a:t>This paragraph is intentionally
far too long for a balanced two-
column comparison card. It
includes several separate
criteria, multiple caveats, and...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7950" y="1752600"/>
            <a:ext cx="4953000" cy="3543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7950" y="1752600"/>
            <a:ext cx="4953000" cy="10477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9900" y="2305050"/>
            <a:ext cx="4229100" cy="495299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Improved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9900" y="3048000"/>
            <a:ext cx="42291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19900" y="3371850"/>
            <a:ext cx="4229100" cy="12192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0">
                <a:solidFill>
                  <a:srgbClr val="4B5B6D"/>
                </a:solidFill>
                <a:latin typeface="Microsoft YaHei"/>
              </a:rPr>
              <a:t>Combines multiple signals and
keeps contribution analysis
interpretable.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4049" y="5562600"/>
            <a:ext cx="8343900" cy="514350"/>
          </a:xfrm>
          <a:prstGeom prst="roundRect">
            <a:avLst/>
          </a:prstGeom>
          <a:solidFill>
            <a:srgbClr val="EFF6FB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5050" y="5638800"/>
            <a:ext cx="7581899" cy="3619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45F8F"/>
                </a:solidFill>
                <a:latin typeface="Microsoft YaHei"/>
              </a:rPr>
              <a:t>This synthesis is intentionally
long enough to overflow the...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evidence_stack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4900" y="1543050"/>
            <a:ext cx="9982200" cy="81915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5900" y="1676400"/>
            <a:ext cx="92202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Multiple sources support the main
conclusion.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900" y="2724150"/>
            <a:ext cx="9982200" cy="882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14450" y="2994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4450" y="2994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5950" y="2743200"/>
            <a:ext cx="8801100" cy="8445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Long-term records show the
same trend direction.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4900" y="3740150"/>
            <a:ext cx="9982200" cy="882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14450" y="4010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4010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5950" y="3759200"/>
            <a:ext cx="8801100" cy="8445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Independent samples localize
errors to edge cases.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900" y="4756150"/>
            <a:ext cx="9982200" cy="882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14450" y="5026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50" y="5026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5950" y="4775200"/>
            <a:ext cx="8801100" cy="8445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Sensitivity tests rule out a
single-driver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evidence_stack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4900" y="1543050"/>
            <a:ext cx="9982200" cy="81915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5900" y="1676400"/>
            <a:ext cx="92202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Five compact checks make the result easier
to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900" y="2724150"/>
            <a:ext cx="99822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14450" y="27908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4450" y="27908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5950" y="2743200"/>
            <a:ext cx="8801100" cy="4381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Remote sensing and field
samples point in the same...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4900" y="3333750"/>
            <a:ext cx="99822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14450" y="34004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34004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5950" y="3352800"/>
            <a:ext cx="8801100" cy="4381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Model residuals cluster in
known boundary zones.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900" y="3943350"/>
            <a:ext cx="99822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14450" y="4010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50" y="4010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5950" y="3962399"/>
            <a:ext cx="8801100" cy="4381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Ablation tests keep the
leading factors stable.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4900" y="4552950"/>
            <a:ext cx="99822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14450" y="46196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46196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5950" y="4572000"/>
            <a:ext cx="8801100" cy="4381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Cross-year validation
preserves rank order.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900" y="5162550"/>
            <a:ext cx="99822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14450" y="52292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50" y="52292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5950" y="5181600"/>
            <a:ext cx="8801100" cy="4381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Uncertainty bands remain
within the decision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evidence_stack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overflow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4900" y="1543050"/>
            <a:ext cx="9982200" cy="81915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5900" y="1676400"/>
            <a:ext cx="92202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This claim is intentionally too long for
the compact evidence stack heading...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900" y="2724150"/>
            <a:ext cx="9982200" cy="882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14450" y="2994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4450" y="2994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5950" y="2743200"/>
            <a:ext cx="8801100" cy="8445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This evidence sentence is
intentionally too long for...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4900" y="3740150"/>
            <a:ext cx="9982200" cy="882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14450" y="4010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4010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5950" y="3759200"/>
            <a:ext cx="8801100" cy="8445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Independent samples localize
errors to edge cases.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900" y="4756150"/>
            <a:ext cx="9982200" cy="882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14450" y="5026025"/>
            <a:ext cx="342900" cy="3429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50" y="5026025"/>
            <a:ext cx="342900" cy="3429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1C75BC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5950" y="4775200"/>
            <a:ext cx="8801100" cy="8445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4B5B6D"/>
                </a:solidFill>
                <a:latin typeface="Microsoft YaHei"/>
              </a:rPr>
              <a:t>Sensitivity tests rule out a
single-driver explanation.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figure_with_notes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" y="1485900"/>
            <a:ext cx="6572250" cy="4305300"/>
          </a:xfrm>
          <a:prstGeom prst="roundRect">
            <a:avLst/>
          </a:prstGeom>
          <a:solidFill>
            <a:srgbClr val="E9EEF3"/>
          </a:solidFill>
          <a:ln w="12700">
            <a:solidFill>
              <a:srgbClr val="C4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2050" y="1885950"/>
            <a:ext cx="5810250" cy="30670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3143250"/>
            <a:ext cx="3181350" cy="4762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200" b="1">
                <a:solidFill>
                  <a:srgbClr val="8290A2"/>
                </a:solidFill>
                <a:latin typeface="Microsoft YaHei"/>
              </a:rPr>
              <a:t>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657600"/>
            <a:ext cx="3752850" cy="3048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000" b="1">
                <a:solidFill>
                  <a:srgbClr val="8290A2"/>
                </a:solidFill>
                <a:latin typeface="Microsoft YaHei"/>
              </a:rPr>
              <a:t>preserve aspect rat...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600" y="1485900"/>
            <a:ext cx="3562350" cy="430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8600" y="1485900"/>
            <a:ext cx="356235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2450" y="1962150"/>
            <a:ext cx="2914650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Result exhibit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72450" y="3028950"/>
            <a:ext cx="291465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72450" y="3333750"/>
            <a:ext cx="2914650" cy="14097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200" b="0">
                <a:solidFill>
                  <a:srgbClr val="4B5B6D"/>
                </a:solidFill>
                <a:latin typeface="Microsoft YaHei"/>
              </a:rPr>
              <a:t>Trend direction is stable;
edge cases remain visible;
source locator is
retained.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5162550"/>
            <a:ext cx="291465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900" b="1">
                <a:solidFill>
                  <a:srgbClr val="69788A"/>
                </a:solidFill>
                <a:latin typeface="Microsoft YaHei"/>
              </a:rPr>
              <a:t>Figure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figure_with_notes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" y="1485900"/>
            <a:ext cx="6572250" cy="4305300"/>
          </a:xfrm>
          <a:prstGeom prst="roundRect">
            <a:avLst/>
          </a:prstGeom>
          <a:solidFill>
            <a:srgbClr val="E9EEF3"/>
          </a:solidFill>
          <a:ln w="12700">
            <a:solidFill>
              <a:srgbClr val="C4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2050" y="1885950"/>
            <a:ext cx="5810250" cy="30670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3143250"/>
            <a:ext cx="3181350" cy="4762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200" b="1">
                <a:solidFill>
                  <a:srgbClr val="8290A2"/>
                </a:solidFill>
                <a:latin typeface="Microsoft YaHei"/>
              </a:rPr>
              <a:t>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657600"/>
            <a:ext cx="3752850" cy="3048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000" b="1">
                <a:solidFill>
                  <a:srgbClr val="8290A2"/>
                </a:solidFill>
                <a:latin typeface="Microsoft YaHei"/>
              </a:rPr>
              <a:t>preserve aspect rat...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600" y="1485900"/>
            <a:ext cx="3562350" cy="430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8600" y="1485900"/>
            <a:ext cx="356235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2450" y="1962150"/>
            <a:ext cx="2914650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Evidence
separated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72450" y="3028950"/>
            <a:ext cx="291465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72450" y="3333750"/>
            <a:ext cx="2914650" cy="14097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200" b="0">
                <a:solidFill>
                  <a:srgbClr val="4B5B6D"/>
                </a:solidFill>
                <a:latin typeface="Microsoft YaHei"/>
              </a:rPr>
              <a:t>Figure dominates; notes
keep verified
observations; caption
stays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5162550"/>
            <a:ext cx="291465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900" b="1">
                <a:solidFill>
                  <a:srgbClr val="69788A"/>
                </a:solidFill>
                <a:latin typeface="Microsoft YaHei"/>
              </a:rPr>
              <a:t>Figure 1, source paper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figure_with_notes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overflow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50" y="1485900"/>
            <a:ext cx="6572250" cy="4305300"/>
          </a:xfrm>
          <a:prstGeom prst="roundRect">
            <a:avLst/>
          </a:prstGeom>
          <a:solidFill>
            <a:srgbClr val="E9EEF3"/>
          </a:solidFill>
          <a:ln w="12700">
            <a:solidFill>
              <a:srgbClr val="C4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2050" y="1885950"/>
            <a:ext cx="5810250" cy="30670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3143250"/>
            <a:ext cx="3181350" cy="4762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200" b="1">
                <a:solidFill>
                  <a:srgbClr val="8290A2"/>
                </a:solidFill>
                <a:latin typeface="Microsoft YaHei"/>
              </a:rPr>
              <a:t>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657600"/>
            <a:ext cx="3752850" cy="3048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000" b="1">
                <a:solidFill>
                  <a:srgbClr val="8290A2"/>
                </a:solidFill>
                <a:latin typeface="Microsoft YaHei"/>
              </a:rPr>
              <a:t>preserve aspect rat...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600" y="1485900"/>
            <a:ext cx="3562350" cy="430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8600" y="1485900"/>
            <a:ext cx="356235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2450" y="1962150"/>
            <a:ext cx="2914650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This headline is
intentionall...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72450" y="3028950"/>
            <a:ext cx="291465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72450" y="3333750"/>
            <a:ext cx="2914650" cy="14097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200" b="0">
                <a:solidFill>
                  <a:srgbClr val="4B5B6D"/>
                </a:solidFill>
                <a:latin typeface="Microsoft YaHei"/>
              </a:rPr>
              <a:t>This intentionally verbose
note block should fail
capacity checks because it
tries to explain methods,
limitations, caveats,...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5162550"/>
            <a:ext cx="291465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900" b="1">
                <a:solidFill>
                  <a:srgbClr val="69788A"/>
                </a:solidFill>
                <a:latin typeface="Microsoft YaHei"/>
              </a:rPr>
              <a:t>Figure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kpi_row_3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Annual mean 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67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67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Validated samples.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1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81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999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0.87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999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9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Stable across
folds.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kpi_row_3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3.2x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Same accuracy,
less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67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67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124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After quality
screening.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1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81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999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-16%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999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Unclear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9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Ambiguous cases
reduced.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kpi_row_3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overflow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12345...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Extremely l...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This note is
intentionally too...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67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67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Validated samples.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150" y="2343150"/>
            <a:ext cx="32385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8150" y="2343150"/>
            <a:ext cx="3238500" cy="8572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999" y="2609850"/>
            <a:ext cx="259080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Microsoft YaHei"/>
              </a:rPr>
              <a:t>0.87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999" y="3219450"/>
            <a:ext cx="25908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9" y="3619500"/>
            <a:ext cx="2590800" cy="4000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617083"/>
                </a:solidFill>
                <a:latin typeface="Microsoft YaHei"/>
              </a:rPr>
              <a:t>Stable across
folds.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process_timeline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0599" y="3028950"/>
            <a:ext cx="10210801" cy="0"/>
          </a:xfrm>
          <a:prstGeom prst="line">
            <a:avLst/>
          </a:prstGeom>
          <a:ln w="38100">
            <a:solidFill>
              <a:srgbClr val="9CB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58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Archive sources
and extract
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235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33799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799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285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285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Map claims to
verified slide
contracts.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17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7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Create native
shapes and review
output.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5825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970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970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Run capacity and
visual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process_timeline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0599" y="3028950"/>
            <a:ext cx="10210801" cy="0"/>
          </a:xfrm>
          <a:prstGeom prst="line">
            <a:avLst/>
          </a:prstGeom>
          <a:ln w="38100">
            <a:solidFill>
              <a:srgbClr val="9CB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58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Gather paper and
figures.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235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33799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799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285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285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Convert sources to
Markdown.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17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7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Select by role and
shape.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58250" y="2266950"/>
            <a:ext cx="2419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970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970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0" y="2781300"/>
            <a:ext cx="2038349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0" y="3543300"/>
            <a:ext cx="2038349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Check fit and
export.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process_timeline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overflow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0599" y="3028950"/>
            <a:ext cx="10210801" cy="0"/>
          </a:xfrm>
          <a:prstGeom prst="line">
            <a:avLst/>
          </a:prstGeom>
          <a:ln w="38100">
            <a:solidFill>
              <a:srgbClr val="9CB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266950"/>
            <a:ext cx="33020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58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781300"/>
            <a:ext cx="2921000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Collect
every...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543300"/>
            <a:ext cx="2921000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This title and
body are
intentionally too
long for a compact...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5000" y="2266950"/>
            <a:ext cx="33020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64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64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500" y="2781300"/>
            <a:ext cx="2921000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5500" y="3543300"/>
            <a:ext cx="2921000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Convert sources
into traceable
Markdown and
assets.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5600" y="2266950"/>
            <a:ext cx="33020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050" y="1981199"/>
            <a:ext cx="552450" cy="552450"/>
          </a:xfrm>
          <a:prstGeom prst="roundRect">
            <a:avLst/>
          </a:prstGeom>
          <a:solidFill>
            <a:srgbClr val="145F8F"/>
          </a:solidFill>
          <a:ln w="12700">
            <a:solidFill>
              <a:srgbClr val="14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050" y="1981199"/>
            <a:ext cx="552450" cy="552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6100" y="2781300"/>
            <a:ext cx="2921000" cy="5334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Microsoft YaHei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6100" y="3543300"/>
            <a:ext cx="2921000" cy="800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0">
                <a:solidFill>
                  <a:srgbClr val="4B5B6D"/>
                </a:solidFill>
                <a:latin typeface="Microsoft YaHei"/>
              </a:rPr>
              <a:t>Check layout and
export.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three_card_summary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8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Need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87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Readers need source-
linked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86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86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91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91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Fit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625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625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Each card stays inside
its capacity.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24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24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629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29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3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Gate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963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963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Validate payloads before
rendering.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three_card_summary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8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Source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87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Every point keeps a
citation, figure id, or
table locator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86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86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91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91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Capacity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625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625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The contract sets max
lines so dense text is
shortened or split.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24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24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629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29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3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Review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963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963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A rendered preview must
confirm readable spacing
and alignment.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950" y="285750"/>
            <a:ext cx="11468100" cy="628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285750"/>
            <a:ext cx="11468100" cy="990599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447675"/>
            <a:ext cx="7810499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three_card_summary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81050"/>
            <a:ext cx="7429500" cy="2286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l"/>
            <a:r>
              <a:rPr sz="1000" b="1">
                <a:solidFill>
                  <a:srgbClr val="B7C3D3"/>
                </a:solidFill>
                <a:latin typeface="Microsoft YaHei"/>
              </a:rPr>
              <a:t>story: overflow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552450"/>
            <a:ext cx="1219200" cy="32385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1219200" cy="3238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8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Overlong
requirement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87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This intentionally long
paragraph should exceed
the compact card capacity
and force the planner to
shorten, split, or...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86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86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91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91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Method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625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625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The card still receives a
normal second item.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2450" y="1581150"/>
            <a:ext cx="3314700" cy="4095750"/>
          </a:xfrm>
          <a:prstGeom prst="roundRect">
            <a:avLst/>
          </a:prstGeom>
          <a:solidFill>
            <a:srgbClr val="FDFEFE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2450" y="1581150"/>
            <a:ext cx="3314700" cy="95250"/>
          </a:xfrm>
          <a:prstGeom prst="rect">
            <a:avLst/>
          </a:prstGeom>
          <a:solidFill>
            <a:srgbClr val="1C75BC"/>
          </a:solidFill>
          <a:ln w="12700"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62950" y="1847850"/>
            <a:ext cx="419100" cy="4191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2950" y="1847850"/>
            <a:ext cx="419100" cy="41910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200" b="1">
                <a:solidFill>
                  <a:srgbClr val="1C75BC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300" y="2571750"/>
            <a:ext cx="2667000" cy="6667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Microsoft YaHei"/>
              </a:rPr>
              <a:t>Gate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96300" y="3448050"/>
            <a:ext cx="2667000" cy="0"/>
          </a:xfrm>
          <a:prstGeom prst="line">
            <a:avLst/>
          </a:prstGeom>
          <a:ln w="12700">
            <a:solidFill>
              <a:srgbClr val="D7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96300" y="3676649"/>
            <a:ext cx="2667000" cy="1314450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/>
            <a:r>
              <a:rPr sz="1300" b="0">
                <a:solidFill>
                  <a:srgbClr val="4B5B6D"/>
                </a:solidFill>
                <a:latin typeface="Microsoft YaHei"/>
              </a:rPr>
              <a:t>The expected story status
is fail.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